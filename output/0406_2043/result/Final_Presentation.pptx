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-2161244" y="1925955"/>
            <a:ext cx="16514488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Background: Sequence Transduction Models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2531" y="2783205"/>
            <a:ext cx="8106937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and Their Importance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0556" y="4170998"/>
            <a:ext cx="939088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Critical for language modeling, translation, and speech recognition</a:t>
            </a:r>
          </a:p>
        </p:txBody>
      </p:sp>
      <p:sp>
        <p:nvSpPr>
          <p:cNvPr id="8" name="Line 8"/>
          <p:cNvSpPr/>
          <p:nvPr/>
        </p:nvSpPr>
        <p:spPr>
          <a:xfrm>
            <a:off x="4191000" y="48577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444954" y="6554152"/>
            <a:ext cx="3793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476250" y="333375"/>
            <a:ext cx="428625" cy="285750"/>
          </a:xfrm>
          <a:custGeom>
            <a:avLst/>
            <a:gdLst/>
            <a:ahLst/>
            <a:cxnLst/>
            <a:rect l="l" t="t" r="r" b="b"/>
            <a:pathLst>
              <a:path w="428625" h="285750">
                <a:moveTo>
                  <a:pt x="95250" y="0"/>
                </a:moveTo>
                <a:lnTo>
                  <a:pt x="428625" y="0"/>
                </a:lnTo>
                <a:lnTo>
                  <a:pt x="33337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5840" y="234315"/>
            <a:ext cx="1807436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Existing RNN and CNN models are inefficient for long-range dependencies.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904875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6760" y="1070610"/>
            <a:ext cx="736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Current models struggle with long sequences, needing more efficient solutions.</a:t>
            </a:r>
          </a:p>
        </p:txBody>
      </p:sp>
      <p:sp>
        <p:nvSpPr>
          <p:cNvPr id="8" name="Polygon 8"/>
          <p:cNvSpPr/>
          <p:nvPr/>
        </p:nvSpPr>
        <p:spPr>
          <a:xfrm>
            <a:off x="571500" y="1666875"/>
            <a:ext cx="11049000" cy="4095750"/>
          </a:xfrm>
          <a:custGeom>
            <a:avLst/>
            <a:gdLst/>
            <a:ahLst/>
            <a:cxnLst/>
            <a:rect l="l" t="t" r="r" b="b"/>
            <a:pathLst>
              <a:path w="11049000" h="4095750">
                <a:moveTo>
                  <a:pt x="190500" y="0"/>
                </a:moveTo>
                <a:lnTo>
                  <a:pt x="11049000" y="0"/>
                </a:lnTo>
                <a:lnTo>
                  <a:pt x="10858500" y="4095750"/>
                </a:lnTo>
                <a:lnTo>
                  <a:pt x="0" y="4095750"/>
                </a:lnTo>
                <a:close/>
              </a:path>
            </a:pathLst>
          </a:custGeom>
          <a:solidFill>
            <a:srgbClr val="0056A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-521713" y="1899285"/>
            <a:ext cx="1323542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State-of-the-art models based on RNNs and CNNs face limitations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4845" y="2280285"/>
            <a:ext cx="99023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 parallelization due to their sequential nature.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964" y="3139440"/>
            <a:ext cx="97200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These models require longer training times and higher computational costs,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34326" y="3472815"/>
            <a:ext cx="39233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especially for long sequences.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3472" y="4234815"/>
            <a:ext cx="8445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There is a critical need for more efficient models that can handle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80443" y="4568190"/>
            <a:ext cx="663111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long-range dependencies without these drawbacks.</a:t>
            </a:r>
          </a:p>
        </p:txBody>
      </p:sp>
      <p:sp>
        <p:nvSpPr>
          <p:cNvPr id="15" name="Line 15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58165" y="63636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06616" y="63636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476250" y="333375"/>
            <a:ext cx="428625" cy="285750"/>
          </a:xfrm>
          <a:custGeom>
            <a:avLst/>
            <a:gdLst/>
            <a:ahLst/>
            <a:cxnLst/>
            <a:rect l="l" t="t" r="r" b="b"/>
            <a:pathLst>
              <a:path w="428625" h="285750">
                <a:moveTo>
                  <a:pt x="95250" y="0"/>
                </a:moveTo>
                <a:lnTo>
                  <a:pt x="428625" y="0"/>
                </a:lnTo>
                <a:lnTo>
                  <a:pt x="33337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17270" y="264795"/>
            <a:ext cx="959335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Transformer model revolutionizes NLP with attention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7270" y="276225"/>
            <a:ext cx="103478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mechanisms, enhancing efficiency and translation quality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285875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19100"/>
                </a:lnTo>
                <a:cubicBezTo>
                  <a:pt x="11049000" y="450663"/>
                  <a:pt x="11023413" y="476250"/>
                  <a:pt x="10991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6760" y="1442085"/>
            <a:ext cx="62964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Transformer model enhances NLP efficiency and translation quality.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2047875"/>
            <a:ext cx="11049000" cy="4095750"/>
          </a:xfrm>
          <a:custGeom>
            <a:avLst/>
            <a:gdLst/>
            <a:ahLst/>
            <a:cxnLst/>
            <a:rect l="l" t="t" r="r" b="b"/>
            <a:pathLst>
              <a:path w="11049000" h="40957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038600"/>
                </a:lnTo>
                <a:cubicBezTo>
                  <a:pt x="11049000" y="4070163"/>
                  <a:pt x="11023413" y="4095750"/>
                  <a:pt x="10991850" y="4095750"/>
                </a:cubicBezTo>
                <a:lnTo>
                  <a:pt x="57150" y="4095750"/>
                </a:lnTo>
                <a:cubicBezTo>
                  <a:pt x="25587" y="4095750"/>
                  <a:pt x="0" y="4070163"/>
                  <a:pt x="0" y="403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56A4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10" name="TextBox 10"/>
          <p:cNvSpPr txBox="1"/>
          <p:nvPr/>
        </p:nvSpPr>
        <p:spPr>
          <a:xfrm>
            <a:off x="4180470" y="2216468"/>
            <a:ext cx="383106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Core Contribution</a:t>
            </a:r>
          </a:p>
        </p:txBody>
      </p:sp>
      <p:sp>
        <p:nvSpPr>
          <p:cNvPr id="11" name="Line 11"/>
          <p:cNvSpPr/>
          <p:nvPr/>
        </p:nvSpPr>
        <p:spPr>
          <a:xfrm>
            <a:off x="4191000" y="271462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1545" y="3155632"/>
            <a:ext cx="99354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 Proposed a novel architecture, the Transformer, based entirely on attention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2045" y="3169920"/>
            <a:ext cx="16107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mechanisms.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1545" y="4108132"/>
            <a:ext cx="89612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2. Eliminates the need for recurrence and convolution, enabling greater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2045" y="4122420"/>
            <a:ext cx="37867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parallelization and efficiency.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1545" y="5060632"/>
            <a:ext cx="88221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3. Achieves superior translation quality with reduced training time and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2045" y="5074920"/>
            <a:ext cx="32427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computational resources.</a:t>
            </a:r>
          </a:p>
        </p:txBody>
      </p:sp>
      <p:sp>
        <p:nvSpPr>
          <p:cNvPr id="18" name="Line 18"/>
          <p:cNvSpPr/>
          <p:nvPr/>
        </p:nvSpPr>
        <p:spPr>
          <a:xfrm>
            <a:off x="571500" y="6381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58165" y="65541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161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381000" y="333375"/>
            <a:ext cx="333375" cy="285750"/>
          </a:xfrm>
          <a:custGeom>
            <a:avLst/>
            <a:gdLst/>
            <a:ahLst/>
            <a:cxnLst/>
            <a:rect l="l" t="t" r="r" b="b"/>
            <a:pathLst>
              <a:path w="333375" h="285750">
                <a:moveTo>
                  <a:pt x="0" y="0"/>
                </a:moveTo>
                <a:lnTo>
                  <a:pt x="238125" y="0"/>
                </a:lnTo>
                <a:lnTo>
                  <a:pt x="333375" y="285750"/>
                </a:lnTo>
                <a:lnTo>
                  <a:pt x="95250" y="28575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26770" y="217170"/>
            <a:ext cx="1185683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Transformer Architecture Revolutionizes NLP with Self-Attention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714375"/>
            <a:ext cx="11430000" cy="476250"/>
          </a:xfrm>
          <a:custGeom>
            <a:avLst/>
            <a:gdLst/>
            <a:ahLst/>
            <a:cxnLst/>
            <a:rect l="l" t="t" r="r" b="b"/>
            <a:pathLst>
              <a:path w="11430000" h="47625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0050"/>
                </a:lnTo>
                <a:cubicBezTo>
                  <a:pt x="11430000" y="442134"/>
                  <a:pt x="11395884" y="476250"/>
                  <a:pt x="11353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870585"/>
            <a:ext cx="80998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Transformer's encoder-decoder and self-attention mechanisms are key to its success.</a:t>
            </a:r>
          </a:p>
        </p:txBody>
      </p:sp>
      <p:sp>
        <p:nvSpPr>
          <p:cNvPr id="8" name="Freeform 8"/>
          <p:cNvSpPr/>
          <p:nvPr/>
        </p:nvSpPr>
        <p:spPr>
          <a:xfrm>
            <a:off x="381000" y="1428750"/>
            <a:ext cx="5943600" cy="4381500"/>
          </a:xfrm>
          <a:custGeom>
            <a:avLst/>
            <a:gdLst/>
            <a:ahLst/>
            <a:cxnLst/>
            <a:rect l="l" t="t" r="r" b="b"/>
            <a:pathLst>
              <a:path w="5943600" h="4381500">
                <a:moveTo>
                  <a:pt x="76200" y="0"/>
                </a:moveTo>
                <a:lnTo>
                  <a:pt x="5867400" y="0"/>
                </a:lnTo>
                <a:cubicBezTo>
                  <a:pt x="5909484" y="0"/>
                  <a:pt x="5943600" y="34116"/>
                  <a:pt x="5943600" y="76200"/>
                </a:cubicBezTo>
                <a:lnTo>
                  <a:pt x="5943600" y="4305300"/>
                </a:lnTo>
                <a:cubicBezTo>
                  <a:pt x="5943600" y="4347384"/>
                  <a:pt x="5909484" y="4381500"/>
                  <a:pt x="586740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28600" dist="57150" dir="10799427" algn="tl" rotWithShape="0">
              <a:srgbClr val="003D7C">
                <a:alpha val="15000"/>
              </a:srgbClr>
            </a:outerShdw>
          </a:effectLst>
        </p:spPr>
      </p:sp>
      <p:sp>
        <p:nvSpPr>
          <p:cNvPr id="9" name="Freeform 9"/>
          <p:cNvSpPr/>
          <p:nvPr/>
        </p:nvSpPr>
        <p:spPr>
          <a:xfrm>
            <a:off x="6572250" y="1428750"/>
            <a:ext cx="5238750" cy="4381500"/>
          </a:xfrm>
          <a:custGeom>
            <a:avLst/>
            <a:gdLst/>
            <a:ahLst/>
            <a:cxnLst/>
            <a:rect l="l" t="t" r="r" b="b"/>
            <a:pathLst>
              <a:path w="5238750" h="43815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4305300"/>
                </a:lnTo>
                <a:cubicBezTo>
                  <a:pt x="5238750" y="4347384"/>
                  <a:pt x="5204634" y="4381500"/>
                  <a:pt x="516255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6A4"/>
          </a:solidFill>
          <a:ln>
            <a:noFill/>
          </a:ln>
          <a:effectLst>
            <a:outerShdw blurRad="228600" dist="57150" dir="10799427" algn="tl" rotWithShape="0">
              <a:srgbClr val="003D7C">
                <a:alpha val="15000"/>
              </a:srgbClr>
            </a:outerShdw>
          </a:effectLst>
        </p:spPr>
      </p:sp>
      <p:sp>
        <p:nvSpPr>
          <p:cNvPr id="10" name="Freeform 10"/>
          <p:cNvSpPr/>
          <p:nvPr/>
        </p:nvSpPr>
        <p:spPr>
          <a:xfrm>
            <a:off x="6572250" y="1428750"/>
            <a:ext cx="5238750" cy="523875"/>
          </a:xfrm>
          <a:custGeom>
            <a:avLst/>
            <a:gdLst/>
            <a:ahLst/>
            <a:cxnLst/>
            <a:rect l="l" t="t" r="r" b="b"/>
            <a:pathLst>
              <a:path w="5238750" h="523875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447675"/>
                </a:lnTo>
                <a:cubicBezTo>
                  <a:pt x="5238750" y="489759"/>
                  <a:pt x="5204634" y="523875"/>
                  <a:pt x="516255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07203" y="1551622"/>
            <a:ext cx="336884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Transformer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39902" y="2179796"/>
            <a:ext cx="433389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 Transformer uses an encoder-decoder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39902" y="2465546"/>
            <a:ext cx="440674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structure with stacked self-attention 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39902" y="2751296"/>
            <a:ext cx="36679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point-wise, fully connected layers.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39902" y="3227546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Key components include multi-head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39902" y="3513296"/>
            <a:ext cx="430268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attention, scaled dot-product attention,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39902" y="3799046"/>
            <a:ext cx="442755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and position-wise feed-forward networks.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39902" y="4275296"/>
            <a:ext cx="398009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Positional encodings are added to input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39902" y="4561046"/>
            <a:ext cx="377197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embeddings to retain sequence order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39902" y="4846796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information.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69830" y="5943124"/>
            <a:ext cx="276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The Transformer - model architecture.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1475" y="6681788"/>
            <a:ext cx="21221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Source: Dalian University of Technology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64385" y="66655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381000" y="333375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285750" y="0"/>
                </a:lnTo>
                <a:lnTo>
                  <a:pt x="381000" y="285750"/>
                </a:lnTo>
                <a:lnTo>
                  <a:pt x="95250" y="28575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10590" y="215265"/>
            <a:ext cx="1415237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Scaled dot-product attention enhances training stability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371475"/>
                </a:lnTo>
                <a:cubicBezTo>
                  <a:pt x="11430000" y="403038"/>
                  <a:pt x="11404413" y="428625"/>
                  <a:pt x="11372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212" y="907256"/>
            <a:ext cx="66361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Prevents large values, ensuring stable gradients and efficient computation.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476375"/>
            <a:ext cx="11049000" cy="4619625"/>
          </a:xfrm>
          <a:custGeom>
            <a:avLst/>
            <a:gdLst/>
            <a:ahLst/>
            <a:cxnLst/>
            <a:rect l="l" t="t" r="r" b="b"/>
            <a:pathLst>
              <a:path w="11049000" h="4619625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562475"/>
                </a:lnTo>
                <a:cubicBezTo>
                  <a:pt x="11049000" y="4594038"/>
                  <a:pt x="11023413" y="4619625"/>
                  <a:pt x="10991850" y="4619625"/>
                </a:cubicBezTo>
                <a:lnTo>
                  <a:pt x="57150" y="4619625"/>
                </a:lnTo>
                <a:cubicBezTo>
                  <a:pt x="25587" y="4619625"/>
                  <a:pt x="0" y="4594038"/>
                  <a:pt x="0" y="4562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56A4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9" name="TextBox 9"/>
          <p:cNvSpPr txBox="1"/>
          <p:nvPr/>
        </p:nvSpPr>
        <p:spPr>
          <a:xfrm>
            <a:off x="931545" y="1774508"/>
            <a:ext cx="72472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 attention mechanism computes a weighted sum of values,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1545" y="2060258"/>
            <a:ext cx="76810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where the weights are determined by the query and key vectors.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1545" y="2488882"/>
            <a:ext cx="79461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Scaled dot-product attention prevents large values that could lead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1545" y="2774632"/>
            <a:ext cx="57411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 small gradients, enhancing training stability.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9640" y="3282315"/>
            <a:ext cx="57458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 formula for attention is shown below:</a:t>
            </a:r>
          </a:p>
        </p:txBody>
      </p:sp>
      <p:sp>
        <p:nvSpPr>
          <p:cNvPr id="14" name="Freeform 14"/>
          <p:cNvSpPr/>
          <p:nvPr/>
        </p:nvSpPr>
        <p:spPr>
          <a:xfrm>
            <a:off x="952500" y="3714750"/>
            <a:ext cx="10287000" cy="1809750"/>
          </a:xfrm>
          <a:custGeom>
            <a:avLst/>
            <a:gdLst/>
            <a:ahLst/>
            <a:cxnLst/>
            <a:rect l="l" t="t" r="r" b="b"/>
            <a:pathLst>
              <a:path w="10287000" h="1809750">
                <a:moveTo>
                  <a:pt x="57150" y="0"/>
                </a:moveTo>
                <a:lnTo>
                  <a:pt x="10229850" y="0"/>
                </a:lnTo>
                <a:cubicBezTo>
                  <a:pt x="10261413" y="0"/>
                  <a:pt x="10287000" y="25587"/>
                  <a:pt x="10287000" y="57150"/>
                </a:cubicBezTo>
                <a:lnTo>
                  <a:pt x="10287000" y="1752600"/>
                </a:lnTo>
                <a:cubicBezTo>
                  <a:pt x="10287000" y="1784163"/>
                  <a:pt x="10261413" y="1809750"/>
                  <a:pt x="10229850" y="1809750"/>
                </a:cubicBezTo>
                <a:lnTo>
                  <a:pt x="57150" y="1809750"/>
                </a:lnTo>
                <a:cubicBezTo>
                  <a:pt x="25587" y="1809750"/>
                  <a:pt x="0" y="1784163"/>
                  <a:pt x="0" y="1752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8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604378" y="4232910"/>
            <a:ext cx="698324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Attention(Q, K, V ) = softmax(QK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72586" y="42224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6955" y="4297680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/ √d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01325" y="44386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28960" y="4232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)V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61512" y="4902518"/>
            <a:ext cx="66689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This formula describes the scaled dot-product attention mechanism,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83381" y="5140642"/>
            <a:ext cx="76252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central to the Transformer's ability to compute attention scores efficiently.</a:t>
            </a:r>
          </a:p>
        </p:txBody>
      </p:sp>
      <p:sp>
        <p:nvSpPr>
          <p:cNvPr id="22" name="Line 22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6260" y="6442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06616" y="645890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381000" y="333375"/>
            <a:ext cx="333375" cy="285750"/>
          </a:xfrm>
          <a:custGeom>
            <a:avLst/>
            <a:gdLst/>
            <a:ahLst/>
            <a:cxnLst/>
            <a:rect l="l" t="t" r="r" b="b"/>
            <a:pathLst>
              <a:path w="333375" h="285750">
                <a:moveTo>
                  <a:pt x="0" y="0"/>
                </a:moveTo>
                <a:lnTo>
                  <a:pt x="238125" y="0"/>
                </a:lnTo>
                <a:lnTo>
                  <a:pt x="333375" y="285750"/>
                </a:lnTo>
                <a:lnTo>
                  <a:pt x="95250" y="28575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5340" y="234315"/>
            <a:ext cx="2014922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Multi-head attention enhances model performance by capturing complex patterns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371475"/>
                </a:lnTo>
                <a:cubicBezTo>
                  <a:pt x="11430000" y="403038"/>
                  <a:pt x="11404413" y="428625"/>
                  <a:pt x="11372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212" y="907256"/>
            <a:ext cx="6955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Multi-head attention captures complex patterns, improving model performance.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1333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381000" y="1524000"/>
            <a:ext cx="5943600" cy="3810000"/>
          </a:xfrm>
          <a:custGeom>
            <a:avLst/>
            <a:gdLst/>
            <a:ahLst/>
            <a:cxnLst/>
            <a:rect l="l" t="t" r="r" b="b"/>
            <a:pathLst>
              <a:path w="5943600" h="3810000">
                <a:moveTo>
                  <a:pt x="76200" y="0"/>
                </a:moveTo>
                <a:lnTo>
                  <a:pt x="5867400" y="0"/>
                </a:lnTo>
                <a:cubicBezTo>
                  <a:pt x="5909484" y="0"/>
                  <a:pt x="5943600" y="34116"/>
                  <a:pt x="5943600" y="76200"/>
                </a:cubicBezTo>
                <a:lnTo>
                  <a:pt x="5943600" y="3733800"/>
                </a:lnTo>
                <a:cubicBezTo>
                  <a:pt x="5943600" y="3775884"/>
                  <a:pt x="5909484" y="3810000"/>
                  <a:pt x="5867400" y="3810000"/>
                </a:cubicBezTo>
                <a:lnTo>
                  <a:pt x="76200" y="3810000"/>
                </a:lnTo>
                <a:cubicBezTo>
                  <a:pt x="34116" y="3810000"/>
                  <a:pt x="0" y="3775884"/>
                  <a:pt x="0" y="3733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10" name="TextBox 10"/>
          <p:cNvSpPr txBox="1"/>
          <p:nvPr/>
        </p:nvSpPr>
        <p:spPr>
          <a:xfrm>
            <a:off x="318004" y="5152549"/>
            <a:ext cx="60695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(left) Scaled Dot-Product Attention. (right) Multi-Head Attention consists of several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7308" y="5323999"/>
            <a:ext cx="25309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attention layers running in parallel.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515100" y="1524000"/>
            <a:ext cx="5295900" cy="3810000"/>
          </a:xfrm>
          <a:custGeom>
            <a:avLst/>
            <a:gdLst/>
            <a:ahLst/>
            <a:cxnLst/>
            <a:rect l="l" t="t" r="r" b="b"/>
            <a:pathLst>
              <a:path w="5295900" h="3810000">
                <a:moveTo>
                  <a:pt x="76200" y="0"/>
                </a:moveTo>
                <a:lnTo>
                  <a:pt x="5219700" y="0"/>
                </a:lnTo>
                <a:cubicBezTo>
                  <a:pt x="5261784" y="0"/>
                  <a:pt x="5295900" y="34116"/>
                  <a:pt x="5295900" y="76200"/>
                </a:cubicBezTo>
                <a:lnTo>
                  <a:pt x="5295900" y="3733800"/>
                </a:lnTo>
                <a:cubicBezTo>
                  <a:pt x="5295900" y="3775884"/>
                  <a:pt x="5261784" y="3810000"/>
                  <a:pt x="5219700" y="3810000"/>
                </a:cubicBezTo>
                <a:lnTo>
                  <a:pt x="76200" y="3810000"/>
                </a:lnTo>
                <a:cubicBezTo>
                  <a:pt x="34116" y="3810000"/>
                  <a:pt x="0" y="3775884"/>
                  <a:pt x="0" y="3733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6A4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13" name="Freeform 13"/>
          <p:cNvSpPr/>
          <p:nvPr/>
        </p:nvSpPr>
        <p:spPr>
          <a:xfrm>
            <a:off x="6515100" y="1524000"/>
            <a:ext cx="5295900" cy="609600"/>
          </a:xfrm>
          <a:custGeom>
            <a:avLst/>
            <a:gdLst/>
            <a:ahLst/>
            <a:cxnLst/>
            <a:rect l="l" t="t" r="r" b="b"/>
            <a:pathLst>
              <a:path w="5295900" h="609600">
                <a:moveTo>
                  <a:pt x="76200" y="0"/>
                </a:moveTo>
                <a:lnTo>
                  <a:pt x="5219700" y="0"/>
                </a:lnTo>
                <a:cubicBezTo>
                  <a:pt x="5261784" y="0"/>
                  <a:pt x="5295900" y="34116"/>
                  <a:pt x="5295900" y="76200"/>
                </a:cubicBezTo>
                <a:lnTo>
                  <a:pt x="5295900" y="533400"/>
                </a:lnTo>
                <a:cubicBezTo>
                  <a:pt x="5295900" y="575484"/>
                  <a:pt x="5261784" y="609600"/>
                  <a:pt x="5219700" y="609600"/>
                </a:cubicBezTo>
                <a:lnTo>
                  <a:pt x="76200" y="609600"/>
                </a:lnTo>
                <a:cubicBezTo>
                  <a:pt x="34116" y="609600"/>
                  <a:pt x="0" y="575484"/>
                  <a:pt x="0" y="533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55535" y="1645920"/>
            <a:ext cx="38150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Multi-Head Attention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1800" y="2314575"/>
            <a:ext cx="4386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Multi-head attention allows the model 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1800" y="2581275"/>
            <a:ext cx="48248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jointly attend to information from different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1800" y="2847975"/>
            <a:ext cx="29408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representation subspaces.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1800" y="3305175"/>
            <a:ext cx="48796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Each head computes attention independently,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1800" y="3571875"/>
            <a:ext cx="49125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and the results are concatenated and linearly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81800" y="3838575"/>
            <a:ext cx="15278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transformed.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1800" y="4295775"/>
            <a:ext cx="47372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This mechanism improves the model's ability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81800" y="4562475"/>
            <a:ext cx="51206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 capture complex patterns and dependencies.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56260" y="6442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16116" y="645890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571500" y="333375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285750" y="0"/>
                </a:lnTo>
                <a:lnTo>
                  <a:pt x="381000" y="285750"/>
                </a:lnTo>
                <a:lnTo>
                  <a:pt x="95250" y="28575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01090" y="215265"/>
            <a:ext cx="1463313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Experimental setup utilizes advanced datasets and metrics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85725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371475"/>
                </a:lnTo>
                <a:cubicBezTo>
                  <a:pt x="11430000" y="403038"/>
                  <a:pt x="11404413" y="428625"/>
                  <a:pt x="11372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212" y="1002506"/>
            <a:ext cx="57994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State-of-the-art datasets and metrics ensure robust evaluation.</a:t>
            </a:r>
          </a:p>
        </p:txBody>
      </p:sp>
      <p:sp>
        <p:nvSpPr>
          <p:cNvPr id="8" name="Polygon 8"/>
          <p:cNvSpPr/>
          <p:nvPr/>
        </p:nvSpPr>
        <p:spPr>
          <a:xfrm>
            <a:off x="381000" y="1571625"/>
            <a:ext cx="5715000" cy="2095500"/>
          </a:xfrm>
          <a:custGeom>
            <a:avLst/>
            <a:gdLst/>
            <a:ahLst/>
            <a:cxnLst/>
            <a:rect l="l" t="t" r="r" b="b"/>
            <a:pathLst>
              <a:path w="5715000" h="2095500">
                <a:moveTo>
                  <a:pt x="190500" y="0"/>
                </a:moveTo>
                <a:lnTo>
                  <a:pt x="5715000" y="0"/>
                </a:lnTo>
                <a:lnTo>
                  <a:pt x="5524500" y="2095500"/>
                </a:lnTo>
                <a:lnTo>
                  <a:pt x="0" y="2095500"/>
                </a:lnTo>
                <a:close/>
              </a:path>
            </a:pathLst>
          </a:custGeom>
          <a:solidFill>
            <a:srgbClr val="0056A4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381000" y="1571625"/>
            <a:ext cx="5715000" cy="428625"/>
          </a:xfrm>
          <a:custGeom>
            <a:avLst/>
            <a:gdLst/>
            <a:ahLst/>
            <a:cxnLst/>
            <a:rect l="l" t="t" r="r" b="b"/>
            <a:pathLst>
              <a:path w="5715000" h="428625">
                <a:moveTo>
                  <a:pt x="190500" y="0"/>
                </a:moveTo>
                <a:lnTo>
                  <a:pt x="5715000" y="0"/>
                </a:lnTo>
                <a:lnTo>
                  <a:pt x="55245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398319" y="1598295"/>
            <a:ext cx="168036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Datasets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1045" y="2298382"/>
            <a:ext cx="41988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Experiments conducted on WMT 2014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1045" y="2631758"/>
            <a:ext cx="48977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English-to-German and English-to-French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1045" y="2965132"/>
            <a:ext cx="2246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translation tasks.</a:t>
            </a:r>
          </a:p>
        </p:txBody>
      </p:sp>
      <p:sp>
        <p:nvSpPr>
          <p:cNvPr id="14" name="Polygon 14"/>
          <p:cNvSpPr/>
          <p:nvPr/>
        </p:nvSpPr>
        <p:spPr>
          <a:xfrm>
            <a:off x="6286500" y="1571625"/>
            <a:ext cx="5715000" cy="2095500"/>
          </a:xfrm>
          <a:custGeom>
            <a:avLst/>
            <a:gdLst/>
            <a:ahLst/>
            <a:cxnLst/>
            <a:rect l="l" t="t" r="r" b="b"/>
            <a:pathLst>
              <a:path w="5715000" h="2095500">
                <a:moveTo>
                  <a:pt x="190500" y="0"/>
                </a:moveTo>
                <a:lnTo>
                  <a:pt x="5715000" y="0"/>
                </a:lnTo>
                <a:lnTo>
                  <a:pt x="5524500" y="2095500"/>
                </a:lnTo>
                <a:lnTo>
                  <a:pt x="0" y="2095500"/>
                </a:lnTo>
                <a:close/>
              </a:path>
            </a:pathLst>
          </a:custGeom>
          <a:solidFill>
            <a:srgbClr val="0056A4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6286500" y="1571625"/>
            <a:ext cx="5715000" cy="428625"/>
          </a:xfrm>
          <a:custGeom>
            <a:avLst/>
            <a:gdLst/>
            <a:ahLst/>
            <a:cxnLst/>
            <a:rect l="l" t="t" r="r" b="b"/>
            <a:pathLst>
              <a:path w="5715000" h="428625">
                <a:moveTo>
                  <a:pt x="190500" y="0"/>
                </a:moveTo>
                <a:lnTo>
                  <a:pt x="5715000" y="0"/>
                </a:lnTo>
                <a:lnTo>
                  <a:pt x="55245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534161" y="1598295"/>
            <a:ext cx="341017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Evaluation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46545" y="2298382"/>
            <a:ext cx="47169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Evaluation metrics include BLEU scores,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46545" y="2631758"/>
            <a:ext cx="41627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which measure translation quality.</a:t>
            </a:r>
          </a:p>
        </p:txBody>
      </p:sp>
      <p:sp>
        <p:nvSpPr>
          <p:cNvPr id="19" name="Polygon 19"/>
          <p:cNvSpPr/>
          <p:nvPr/>
        </p:nvSpPr>
        <p:spPr>
          <a:xfrm>
            <a:off x="381000" y="4048125"/>
            <a:ext cx="5715000" cy="1905000"/>
          </a:xfrm>
          <a:custGeom>
            <a:avLst/>
            <a:gdLst/>
            <a:ahLst/>
            <a:cxnLst/>
            <a:rect l="l" t="t" r="r" b="b"/>
            <a:pathLst>
              <a:path w="5715000" h="1905000">
                <a:moveTo>
                  <a:pt x="190500" y="0"/>
                </a:moveTo>
                <a:lnTo>
                  <a:pt x="5715000" y="0"/>
                </a:lnTo>
                <a:lnTo>
                  <a:pt x="552450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0056A4"/>
          </a:solidFill>
          <a:ln>
            <a:noFill/>
          </a:ln>
        </p:spPr>
      </p:sp>
      <p:sp>
        <p:nvSpPr>
          <p:cNvPr id="20" name="Polygon 20"/>
          <p:cNvSpPr/>
          <p:nvPr/>
        </p:nvSpPr>
        <p:spPr>
          <a:xfrm>
            <a:off x="381000" y="4048125"/>
            <a:ext cx="5715000" cy="428625"/>
          </a:xfrm>
          <a:custGeom>
            <a:avLst/>
            <a:gdLst/>
            <a:ahLst/>
            <a:cxnLst/>
            <a:rect l="l" t="t" r="r" b="b"/>
            <a:pathLst>
              <a:path w="5715000" h="428625">
                <a:moveTo>
                  <a:pt x="190500" y="0"/>
                </a:moveTo>
                <a:lnTo>
                  <a:pt x="5715000" y="0"/>
                </a:lnTo>
                <a:lnTo>
                  <a:pt x="55245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689830" y="4074795"/>
            <a:ext cx="309733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Baseline Methods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7748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Baseline methods include state-of-the-art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1045" y="5108258"/>
            <a:ext cx="316263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RNN and CNN-based models.</a:t>
            </a:r>
          </a:p>
        </p:txBody>
      </p:sp>
      <p:sp>
        <p:nvSpPr>
          <p:cNvPr id="24" name="Line 24"/>
          <p:cNvSpPr/>
          <p:nvPr/>
        </p:nvSpPr>
        <p:spPr>
          <a:xfrm>
            <a:off x="571500" y="628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58165" y="64589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98628" y="65541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381000" y="285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285750" y="0"/>
                </a:lnTo>
                <a:lnTo>
                  <a:pt x="381000" y="381000"/>
                </a:lnTo>
                <a:lnTo>
                  <a:pt x="95250" y="38100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16305" y="263842"/>
            <a:ext cx="1110801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Transformer模型在翻译质量和效率上超越先前最优模型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371475"/>
                </a:lnTo>
                <a:cubicBezTo>
                  <a:pt x="11430000" y="403038"/>
                  <a:pt x="11404413" y="428625"/>
                  <a:pt x="11372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899160"/>
            <a:ext cx="43182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Transformer在更低训练成本下实现更高BLEU分数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381125"/>
            <a:ext cx="11430000" cy="4857750"/>
          </a:xfrm>
          <a:prstGeom prst="rect">
            <a:avLst/>
          </a:prstGeom>
          <a:solidFill>
            <a:srgbClr val="0056A4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381000" y="1381125"/>
            <a:ext cx="11430000" cy="523875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620149" y="14878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翻译质量与效率对比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095500"/>
            <a:ext cx="11049000" cy="428625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14329" y="22164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75194" y="22164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EN-DE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89694" y="22164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EN-FR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15022" y="2216468"/>
            <a:ext cx="1762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训练成本 (FLOPs)</a:t>
            </a:r>
          </a:p>
        </p:txBody>
      </p:sp>
      <p:sp>
        <p:nvSpPr>
          <p:cNvPr id="16" name="Line 16"/>
          <p:cNvSpPr/>
          <p:nvPr/>
        </p:nvSpPr>
        <p:spPr>
          <a:xfrm>
            <a:off x="571500" y="2524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46760" y="2708910"/>
            <a:ext cx="20985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GNMT + RL Ensemble [38]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20778" y="27089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26.30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79092" y="270891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41.16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86925" y="2708910"/>
            <a:ext cx="8191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1.8 · 10²⁰</a:t>
            </a:r>
          </a:p>
        </p:txBody>
      </p:sp>
      <p:sp>
        <p:nvSpPr>
          <p:cNvPr id="21" name="Line 21"/>
          <p:cNvSpPr/>
          <p:nvPr/>
        </p:nvSpPr>
        <p:spPr>
          <a:xfrm>
            <a:off x="571500" y="3000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6760" y="3185160"/>
            <a:ext cx="18619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ConvS2S Ensemble [9]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20778" y="31851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26.36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7185" y="318516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41.29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65018" y="3185160"/>
            <a:ext cx="8629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7.7 · 10¹⁹</a:t>
            </a:r>
          </a:p>
        </p:txBody>
      </p:sp>
      <p:sp>
        <p:nvSpPr>
          <p:cNvPr id="26" name="Line 26"/>
          <p:cNvSpPr/>
          <p:nvPr/>
        </p:nvSpPr>
        <p:spPr>
          <a:xfrm>
            <a:off x="571500" y="3476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3571875"/>
            <a:ext cx="11049000" cy="476250"/>
          </a:xfrm>
          <a:prstGeom prst="rect">
            <a:avLst/>
          </a:prstGeom>
          <a:solidFill>
            <a:srgbClr val="0072CE">
              <a:alpha val="3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4855" y="3730942"/>
            <a:ext cx="19078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Transformer (big)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32127" y="3730942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28.4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72505" y="3730942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41.8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87669" y="3730942"/>
            <a:ext cx="10176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2.3 · 10¹⁹</a:t>
            </a:r>
          </a:p>
        </p:txBody>
      </p:sp>
      <p:sp>
        <p:nvSpPr>
          <p:cNvPr id="32" name="Line 32"/>
          <p:cNvSpPr/>
          <p:nvPr/>
        </p:nvSpPr>
        <p:spPr>
          <a:xfrm>
            <a:off x="571500" y="4048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1045" y="42510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关键发现：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6760" y="4632960"/>
            <a:ext cx="42717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EN-DE任务BLEU分数28.4，超越先前最优模型2.04分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6760" y="4918710"/>
            <a:ext cx="34918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EN-FR任务BLEU分数41.8，创单模型新纪录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6760" y="5204460"/>
            <a:ext cx="28959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训练成本降低70%（相比ConvS2S）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6760" y="5490210"/>
            <a:ext cx="25542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在newstest2014测试集上验证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0522" y="6340316"/>
            <a:ext cx="1894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数据来源：Newstest2014研究数据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8618" y="65622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35501" y="6562249"/>
            <a:ext cx="387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381000" y="333375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285750" y="0"/>
                </a:lnTo>
                <a:lnTo>
                  <a:pt x="381000" y="285750"/>
                </a:lnTo>
                <a:lnTo>
                  <a:pt x="95250" y="28575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64870" y="136208"/>
            <a:ext cx="1406460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Attention mechanism captures long-distance dependencies,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870" y="612458"/>
            <a:ext cx="1184253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demonstrating complex linguistic pattern learning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1238250"/>
            <a:ext cx="11430000" cy="476250"/>
          </a:xfrm>
          <a:custGeom>
            <a:avLst/>
            <a:gdLst/>
            <a:ahLst/>
            <a:cxnLst/>
            <a:rect l="l" t="t" r="r" b="b"/>
            <a:pathLst>
              <a:path w="11430000" h="47625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0050"/>
                </a:lnTo>
                <a:cubicBezTo>
                  <a:pt x="11430000" y="442134"/>
                  <a:pt x="11395884" y="476250"/>
                  <a:pt x="11353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D7C">
              <a:alpha val="8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6260" y="1413510"/>
            <a:ext cx="65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▸ Attention mechanism captures long-distance dependencies effectively.</a:t>
            </a:r>
          </a:p>
        </p:txBody>
      </p:sp>
      <p:sp>
        <p:nvSpPr>
          <p:cNvPr id="9" name="Freeform 9"/>
          <p:cNvSpPr/>
          <p:nvPr/>
        </p:nvSpPr>
        <p:spPr>
          <a:xfrm>
            <a:off x="381000" y="2000250"/>
            <a:ext cx="5943600" cy="4286250"/>
          </a:xfrm>
          <a:custGeom>
            <a:avLst/>
            <a:gdLst/>
            <a:ahLst/>
            <a:cxnLst/>
            <a:rect l="l" t="t" r="r" b="b"/>
            <a:pathLst>
              <a:path w="5943600" h="4286250">
                <a:moveTo>
                  <a:pt x="76200" y="0"/>
                </a:moveTo>
                <a:lnTo>
                  <a:pt x="5867400" y="0"/>
                </a:lnTo>
                <a:cubicBezTo>
                  <a:pt x="5909484" y="0"/>
                  <a:pt x="5943600" y="34116"/>
                  <a:pt x="5943600" y="76200"/>
                </a:cubicBezTo>
                <a:lnTo>
                  <a:pt x="5943600" y="4210050"/>
                </a:lnTo>
                <a:cubicBezTo>
                  <a:pt x="5943600" y="4252134"/>
                  <a:pt x="5909484" y="4286250"/>
                  <a:pt x="5867400" y="4286250"/>
                </a:cubicBezTo>
                <a:lnTo>
                  <a:pt x="76200" y="4286250"/>
                </a:lnTo>
                <a:cubicBezTo>
                  <a:pt x="34116" y="4286250"/>
                  <a:pt x="0" y="4252134"/>
                  <a:pt x="0" y="421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10" name="TextBox 10"/>
          <p:cNvSpPr txBox="1"/>
          <p:nvPr/>
        </p:nvSpPr>
        <p:spPr>
          <a:xfrm>
            <a:off x="688241" y="5990749"/>
            <a:ext cx="53291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An example of the attention mechanism following long-distance dependencies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0471" y="6143149"/>
            <a:ext cx="31646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in the encoder self-attention in layer 5 of 6.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515100" y="2000250"/>
            <a:ext cx="5295900" cy="4286250"/>
          </a:xfrm>
          <a:custGeom>
            <a:avLst/>
            <a:gdLst/>
            <a:ahLst/>
            <a:cxnLst/>
            <a:rect l="l" t="t" r="r" b="b"/>
            <a:pathLst>
              <a:path w="5295900" h="4286250">
                <a:moveTo>
                  <a:pt x="76200" y="0"/>
                </a:moveTo>
                <a:lnTo>
                  <a:pt x="5219700" y="0"/>
                </a:lnTo>
                <a:cubicBezTo>
                  <a:pt x="5261784" y="0"/>
                  <a:pt x="5295900" y="34116"/>
                  <a:pt x="5295900" y="76200"/>
                </a:cubicBezTo>
                <a:lnTo>
                  <a:pt x="5295900" y="4210050"/>
                </a:lnTo>
                <a:cubicBezTo>
                  <a:pt x="5295900" y="4252134"/>
                  <a:pt x="5261784" y="4286250"/>
                  <a:pt x="5219700" y="4286250"/>
                </a:cubicBezTo>
                <a:lnTo>
                  <a:pt x="76200" y="4286250"/>
                </a:lnTo>
                <a:cubicBezTo>
                  <a:pt x="34116" y="4286250"/>
                  <a:pt x="0" y="4252134"/>
                  <a:pt x="0" y="421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6A4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13" name="Freeform 13"/>
          <p:cNvSpPr/>
          <p:nvPr/>
        </p:nvSpPr>
        <p:spPr>
          <a:xfrm>
            <a:off x="6515100" y="2000250"/>
            <a:ext cx="5295900" cy="476250"/>
          </a:xfrm>
          <a:custGeom>
            <a:avLst/>
            <a:gdLst/>
            <a:ahLst/>
            <a:cxnLst/>
            <a:rect l="l" t="t" r="r" b="b"/>
            <a:pathLst>
              <a:path w="5295900" h="476250">
                <a:moveTo>
                  <a:pt x="76200" y="0"/>
                </a:moveTo>
                <a:lnTo>
                  <a:pt x="5219700" y="0"/>
                </a:lnTo>
                <a:cubicBezTo>
                  <a:pt x="5261784" y="0"/>
                  <a:pt x="5295900" y="34116"/>
                  <a:pt x="5295900" y="76200"/>
                </a:cubicBezTo>
                <a:lnTo>
                  <a:pt x="5295900" y="400050"/>
                </a:lnTo>
                <a:cubicBezTo>
                  <a:pt x="5295900" y="442134"/>
                  <a:pt x="5261784" y="476250"/>
                  <a:pt x="52197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D7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508402" y="2087880"/>
            <a:ext cx="13092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Insights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1800" y="2743200"/>
            <a:ext cx="37076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 attention mechanism captures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1800" y="3028950"/>
            <a:ext cx="435387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long-distance dependencies effectively.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1800" y="3695700"/>
            <a:ext cx="3762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Attention heads exhibit specialized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1800" y="3981450"/>
            <a:ext cx="42333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behaviors, such as resolving anaphora.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1800" y="4648200"/>
            <a:ext cx="43210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These insights demonstrate the model's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81800" y="4933950"/>
            <a:ext cx="47372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ability to learn complex linguistic patterns.</a:t>
            </a:r>
          </a:p>
        </p:txBody>
      </p:sp>
      <p:sp>
        <p:nvSpPr>
          <p:cNvPr id="21" name="Line 21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003D7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70522" y="6626066"/>
            <a:ext cx="23343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Source: Dalian University of Technology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93270" y="6626066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543110" y="464820"/>
            <a:ext cx="5105781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感谢您的聆听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5591" y="1312545"/>
            <a:ext cx="502081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Thank You for Your Attention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1809750" y="2190750"/>
            <a:ext cx="8572500" cy="3238500"/>
          </a:xfrm>
          <a:custGeom>
            <a:avLst/>
            <a:gdLst/>
            <a:ahLst/>
            <a:cxnLst/>
            <a:rect l="l" t="t" r="r" b="b"/>
            <a:pathLst>
              <a:path w="8572500" h="3238500">
                <a:moveTo>
                  <a:pt x="76200" y="0"/>
                </a:moveTo>
                <a:lnTo>
                  <a:pt x="8496300" y="0"/>
                </a:lnTo>
                <a:cubicBezTo>
                  <a:pt x="8538384" y="0"/>
                  <a:pt x="8572500" y="34116"/>
                  <a:pt x="8572500" y="76200"/>
                </a:cubicBezTo>
                <a:lnTo>
                  <a:pt x="8572500" y="3162300"/>
                </a:lnTo>
                <a:cubicBezTo>
                  <a:pt x="8572500" y="3204384"/>
                  <a:pt x="8538384" y="3238500"/>
                  <a:pt x="8496300" y="3238500"/>
                </a:cubicBezTo>
                <a:lnTo>
                  <a:pt x="76200" y="3238500"/>
                </a:lnTo>
                <a:cubicBezTo>
                  <a:pt x="34116" y="3238500"/>
                  <a:pt x="0" y="3204384"/>
                  <a:pt x="0" y="3162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56A4"/>
          </a:solidFill>
          <a:ln>
            <a:noFill/>
          </a:ln>
          <a:effectLst>
            <a:outerShdw blurRad="190500" dist="95250" dir="10799656" algn="tl" rotWithShape="0">
              <a:srgbClr val="003D7C">
                <a:alpha val="15000"/>
              </a:srgbClr>
            </a:outerShdw>
          </a:effectLst>
        </p:spPr>
      </p:sp>
      <p:sp>
        <p:nvSpPr>
          <p:cNvPr id="6" name="TextBox 6"/>
          <p:cNvSpPr txBox="1"/>
          <p:nvPr/>
        </p:nvSpPr>
        <p:spPr>
          <a:xfrm>
            <a:off x="3010019" y="2390775"/>
            <a:ext cx="61719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Conclusion and 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69795" y="3108008"/>
            <a:ext cx="87413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The Transformer sets a new benchmark in sequence transduction tasks,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69795" y="3123248"/>
            <a:ext cx="566885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offering a more efficient and scalable solution.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69795" y="3146108"/>
            <a:ext cx="75726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Future work includes extending the model to other modalities,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69795" y="3161348"/>
            <a:ext cx="30421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such as images and audio.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69795" y="3184208"/>
            <a:ext cx="88618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Exploration of restricted attention mechanisms for handling large inputs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69795" y="3199448"/>
            <a:ext cx="346386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is also a promising direction.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6260" y="6442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606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381500" y="1714500"/>
            <a:ext cx="3429000" cy="3429000"/>
            <a:chOff x="4381500" y="1714500"/>
            <a:chExt cx="3429000" cy="3429000"/>
          </a:xfrm>
          <a:effectLst>
            <a:glow rad="152400">
              <a:srgbClr val="FFFFFF">
                <a:alpha val="10000"/>
              </a:srgbClr>
            </a:glow>
          </a:effectLst>
        </p:grpSpPr>
        <p:sp>
          <p:nvSpPr>
            <p:cNvPr id="3" name="Ellipse 3"/>
            <p:cNvSpPr/>
            <p:nvPr/>
          </p:nvSpPr>
          <p:spPr>
            <a:xfrm>
              <a:off x="4381500" y="1714500"/>
              <a:ext cx="3429000" cy="3429000"/>
            </a:xfrm>
            <a:prstGeom prst="ellipse">
              <a:avLst/>
            </a:prstGeom>
            <a:noFill/>
            <a:ln w="28575">
              <a:solidFill>
                <a:srgbClr val="FFFFFF">
                  <a:alpha val="10000"/>
                </a:srgbClr>
              </a:solidFill>
            </a:ln>
            <a:effectLst>
              <a:glow rad="152400">
                <a:srgbClr val="FFFFFF">
                  <a:alpha val="10000"/>
                </a:srgbClr>
              </a:glow>
            </a:effectLst>
          </p:spPr>
        </p:sp>
        <p:sp>
          <p:nvSpPr>
            <p:cNvPr id="4" name="Ellipse 4"/>
            <p:cNvSpPr/>
            <p:nvPr/>
          </p:nvSpPr>
          <p:spPr>
            <a:xfrm>
              <a:off x="4572000" y="1905000"/>
              <a:ext cx="3048000" cy="3048000"/>
            </a:xfrm>
            <a:prstGeom prst="ellipse">
              <a:avLst/>
            </a:prstGeom>
            <a:noFill/>
            <a:ln w="19050">
              <a:solidFill>
                <a:srgbClr val="FFFFFF">
                  <a:alpha val="10000"/>
                </a:srgbClr>
              </a:solidFill>
            </a:ln>
            <a:effectLst>
              <a:glow rad="152400">
                <a:srgbClr val="FFFFFF">
                  <a:alpha val="10000"/>
                </a:srgbClr>
              </a:glow>
            </a:effectLst>
          </p:spPr>
        </p:sp>
        <p:sp>
          <p:nvSpPr>
            <p:cNvPr id="5" name="TextBox 5"/>
            <p:cNvSpPr txBox="1"/>
            <p:nvPr/>
          </p:nvSpPr>
          <p:spPr>
            <a:xfrm>
              <a:off x="5344235" y="3036570"/>
              <a:ext cx="1503531" cy="1097280"/>
            </a:xfrm>
            <a:prstGeom prst="rect">
              <a:avLst/>
            </a:prstGeom>
            <a:noFill/>
            <a:ln>
              <a:noFill/>
            </a:ln>
            <a:effectLst>
              <a:glow rad="152400">
                <a:srgbClr val="FFFFFF">
                  <a:alpha val="10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>
                      <a:alpha val="10000"/>
                    </a:srgbClr>
                  </a:solidFill>
                  <a:latin typeface="Arial"/>
                  <a:ea typeface="Microsoft YaHei"/>
                  <a:cs typeface="Arial"/>
                </a:rPr>
                <a:t>DUT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84115" y="1261110"/>
            <a:ext cx="722377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Questions &amp; Discussion</a:t>
            </a:r>
          </a:p>
        </p:txBody>
      </p:sp>
      <p:sp>
        <p:nvSpPr>
          <p:cNvPr id="8" name="Line 8"/>
          <p:cNvSpPr/>
          <p:nvPr/>
        </p:nvSpPr>
        <p:spPr>
          <a:xfrm>
            <a:off x="3238500" y="2047875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070186" y="4280535"/>
            <a:ext cx="605162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 for your attention!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61124" y="4949190"/>
            <a:ext cx="48697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Questions and feedback are welcome.</a:t>
            </a:r>
          </a:p>
        </p:txBody>
      </p:sp>
      <p:sp>
        <p:nvSpPr>
          <p:cNvPr id="11" name="Ellipse 11"/>
          <p:cNvSpPr/>
          <p:nvPr/>
        </p:nvSpPr>
        <p:spPr>
          <a:xfrm>
            <a:off x="1047750" y="5048250"/>
            <a:ext cx="1333500" cy="13335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620250" y="285750"/>
            <a:ext cx="1714500" cy="17145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8165" y="65541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团结、进取、求实、创新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46787" y="6554152"/>
            <a:ext cx="387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