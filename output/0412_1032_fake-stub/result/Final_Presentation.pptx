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762000" y="6477000"/>
            <a:ext cx="106680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21478" y="6554152"/>
            <a:ext cx="15218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B1B2B3B4-0000-0000-0000-000000000001}" type="slidenum"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4_img1.jpg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6_img1.jpg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11_img1.jpg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12_img1.jpg"/>
  <Relationship Id="rId10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952500"/>
            <a:ext cx="12192000" cy="285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3" name="Polygon 3"/>
          <p:cNvSpPr/>
          <p:nvPr/>
        </p:nvSpPr>
        <p:spPr>
          <a:xfrm>
            <a:off x="647700" y="1409700"/>
            <a:ext cx="7620000" cy="4191000"/>
          </a:xfrm>
          <a:custGeom>
            <a:avLst/>
            <a:gdLst/>
            <a:ahLst/>
            <a:cxnLst/>
            <a:rect l="l" t="t" r="r" b="b"/>
            <a:pathLst>
              <a:path w="7620000" h="4191000">
                <a:moveTo>
                  <a:pt x="3810000" y="0"/>
                </a:moveTo>
                <a:lnTo>
                  <a:pt x="7620000" y="0"/>
                </a:lnTo>
                <a:lnTo>
                  <a:pt x="3810000" y="4191000"/>
                </a:lnTo>
                <a:lnTo>
                  <a:pt x="0" y="4191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571500" y="1333500"/>
            <a:ext cx="7620000" cy="4191000"/>
          </a:xfrm>
          <a:custGeom>
            <a:avLst/>
            <a:gdLst/>
            <a:ahLst/>
            <a:cxnLst/>
            <a:rect l="l" t="t" r="r" b="b"/>
            <a:pathLst>
              <a:path w="7620000" h="4191000">
                <a:moveTo>
                  <a:pt x="3810000" y="0"/>
                </a:moveTo>
                <a:lnTo>
                  <a:pt x="7620000" y="0"/>
                </a:lnTo>
                <a:lnTo>
                  <a:pt x="3810000" y="4191000"/>
                </a:lnTo>
                <a:lnTo>
                  <a:pt x="0" y="4191000"/>
                </a:ln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89660" y="356235"/>
            <a:ext cx="767462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Attention Is All You Need</a:t>
            </a:r>
          </a:p>
        </p:txBody>
      </p:sp>
      <p:sp>
        <p:nvSpPr>
          <p:cNvPr id="6" name="Line 6"/>
          <p:cNvSpPr/>
          <p:nvPr/>
        </p:nvSpPr>
        <p:spPr>
          <a:xfrm>
            <a:off x="1143000" y="952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549640" y="1853565"/>
            <a:ext cx="79455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Ashish Vaswani, Noam Shazeer, Niki Parmar, Jakob Uszkoreit,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49640" y="2234565"/>
            <a:ext cx="759066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Llion Jones, Aidan N. Gomez, Łukasz Kaiser, Illia Polosukhin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53450" y="2790825"/>
            <a:ext cx="582168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2E8F0"/>
                </a:solidFill>
                <a:latin typeface="Noto Sans CJK SC"/>
                <a:ea typeface="Microsoft YaHei"/>
                <a:cs typeface="Noto Sans CJK SC"/>
              </a:rPr>
              <a:t>Google Brain; Google Research; University of Toronto;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53450" y="3076575"/>
            <a:ext cx="600789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2E8F0"/>
                </a:solidFill>
                <a:latin typeface="Noto Sans CJK SC"/>
                <a:ea typeface="Microsoft YaHei"/>
                <a:cs typeface="Noto Sans CJK SC"/>
              </a:rPr>
              <a:t>Independent (work performed while at Google Research)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55355" y="3521392"/>
            <a:ext cx="70731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2E8F0"/>
                </a:solidFill>
                <a:latin typeface="Noto Sans CJK SC"/>
                <a:ea typeface="Microsoft YaHei"/>
                <a:cs typeface="Noto Sans CJK SC"/>
              </a:rPr>
              <a:t>31st Conference on Neural Information Processing Systems (NeurIPS 2017)</a:t>
            </a:r>
          </a:p>
        </p:txBody>
      </p:sp>
      <p:sp>
        <p:nvSpPr>
          <p:cNvPr id="12" name="Freeform 12"/>
          <p:cNvSpPr/>
          <p:nvPr/>
        </p:nvSpPr>
        <p:spPr>
          <a:xfrm>
            <a:off x="8572500" y="4191000"/>
            <a:ext cx="3048000" cy="1381125"/>
          </a:xfrm>
          <a:custGeom>
            <a:avLst/>
            <a:gdLst/>
            <a:ahLst/>
            <a:cxnLst/>
            <a:rect l="l" t="t" r="r" b="b"/>
            <a:pathLst>
              <a:path w="3048000" h="1381125">
                <a:moveTo>
                  <a:pt x="76200" y="0"/>
                </a:moveTo>
                <a:lnTo>
                  <a:pt x="2971800" y="0"/>
                </a:lnTo>
                <a:cubicBezTo>
                  <a:pt x="3013884" y="0"/>
                  <a:pt x="3048000" y="34116"/>
                  <a:pt x="3048000" y="76200"/>
                </a:cubicBezTo>
                <a:lnTo>
                  <a:pt x="3048000" y="1304925"/>
                </a:lnTo>
                <a:cubicBezTo>
                  <a:pt x="3048000" y="1347009"/>
                  <a:pt x="3013884" y="1381125"/>
                  <a:pt x="2971800" y="1381125"/>
                </a:cubicBezTo>
                <a:lnTo>
                  <a:pt x="76200" y="1381125"/>
                </a:lnTo>
                <a:cubicBezTo>
                  <a:pt x="34116" y="1381125"/>
                  <a:pt x="0" y="1347009"/>
                  <a:pt x="0" y="13049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743950" y="4362450"/>
            <a:ext cx="40751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A new simple network architecture,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43950" y="4648200"/>
            <a:ext cx="37875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the Transformer, based solely 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43950" y="4933950"/>
            <a:ext cx="43971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attention mechanisms, dispensing with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43950" y="5219700"/>
            <a:ext cx="43166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recurrence and convolutions entirely.</a:t>
            </a:r>
          </a:p>
        </p:txBody>
      </p:sp>
      <p:sp>
        <p:nvSpPr>
          <p:cNvPr id="17" name="Ellipse 17"/>
          <p:cNvSpPr/>
          <p:nvPr/>
        </p:nvSpPr>
        <p:spPr>
          <a:xfrm>
            <a:off x="10668000" y="190500"/>
            <a:ext cx="762000" cy="762000"/>
          </a:xfrm>
          <a:prstGeom prst="ellipse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902823" y="410528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DUT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50785" y="649605"/>
            <a:ext cx="39643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Academic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2450" y="6124575"/>
            <a:ext cx="18564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自强不息 知行合一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62260" y="61569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Academic Presentation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51659" y="6554152"/>
            <a:ext cx="726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381000" y="952500"/>
            <a:ext cx="11430000" cy="285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28625" y="476250"/>
            <a:ext cx="381000" cy="285750"/>
            <a:chOff x="428625" y="476250"/>
            <a:chExt cx="381000" cy="285750"/>
          </a:xfrm>
        </p:grpSpPr>
        <p:sp>
          <p:nvSpPr>
            <p:cNvPr id="3" name="Freeform 3"/>
            <p:cNvSpPr/>
            <p:nvPr/>
          </p:nvSpPr>
          <p:spPr>
            <a:xfrm>
              <a:off x="428625" y="476250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0"/>
                  </a:moveTo>
                  <a:lnTo>
                    <a:pt x="0" y="285750"/>
                  </a:lnTo>
                  <a:lnTo>
                    <a:pt x="190500" y="238125"/>
                  </a:lnTo>
                  <a:lnTo>
                    <a:pt x="381000" y="285750"/>
                  </a:lnTo>
                  <a:lnTo>
                    <a:pt x="381000" y="0"/>
                  </a:lnTo>
                  <a:lnTo>
                    <a:pt x="190500" y="47625"/>
                  </a:lnTo>
                  <a:close/>
                </a:path>
              </a:pathLst>
            </a:custGeom>
            <a:noFill/>
            <a:ln w="23812">
              <a:solidFill>
                <a:srgbClr val="0A3D8F"/>
              </a:solidFill>
              <a:round/>
            </a:ln>
          </p:spPr>
        </p:sp>
        <p:sp>
          <p:nvSpPr>
            <p:cNvPr id="4" name="Freeform 4"/>
            <p:cNvSpPr/>
            <p:nvPr/>
          </p:nvSpPr>
          <p:spPr>
            <a:xfrm>
              <a:off x="619125" y="52387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0A3D8F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428625" y="476250"/>
              <a:ext cx="381000" cy="66675"/>
            </a:xfrm>
            <a:custGeom>
              <a:avLst/>
              <a:gdLst/>
              <a:ahLst/>
              <a:cxnLst/>
              <a:rect l="l" t="t" r="r" b="b"/>
              <a:pathLst>
                <a:path w="381000" h="66675">
                  <a:moveTo>
                    <a:pt x="0" y="0"/>
                  </a:moveTo>
                  <a:cubicBezTo>
                    <a:pt x="63500" y="50800"/>
                    <a:pt x="127000" y="66675"/>
                    <a:pt x="190500" y="47625"/>
                  </a:cubicBezTo>
                  <a:cubicBezTo>
                    <a:pt x="254000" y="66675"/>
                    <a:pt x="317500" y="50800"/>
                    <a:pt x="381000" y="0"/>
                  </a:cubicBezTo>
                </a:path>
              </a:pathLst>
            </a:custGeom>
            <a:noFill/>
            <a:ln w="19050">
              <a:solidFill>
                <a:srgbClr val="0A3D8F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428625" y="695325"/>
              <a:ext cx="381000" cy="66675"/>
            </a:xfrm>
            <a:custGeom>
              <a:avLst/>
              <a:gdLst/>
              <a:ahLst/>
              <a:cxnLst/>
              <a:rect l="l" t="t" r="r" b="b"/>
              <a:pathLst>
                <a:path w="381000" h="66675">
                  <a:moveTo>
                    <a:pt x="0" y="66675"/>
                  </a:moveTo>
                  <a:cubicBezTo>
                    <a:pt x="63500" y="15875"/>
                    <a:pt x="127000" y="0"/>
                    <a:pt x="190500" y="19050"/>
                  </a:cubicBezTo>
                  <a:cubicBezTo>
                    <a:pt x="254000" y="0"/>
                    <a:pt x="317500" y="15875"/>
                    <a:pt x="381000" y="66675"/>
                  </a:cubicBezTo>
                </a:path>
              </a:pathLst>
            </a:custGeom>
            <a:noFill/>
            <a:ln w="19050">
              <a:solidFill>
                <a:srgbClr val="0A3D8F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910590" y="262890"/>
            <a:ext cx="1265949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Background: Sequence Transduction is Fundamental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" y="762000"/>
            <a:ext cx="11430000" cy="428625"/>
          </a:xfrm>
          <a:prstGeom prst="rect">
            <a:avLst/>
          </a:pr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6779" y="907256"/>
            <a:ext cx="119584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Sequence tasks like translation are NLP's core; RNN encoder-decoder architectures dominated for a decade before attention improved them.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381000" y="1047750"/>
            <a:ext cx="3638550" cy="2314575"/>
            <a:chOff x="381000" y="1047750"/>
            <a:chExt cx="3638550" cy="2314575"/>
          </a:xfrm>
        </p:grpSpPr>
        <p:sp>
          <p:nvSpPr>
            <p:cNvPr id="11" name="Polygon 11"/>
            <p:cNvSpPr/>
            <p:nvPr/>
          </p:nvSpPr>
          <p:spPr>
            <a:xfrm>
              <a:off x="457200" y="1123950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Polygon 12"/>
            <p:cNvSpPr/>
            <p:nvPr/>
          </p:nvSpPr>
          <p:spPr>
            <a:xfrm>
              <a:off x="381000" y="1047750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81000" y="1047750"/>
              <a:ext cx="3562350" cy="5715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90149" y="1221105"/>
              <a:ext cx="174405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Core Tasks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9605" y="1759268"/>
              <a:ext cx="17792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Tasks like machine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9605" y="2006918"/>
              <a:ext cx="17299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translation, text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9605" y="2254568"/>
              <a:ext cx="19172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summarization, and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9605" y="2502218"/>
              <a:ext cx="18383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speech recognition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9605" y="2749868"/>
              <a:ext cx="16214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are core to NLP.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24350" y="1047750"/>
            <a:ext cx="3638550" cy="2314575"/>
            <a:chOff x="4324350" y="1047750"/>
            <a:chExt cx="3638550" cy="2314575"/>
          </a:xfrm>
        </p:grpSpPr>
        <p:sp>
          <p:nvSpPr>
            <p:cNvPr id="21" name="Polygon 21"/>
            <p:cNvSpPr/>
            <p:nvPr/>
          </p:nvSpPr>
          <p:spPr>
            <a:xfrm>
              <a:off x="4400550" y="1123950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" name="Polygon 22"/>
            <p:cNvSpPr/>
            <p:nvPr/>
          </p:nvSpPr>
          <p:spPr>
            <a:xfrm>
              <a:off x="4324350" y="1047750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1E5AA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24350" y="1047750"/>
              <a:ext cx="3562350" cy="571500"/>
            </a:xfrm>
            <a:prstGeom prst="rect">
              <a:avLst/>
            </a:prstGeom>
            <a:solidFill>
              <a:srgbClr val="1E5A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99183" y="1221105"/>
              <a:ext cx="121268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RNN Era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92955" y="1759268"/>
              <a:ext cx="22031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The dominant approach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92955" y="2006918"/>
              <a:ext cx="18383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for over a decade: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92955" y="2254568"/>
              <a:ext cx="16707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Recurrent Neural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92955" y="2502218"/>
              <a:ext cx="16510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Networks (RNNs,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92955" y="2749868"/>
              <a:ext cx="14341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LSTMs, GRUs).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267700" y="1047750"/>
            <a:ext cx="3638550" cy="2314575"/>
            <a:chOff x="8267700" y="1047750"/>
            <a:chExt cx="3638550" cy="2314575"/>
          </a:xfrm>
        </p:grpSpPr>
        <p:sp>
          <p:nvSpPr>
            <p:cNvPr id="31" name="Polygon 31"/>
            <p:cNvSpPr/>
            <p:nvPr/>
          </p:nvSpPr>
          <p:spPr>
            <a:xfrm>
              <a:off x="8343900" y="1123950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2" name="Polygon 32"/>
            <p:cNvSpPr/>
            <p:nvPr/>
          </p:nvSpPr>
          <p:spPr>
            <a:xfrm>
              <a:off x="8267700" y="1047750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267700" y="1047750"/>
              <a:ext cx="3562350" cy="5715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74299" y="1221105"/>
              <a:ext cx="254915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Step Processing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36305" y="1759268"/>
              <a:ext cx="23214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RNNs process sequences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36305" y="2006918"/>
              <a:ext cx="25876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step-by-step, maintaining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36305" y="2254568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 hidden state that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36305" y="2502218"/>
              <a:ext cx="16707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encodes history.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81000" y="3667125"/>
            <a:ext cx="3638550" cy="2314575"/>
            <a:chOff x="381000" y="3667125"/>
            <a:chExt cx="3638550" cy="2314575"/>
          </a:xfrm>
        </p:grpSpPr>
        <p:sp>
          <p:nvSpPr>
            <p:cNvPr id="40" name="Polygon 40"/>
            <p:cNvSpPr/>
            <p:nvPr/>
          </p:nvSpPr>
          <p:spPr>
            <a:xfrm>
              <a:off x="457200" y="3743325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1" name="Polygon 41"/>
            <p:cNvSpPr/>
            <p:nvPr/>
          </p:nvSpPr>
          <p:spPr>
            <a:xfrm>
              <a:off x="381000" y="3667125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81000" y="3667125"/>
              <a:ext cx="3562350" cy="5715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07089" y="3840480"/>
              <a:ext cx="271017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Encoder-Decoder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9605" y="4378642"/>
              <a:ext cx="20453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The encoder-decoder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9605" y="4626292"/>
              <a:ext cx="28735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framework became standard: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9605" y="4873942"/>
              <a:ext cx="20552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an encoder reads the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9605" y="5121592"/>
              <a:ext cx="16214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input, a decoder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9605" y="5369242"/>
              <a:ext cx="22129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generates the output.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305300" y="3648075"/>
            <a:ext cx="3657600" cy="2333625"/>
            <a:chOff x="4305300" y="3648075"/>
            <a:chExt cx="3657600" cy="2333625"/>
          </a:xfrm>
        </p:grpSpPr>
        <p:sp>
          <p:nvSpPr>
            <p:cNvPr id="50" name="Polygon 50"/>
            <p:cNvSpPr/>
            <p:nvPr/>
          </p:nvSpPr>
          <p:spPr>
            <a:xfrm>
              <a:off x="4400550" y="3743325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1" name="Polygon 51"/>
            <p:cNvSpPr/>
            <p:nvPr/>
          </p:nvSpPr>
          <p:spPr>
            <a:xfrm>
              <a:off x="4305300" y="3648075"/>
              <a:ext cx="3600450" cy="2276475"/>
            </a:xfrm>
            <a:custGeom>
              <a:avLst/>
              <a:gdLst/>
              <a:ahLst/>
              <a:cxnLst/>
              <a:rect l="l" t="t" r="r" b="b"/>
              <a:pathLst>
                <a:path w="3600450" h="2276475">
                  <a:moveTo>
                    <a:pt x="0" y="0"/>
                  </a:moveTo>
                  <a:lnTo>
                    <a:pt x="3600450" y="0"/>
                  </a:lnTo>
                  <a:lnTo>
                    <a:pt x="3600450" y="2276475"/>
                  </a:lnTo>
                  <a:lnTo>
                    <a:pt x="0" y="2276475"/>
                  </a:ln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4324350" y="3667125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4324350" y="3667125"/>
              <a:ext cx="3562350" cy="5715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322060" y="3840480"/>
              <a:ext cx="156692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Attention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592955" y="4378642"/>
              <a:ext cx="26664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Attention mechanisms were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92955" y="4626292"/>
              <a:ext cx="24397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later added, allowing the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92955" y="4873942"/>
              <a:ext cx="19468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decoder to focus on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592955" y="5121592"/>
              <a:ext cx="21144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relevant parts of the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592955" y="5369242"/>
              <a:ext cx="15623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input sequence.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1049000" y="381000"/>
            <a:ext cx="476250" cy="476250"/>
            <a:chOff x="11049000" y="381000"/>
            <a:chExt cx="476250" cy="476250"/>
          </a:xfrm>
        </p:grpSpPr>
        <p:sp>
          <p:nvSpPr>
            <p:cNvPr id="61" name="Ellipse 61"/>
            <p:cNvSpPr/>
            <p:nvPr/>
          </p:nvSpPr>
          <p:spPr>
            <a:xfrm>
              <a:off x="11049000" y="381000"/>
              <a:ext cx="476250" cy="476250"/>
            </a:xfrm>
            <a:prstGeom prst="ellipse">
              <a:avLst/>
            </a:prstGeom>
            <a:noFill/>
            <a:ln w="19050">
              <a:solidFill>
                <a:srgbClr val="0A3D8F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11096625" y="428625"/>
              <a:ext cx="381000" cy="381000"/>
            </a:xfrm>
            <a:prstGeom prst="ellipse">
              <a:avLst/>
            </a:prstGeom>
            <a:noFill/>
            <a:ln w="9525">
              <a:solidFill>
                <a:srgbClr val="0A3D8F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161831" y="569595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A3D8F"/>
                  </a:solidFill>
                  <a:latin typeface="Noto Sans CJK SC"/>
                  <a:ea typeface="Microsoft YaHei"/>
                  <a:cs typeface="Noto Sans CJK SC"/>
                </a:rPr>
                <a:t>DUT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365760" y="6156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海纳百川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410188" y="61569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2024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713321" y="65541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619125" y="285750"/>
            <a:ext cx="381000" cy="285750"/>
            <a:chOff x="619125" y="285750"/>
            <a:chExt cx="381000" cy="285750"/>
          </a:xfrm>
        </p:grpSpPr>
        <p:sp>
          <p:nvSpPr>
            <p:cNvPr id="3" name="Freeform 3"/>
            <p:cNvSpPr/>
            <p:nvPr/>
          </p:nvSpPr>
          <p:spPr>
            <a:xfrm>
              <a:off x="619125" y="285750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0"/>
                  </a:move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lnTo>
                    <a:pt x="190500" y="76200"/>
                  </a:lnTo>
                  <a:close/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619125" y="285750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0" y="0"/>
                  </a:moveTo>
                  <a:lnTo>
                    <a:pt x="190500" y="76200"/>
                  </a:lnTo>
                  <a:lnTo>
                    <a:pt x="381000" y="0"/>
                  </a:lnTo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809625" y="3619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0A3D8F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66750" y="33337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66750" y="40005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57250" y="33337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57250" y="40005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101090" y="262890"/>
            <a:ext cx="1293782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The Problem: The Sequential Computation Bottleneck</a:t>
            </a:r>
          </a:p>
        </p:txBody>
      </p:sp>
      <p:sp>
        <p:nvSpPr>
          <p:cNvPr id="12" name="Freeform 12"/>
          <p:cNvSpPr/>
          <p:nvPr/>
        </p:nvSpPr>
        <p:spPr>
          <a:xfrm>
            <a:off x="381000" y="762000"/>
            <a:ext cx="11430000" cy="428625"/>
          </a:xfrm>
          <a:custGeom>
            <a:avLst/>
            <a:gdLst/>
            <a:ahLst/>
            <a:cxnLst/>
            <a:rect l="l" t="t" r="r" b="b"/>
            <a:pathLst>
              <a:path w="11430000" h="428625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390525"/>
                </a:lnTo>
                <a:cubicBezTo>
                  <a:pt x="11430000" y="411567"/>
                  <a:pt x="11412942" y="428625"/>
                  <a:pt x="1139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56260" y="870585"/>
            <a:ext cx="59805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Sequential processing limits model scalability and training efficiency.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71500" y="1428750"/>
            <a:ext cx="5981843" cy="5586412"/>
            <a:chOff x="571500" y="1428750"/>
            <a:chExt cx="5981843" cy="5586412"/>
          </a:xfrm>
        </p:grpSpPr>
        <p:sp>
          <p:nvSpPr>
            <p:cNvPr id="14" name="Polygon 14"/>
            <p:cNvSpPr/>
            <p:nvPr/>
          </p:nvSpPr>
          <p:spPr>
            <a:xfrm>
              <a:off x="571500" y="1504950"/>
              <a:ext cx="4953000" cy="4000500"/>
            </a:xfrm>
            <a:custGeom>
              <a:avLst/>
              <a:gdLst/>
              <a:ahLst/>
              <a:cxnLst/>
              <a:rect l="l" t="t" r="r" b="b"/>
              <a:pathLst>
                <a:path w="4953000" h="4000500">
                  <a:moveTo>
                    <a:pt x="0" y="0"/>
                  </a:moveTo>
                  <a:lnTo>
                    <a:pt x="4953000" y="0"/>
                  </a:lnTo>
                  <a:lnTo>
                    <a:pt x="45720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A3D8F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571500" y="1428750"/>
              <a:ext cx="4953000" cy="4000500"/>
            </a:xfrm>
            <a:custGeom>
              <a:avLst/>
              <a:gdLst/>
              <a:ahLst/>
              <a:cxnLst/>
              <a:rect l="l" t="t" r="r" b="b"/>
              <a:pathLst>
                <a:path w="4953000" h="4000500">
                  <a:moveTo>
                    <a:pt x="0" y="0"/>
                  </a:moveTo>
                  <a:lnTo>
                    <a:pt x="4953000" y="0"/>
                  </a:lnTo>
                  <a:lnTo>
                    <a:pt x="45720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38560" y="1550670"/>
              <a:ext cx="261888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Key Challenges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6295" y="2155508"/>
              <a:ext cx="53435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1. RNNs are inherently sequential: to process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6295" y="2488882"/>
              <a:ext cx="43795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position 'n', you must first process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6295" y="2822258"/>
              <a:ext cx="28011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positions 1 through n-1.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6295" y="3298508"/>
              <a:ext cx="54640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2. This results in O(n) sequential operations,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6295" y="3631882"/>
              <a:ext cx="56929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severely limiting parallelization during training.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6295" y="4155758"/>
              <a:ext cx="49218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3. Long training times for long sequences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6295" y="4489132"/>
              <a:ext cx="44277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become a major practical constraint.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6295" y="5013008"/>
              <a:ext cx="5717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4. Convolutional approaches (ByteNet, ConvS2S)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6295" y="5346382"/>
              <a:ext cx="49218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enable parallel computation but introduce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6295" y="5679758"/>
              <a:ext cx="20420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another issue...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6295" y="6013132"/>
              <a:ext cx="55724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5. The number of operations needed to connect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6295" y="6346508"/>
              <a:ext cx="45000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distant positions grows with distance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6295" y="6679882"/>
              <a:ext cx="24878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(e.g., O(logₖ(n))).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631294" y="1428750"/>
            <a:ext cx="6391256" cy="4467225"/>
            <a:chOff x="5631294" y="1428750"/>
            <a:chExt cx="6391256" cy="4467225"/>
          </a:xfrm>
        </p:grpSpPr>
        <p:sp>
          <p:nvSpPr>
            <p:cNvPr id="31" name="Polygon 31"/>
            <p:cNvSpPr/>
            <p:nvPr/>
          </p:nvSpPr>
          <p:spPr>
            <a:xfrm>
              <a:off x="5715000" y="1504950"/>
              <a:ext cx="5715000" cy="4019550"/>
            </a:xfrm>
            <a:custGeom>
              <a:avLst/>
              <a:gdLst/>
              <a:ahLst/>
              <a:cxnLst/>
              <a:rect l="l" t="t" r="r" b="b"/>
              <a:pathLst>
                <a:path w="5715000" h="4019550">
                  <a:moveTo>
                    <a:pt x="0" y="0"/>
                  </a:moveTo>
                  <a:lnTo>
                    <a:pt x="5715000" y="0"/>
                  </a:lnTo>
                  <a:lnTo>
                    <a:pt x="5524500" y="4019550"/>
                  </a:lnTo>
                  <a:lnTo>
                    <a:pt x="0" y="401955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A3D8F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5715000" y="1428750"/>
              <a:ext cx="5715000" cy="4019550"/>
            </a:xfrm>
            <a:custGeom>
              <a:avLst/>
              <a:gdLst/>
              <a:ahLst/>
              <a:cxnLst/>
              <a:rect l="l" t="t" r="r" b="b"/>
              <a:pathLst>
                <a:path w="5715000" h="4019550">
                  <a:moveTo>
                    <a:pt x="0" y="0"/>
                  </a:moveTo>
                  <a:lnTo>
                    <a:pt x="5715000" y="0"/>
                  </a:lnTo>
                  <a:lnTo>
                    <a:pt x="5524500" y="4019550"/>
                  </a:lnTo>
                  <a:lnTo>
                    <a:pt x="0" y="4019550"/>
                  </a:lnTo>
                  <a:close/>
                </a:path>
              </a:pathLst>
            </a:custGeom>
            <a:solidFill>
              <a:srgbClr val="1E5A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31294" y="1632585"/>
              <a:ext cx="58824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Table 1: Maximum path lengths, per-layer complexity and minimum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79725" y="1823085"/>
              <a:ext cx="5385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number of sequential operations for different layer types.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905500" y="2143125"/>
              <a:ext cx="5334000" cy="381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82665" y="2267902"/>
              <a:ext cx="8720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Layer Type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01915" y="2267902"/>
              <a:ext cx="1669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Complexity per Layer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30665" y="2267902"/>
              <a:ext cx="17576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Sequential Operations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64165" y="2267902"/>
              <a:ext cx="130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Max Path Length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905500" y="2524125"/>
              <a:ext cx="5334000" cy="809625"/>
            </a:xfrm>
            <a:prstGeom prst="rect">
              <a:avLst/>
            </a:prstGeom>
            <a:solidFill>
              <a:srgbClr val="1E5A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82665" y="2696528"/>
              <a:ext cx="11308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Self-Attention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01915" y="2696528"/>
              <a:ext cx="7397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O(n² · d)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30665" y="2696528"/>
              <a:ext cx="3563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O(1)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64165" y="2696528"/>
              <a:ext cx="3563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O(1)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905500" y="3333750"/>
              <a:ext cx="5334000" cy="809625"/>
            </a:xfrm>
            <a:prstGeom prst="rect">
              <a:avLst/>
            </a:prstGeom>
            <a:solidFill>
              <a:srgbClr val="1E5A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82665" y="3506152"/>
              <a:ext cx="7857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Recurrent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01915" y="3506152"/>
              <a:ext cx="7397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O(n · d²)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130665" y="3506152"/>
              <a:ext cx="3947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O(n)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464165" y="3506152"/>
              <a:ext cx="3947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O(n)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905500" y="4143375"/>
              <a:ext cx="5334000" cy="809625"/>
            </a:xfrm>
            <a:prstGeom prst="rect">
              <a:avLst/>
            </a:prstGeom>
            <a:solidFill>
              <a:srgbClr val="1E5A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82665" y="4315778"/>
              <a:ext cx="10081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Convolutional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01915" y="4315778"/>
              <a:ext cx="916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O(k · n · d)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130665" y="4315778"/>
              <a:ext cx="3563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O(1)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464165" y="4315778"/>
              <a:ext cx="8624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O(logₖ(n))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905500" y="4953000"/>
              <a:ext cx="5334000" cy="809625"/>
            </a:xfrm>
            <a:prstGeom prst="rect">
              <a:avLst/>
            </a:prstGeom>
            <a:solidFill>
              <a:srgbClr val="1E5A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82665" y="5125402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Self-Attention (restricted)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01915" y="5125402"/>
              <a:ext cx="916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O(r · n · d)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30665" y="5125402"/>
              <a:ext cx="3563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O(1)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464165" y="5125402"/>
              <a:ext cx="5634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O(n/r)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894070" y="5713095"/>
              <a:ext cx="61284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 val="80000"/>
                    </a:srgbClr>
                  </a:solidFill>
                  <a:latin typeface="Noto Sans CJK SC"/>
                  <a:ea typeface="Microsoft YaHei"/>
                  <a:cs typeface="Noto Sans CJK SC"/>
                </a:rPr>
                <a:t>Note: n = sequence length, d = representation dimension, k = kernel size, r = neighborhood size</a:t>
              </a:r>
            </a:p>
          </p:txBody>
        </p:sp>
      </p:grpSp>
      <p:sp>
        <p:nvSpPr>
          <p:cNvPr id="62" name="Line 62"/>
          <p:cNvSpPr/>
          <p:nvPr/>
        </p:nvSpPr>
        <p:spPr>
          <a:xfrm>
            <a:off x="571500" y="5905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0A3D8F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558165" y="5982652"/>
            <a:ext cx="43358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Source: Vaswani et al., "Attention Is All You Need" (2017)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54355" y="6188392"/>
            <a:ext cx="18383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i="1" dirty="0">
                <a:solidFill>
                  <a:srgbClr val="1A1A1A"/>
                </a:solidFill>
                <a:latin typeface="Times New Roman"/>
                <a:ea typeface="KaiTi"/>
                <a:cs typeface="Times New Roman"/>
              </a:rPr>
              <a:t>海纳百川 · 自强不息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269789" y="622077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2024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131772" y="6506528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952500"/>
            <a:ext cx="12192000" cy="285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619125" y="457200"/>
            <a:ext cx="381000" cy="323850"/>
            <a:chOff x="619125" y="457200"/>
            <a:chExt cx="381000" cy="323850"/>
          </a:xfrm>
        </p:grpSpPr>
        <p:sp>
          <p:nvSpPr>
            <p:cNvPr id="3" name="Freeform 3"/>
            <p:cNvSpPr/>
            <p:nvPr/>
          </p:nvSpPr>
          <p:spPr>
            <a:xfrm>
              <a:off x="619125" y="457200"/>
              <a:ext cx="381000" cy="323850"/>
            </a:xfrm>
            <a:custGeom>
              <a:avLst/>
              <a:gdLst/>
              <a:ahLst/>
              <a:cxnLst/>
              <a:rect l="l" t="t" r="r" b="b"/>
              <a:pathLst>
                <a:path w="381000" h="323850">
                  <a:moveTo>
                    <a:pt x="0" y="0"/>
                  </a:moveTo>
                  <a:lnTo>
                    <a:pt x="0" y="323850"/>
                  </a:lnTo>
                  <a:lnTo>
                    <a:pt x="190500" y="285750"/>
                  </a:lnTo>
                  <a:lnTo>
                    <a:pt x="381000" y="323850"/>
                  </a:lnTo>
                  <a:lnTo>
                    <a:pt x="381000" y="0"/>
                  </a:lnTo>
                  <a:lnTo>
                    <a:pt x="190500" y="38100"/>
                  </a:lnTo>
                  <a:close/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809625" y="4953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0A3D8F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619125" y="457200"/>
              <a:ext cx="381000" cy="38100"/>
            </a:xfrm>
            <a:custGeom>
              <a:avLst/>
              <a:gdLst/>
              <a:ahLst/>
              <a:cxnLst/>
              <a:rect l="l" t="t" r="r" b="b"/>
              <a:pathLst>
                <a:path w="381000" h="38100">
                  <a:moveTo>
                    <a:pt x="0" y="0"/>
                  </a:moveTo>
                  <a:lnTo>
                    <a:pt x="190500" y="38100"/>
                  </a:ln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A3D8F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666750" y="523875"/>
              <a:ext cx="114300" cy="28575"/>
            </a:xfrm>
            <a:custGeom>
              <a:avLst/>
              <a:gdLst/>
              <a:ahLst/>
              <a:cxnLst/>
              <a:rect l="l" t="t" r="r" b="b"/>
              <a:pathLst>
                <a:path w="114300" h="28575">
                  <a:moveTo>
                    <a:pt x="0" y="28575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0A3D8F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666750" y="581025"/>
              <a:ext cx="114300" cy="28575"/>
            </a:xfrm>
            <a:custGeom>
              <a:avLst/>
              <a:gdLst/>
              <a:ahLst/>
              <a:cxnLst/>
              <a:rect l="l" t="t" r="r" b="b"/>
              <a:pathLst>
                <a:path w="114300" h="28575">
                  <a:moveTo>
                    <a:pt x="0" y="28575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0A3D8F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66750" y="638175"/>
              <a:ext cx="114300" cy="28575"/>
            </a:xfrm>
            <a:custGeom>
              <a:avLst/>
              <a:gdLst/>
              <a:ahLst/>
              <a:cxnLst/>
              <a:rect l="l" t="t" r="r" b="b"/>
              <a:pathLst>
                <a:path w="114300" h="28575">
                  <a:moveTo>
                    <a:pt x="0" y="28575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0A3D8F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38200" y="514350"/>
              <a:ext cx="114300" cy="28575"/>
            </a:xfrm>
            <a:custGeom>
              <a:avLst/>
              <a:gdLst/>
              <a:ahLst/>
              <a:cxnLst/>
              <a:rect l="l" t="t" r="r" b="b"/>
              <a:pathLst>
                <a:path w="114300" h="28575">
                  <a:moveTo>
                    <a:pt x="0" y="28575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0A3D8F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38200" y="571500"/>
              <a:ext cx="114300" cy="28575"/>
            </a:xfrm>
            <a:custGeom>
              <a:avLst/>
              <a:gdLst/>
              <a:ahLst/>
              <a:cxnLst/>
              <a:rect l="l" t="t" r="r" b="b"/>
              <a:pathLst>
                <a:path w="114300" h="28575">
                  <a:moveTo>
                    <a:pt x="0" y="28575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0A3D8F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838200" y="628650"/>
              <a:ext cx="114300" cy="28575"/>
            </a:xfrm>
            <a:custGeom>
              <a:avLst/>
              <a:gdLst/>
              <a:ahLst/>
              <a:cxnLst/>
              <a:rect l="l" t="t" r="r" b="b"/>
              <a:pathLst>
                <a:path w="114300" h="28575">
                  <a:moveTo>
                    <a:pt x="0" y="28575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0A3D8F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101090" y="310515"/>
            <a:ext cx="7725375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Our Solution: The Transformer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81000" y="809625"/>
            <a:ext cx="11430000" cy="428625"/>
          </a:xfrm>
          <a:prstGeom prst="rect">
            <a:avLst/>
          </a:pr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026831" y="964406"/>
            <a:ext cx="101383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▸ Replaces recurrence &amp; convolution with a purely attention-based, highly parallelizable encoder-decoder architecture.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1333500"/>
            <a:ext cx="4800600" cy="6934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3D8F"/>
            </a:solidFill>
          </a:ln>
          <a:effectLst>
            <a:outerShdw blurRad="76200" dist="53882" dir="8100000" algn="tl" rotWithShape="0">
              <a:srgbClr val="000000">
                <a:alpha val="10000"/>
              </a:srgbClr>
            </a:outerShdw>
          </a:effectLst>
        </p:spPr>
      </p:sp>
      <p:pic>
        <p:nvPicPr>
          <p:cNvPr id="17" name="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50658"/>
            <a:ext cx="4572000" cy="6699885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482447" y="8411528"/>
            <a:ext cx="29787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i="1" dirty="0">
                <a:solidFill>
                  <a:srgbClr val="4A5568"/>
                </a:solidFill>
                <a:latin typeface="Noto Sans CJK SC"/>
                <a:ea typeface="Microsoft YaHei"/>
                <a:cs typeface="Noto Sans CJK SC"/>
              </a:rPr>
              <a:t>The Transformer - model architecture.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0" y="1333500"/>
            <a:ext cx="5334000" cy="1333500"/>
          </a:xfrm>
          <a:prstGeom prst="rect">
            <a:avLst/>
          </a:prstGeom>
          <a:solidFill>
            <a:srgbClr val="0A3D8F"/>
          </a:solidFill>
          <a:ln w="19050">
            <a:solidFill>
              <a:srgbClr val="0A3D8F"/>
            </a:solidFill>
          </a:ln>
          <a:effectLst>
            <a:outerShdw blurRad="76200" dist="53882" dir="8100000" algn="tl" rotWithShape="0">
              <a:srgbClr val="000000">
                <a:alpha val="10000"/>
              </a:srgbClr>
            </a:outerShdw>
          </a:effectLst>
        </p:spPr>
      </p:sp>
      <p:sp>
        <p:nvSpPr>
          <p:cNvPr id="20" name="TextBox 20"/>
          <p:cNvSpPr txBox="1"/>
          <p:nvPr/>
        </p:nvSpPr>
        <p:spPr>
          <a:xfrm>
            <a:off x="7744963" y="1472565"/>
            <a:ext cx="12740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Core Idea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81700" y="1885950"/>
            <a:ext cx="51096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Rely solely on attention mechanisms to compute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81700" y="2124075"/>
            <a:ext cx="39157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representations. No recurrence, no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81700" y="2362200"/>
            <a:ext cx="137445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convolution.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0" y="2857500"/>
            <a:ext cx="5334000" cy="2476500"/>
          </a:xfrm>
          <a:prstGeom prst="rect">
            <a:avLst/>
          </a:prstGeom>
          <a:solidFill>
            <a:srgbClr val="0A3D8F"/>
          </a:solidFill>
          <a:ln w="19050">
            <a:solidFill>
              <a:srgbClr val="0A3D8F"/>
            </a:solidFill>
          </a:ln>
          <a:effectLst>
            <a:outerShdw blurRad="76200" dist="53882" dir="8100000" algn="tl" rotWithShape="0">
              <a:srgbClr val="000000">
                <a:alpha val="10000"/>
              </a:srgbClr>
            </a:outerShdw>
          </a:effectLst>
        </p:spPr>
      </p:sp>
      <p:sp>
        <p:nvSpPr>
          <p:cNvPr id="25" name="TextBox 25"/>
          <p:cNvSpPr txBox="1"/>
          <p:nvPr/>
        </p:nvSpPr>
        <p:spPr>
          <a:xfrm>
            <a:off x="7482730" y="2996565"/>
            <a:ext cx="1798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Architecture</a:t>
            </a:r>
          </a:p>
        </p:txBody>
      </p:sp>
      <p:sp>
        <p:nvSpPr>
          <p:cNvPr id="26" name="Ellipse 26"/>
          <p:cNvSpPr/>
          <p:nvPr/>
        </p:nvSpPr>
        <p:spPr>
          <a:xfrm>
            <a:off x="5886450" y="3457575"/>
            <a:ext cx="228600" cy="228600"/>
          </a:xfrm>
          <a:prstGeom prst="ellipse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957907" y="3489960"/>
            <a:ext cx="85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69355" y="3473768"/>
            <a:ext cx="37311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Maintains the proven encoder-decoder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69355" y="3711892"/>
            <a:ext cx="42536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structure, but both are stacks of identical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269355" y="3950018"/>
            <a:ext cx="7440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layers.</a:t>
            </a:r>
          </a:p>
        </p:txBody>
      </p:sp>
      <p:sp>
        <p:nvSpPr>
          <p:cNvPr id="31" name="Ellipse 31"/>
          <p:cNvSpPr/>
          <p:nvPr/>
        </p:nvSpPr>
        <p:spPr>
          <a:xfrm>
            <a:off x="5886450" y="4267200"/>
            <a:ext cx="228600" cy="228600"/>
          </a:xfrm>
          <a:prstGeom prst="ellipse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934904" y="4299585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269355" y="4283392"/>
            <a:ext cx="41156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Each layer has two sub-layers: Multi-Head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69355" y="4521518"/>
            <a:ext cx="33664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Self-Attention and a Position-wise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269355" y="4759642"/>
            <a:ext cx="23411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Feed-Forward Network.</a:t>
            </a:r>
          </a:p>
        </p:txBody>
      </p:sp>
      <p:sp>
        <p:nvSpPr>
          <p:cNvPr id="36" name="Ellipse 36"/>
          <p:cNvSpPr/>
          <p:nvPr/>
        </p:nvSpPr>
        <p:spPr>
          <a:xfrm>
            <a:off x="5886450" y="5029200"/>
            <a:ext cx="228600" cy="228600"/>
          </a:xfrm>
          <a:prstGeom prst="ellipse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934904" y="5061585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69355" y="5045392"/>
            <a:ext cx="43029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Residual connections and layer normalization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69355" y="5283518"/>
            <a:ext cx="31495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are used around each sub-layer.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0" y="5524500"/>
            <a:ext cx="5334000" cy="1143000"/>
          </a:xfrm>
          <a:prstGeom prst="rect">
            <a:avLst/>
          </a:prstGeom>
          <a:solidFill>
            <a:srgbClr val="0A3D8F"/>
          </a:solidFill>
          <a:ln w="19050">
            <a:solidFill>
              <a:srgbClr val="0A3D8F"/>
            </a:solidFill>
          </a:ln>
          <a:effectLst>
            <a:outerShdw blurRad="76200" dist="53882" dir="8100000" algn="tl" rotWithShape="0">
              <a:srgbClr val="000000">
                <a:alpha val="10000"/>
              </a:srgbClr>
            </a:outerShdw>
          </a:effectLst>
        </p:spPr>
      </p:sp>
      <p:sp>
        <p:nvSpPr>
          <p:cNvPr id="41" name="TextBox 41"/>
          <p:cNvSpPr txBox="1"/>
          <p:nvPr/>
        </p:nvSpPr>
        <p:spPr>
          <a:xfrm>
            <a:off x="7303308" y="5663565"/>
            <a:ext cx="215738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Sequence Order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981700" y="6076950"/>
            <a:ext cx="46605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To inject sequence order, we add Positional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981700" y="6315075"/>
            <a:ext cx="37952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Encodings to the input embeddings.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0858500" y="381000"/>
            <a:ext cx="476250" cy="476250"/>
            <a:chOff x="10858500" y="381000"/>
            <a:chExt cx="476250" cy="476250"/>
          </a:xfrm>
        </p:grpSpPr>
        <p:sp>
          <p:nvSpPr>
            <p:cNvPr id="44" name="Ellipse 44"/>
            <p:cNvSpPr/>
            <p:nvPr/>
          </p:nvSpPr>
          <p:spPr>
            <a:xfrm>
              <a:off x="10858500" y="381000"/>
              <a:ext cx="476250" cy="476250"/>
            </a:xfrm>
            <a:prstGeom prst="ellipse">
              <a:avLst/>
            </a:prstGeom>
            <a:noFill/>
            <a:ln w="19050">
              <a:solidFill>
                <a:srgbClr val="0A3D8F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0925175" y="447675"/>
              <a:ext cx="342900" cy="342900"/>
            </a:xfrm>
            <a:prstGeom prst="ellipse">
              <a:avLst/>
            </a:prstGeom>
            <a:noFill/>
            <a:ln w="14288">
              <a:solidFill>
                <a:srgbClr val="0A3D8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950448" y="55340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A3D8F"/>
                  </a:solidFill>
                  <a:latin typeface="Noto Sans CJK SC"/>
                  <a:ea typeface="Microsoft YaHei"/>
                  <a:cs typeface="Noto Sans CJK SC"/>
                </a:rPr>
                <a:t>DUT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56260" y="6347460"/>
            <a:ext cx="16341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海纳百川 · 自强不息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57688" y="63474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2024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713321" y="65541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571500" y="1238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619125" y="428625"/>
            <a:ext cx="381000" cy="333375"/>
            <a:chOff x="619125" y="428625"/>
            <a:chExt cx="381000" cy="333375"/>
          </a:xfrm>
        </p:grpSpPr>
        <p:sp>
          <p:nvSpPr>
            <p:cNvPr id="3" name="Freeform 3"/>
            <p:cNvSpPr/>
            <p:nvPr/>
          </p:nvSpPr>
          <p:spPr>
            <a:xfrm>
              <a:off x="619125" y="428625"/>
              <a:ext cx="381000" cy="333375"/>
            </a:xfrm>
            <a:custGeom>
              <a:avLst/>
              <a:gdLst/>
              <a:ahLst/>
              <a:cxnLst/>
              <a:rect l="l" t="t" r="r" b="b"/>
              <a:pathLst>
                <a:path w="381000" h="333375">
                  <a:moveTo>
                    <a:pt x="0" y="0"/>
                  </a:moveTo>
                  <a:lnTo>
                    <a:pt x="0" y="333375"/>
                  </a:lnTo>
                  <a:lnTo>
                    <a:pt x="381000" y="333375"/>
                  </a:lnTo>
                  <a:lnTo>
                    <a:pt x="381000" y="0"/>
                  </a:lnTo>
                  <a:lnTo>
                    <a:pt x="190500" y="95250"/>
                  </a:lnTo>
                  <a:close/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619125" y="428625"/>
              <a:ext cx="381000" cy="95250"/>
            </a:xfrm>
            <a:custGeom>
              <a:avLst/>
              <a:gdLst/>
              <a:ahLst/>
              <a:cxnLst/>
              <a:rect l="l" t="t" r="r" b="b"/>
              <a:pathLst>
                <a:path w="381000" h="95250">
                  <a:moveTo>
                    <a:pt x="0" y="0"/>
                  </a:moveTo>
                  <a:lnTo>
                    <a:pt x="190500" y="95250"/>
                  </a:lnTo>
                  <a:lnTo>
                    <a:pt x="381000" y="0"/>
                  </a:lnTo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809625" y="523875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9050">
              <a:solidFill>
                <a:srgbClr val="0A3D8F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66750" y="47625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52500" y="47625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108710" y="613410"/>
            <a:ext cx="926052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Technical Core: Scaled Dot-Product Attention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43000" y="1000125"/>
            <a:ext cx="9525000" cy="285750"/>
          </a:xfrm>
          <a:custGeom>
            <a:avLst/>
            <a:gdLst/>
            <a:ahLst/>
            <a:cxnLst/>
            <a:rect l="l" t="t" r="r" b="b"/>
            <a:pathLst>
              <a:path w="9525000" h="285750">
                <a:moveTo>
                  <a:pt x="38100" y="0"/>
                </a:moveTo>
                <a:lnTo>
                  <a:pt x="9486900" y="0"/>
                </a:lnTo>
                <a:cubicBezTo>
                  <a:pt x="9507942" y="0"/>
                  <a:pt x="9525000" y="17058"/>
                  <a:pt x="9525000" y="38100"/>
                </a:cubicBezTo>
                <a:lnTo>
                  <a:pt x="9525000" y="247650"/>
                </a:lnTo>
                <a:cubicBezTo>
                  <a:pt x="9525000" y="268692"/>
                  <a:pt x="9507942" y="285750"/>
                  <a:pt x="9486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320165" y="1077278"/>
            <a:ext cx="7924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▸ Attention computes weighted values based on query-key compatibility, scaled by √dₖ for stability.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1524000"/>
            <a:ext cx="4000500" cy="3810000"/>
            <a:chOff x="571500" y="1524000"/>
            <a:chExt cx="4000500" cy="3810000"/>
          </a:xfrm>
        </p:grpSpPr>
        <p:sp>
          <p:nvSpPr>
            <p:cNvPr id="12" name="Polygon 12"/>
            <p:cNvSpPr/>
            <p:nvPr/>
          </p:nvSpPr>
          <p:spPr>
            <a:xfrm>
              <a:off x="4191000" y="1524000"/>
              <a:ext cx="381000" cy="3810000"/>
            </a:xfrm>
            <a:custGeom>
              <a:avLst/>
              <a:gdLst/>
              <a:ahLst/>
              <a:cxnLst/>
              <a:rect l="l" t="t" r="r" b="b"/>
              <a:pathLst>
                <a:path w="381000" h="3810000">
                  <a:moveTo>
                    <a:pt x="0" y="0"/>
                  </a:moveTo>
                  <a:lnTo>
                    <a:pt x="381000" y="0"/>
                  </a:lnTo>
                  <a:lnTo>
                    <a:pt x="381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A3D8F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571500" y="1524000"/>
              <a:ext cx="3619500" cy="3810000"/>
            </a:xfrm>
            <a:custGeom>
              <a:avLst/>
              <a:gdLst/>
              <a:ahLst/>
              <a:cxnLst/>
              <a:rect l="l" t="t" r="r" b="b"/>
              <a:pathLst>
                <a:path w="3619500" h="3810000">
                  <a:moveTo>
                    <a:pt x="0" y="0"/>
                  </a:moveTo>
                  <a:lnTo>
                    <a:pt x="3619500" y="0"/>
                  </a:lnTo>
                  <a:lnTo>
                    <a:pt x="36195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14" name="Polygon 14"/>
            <p:cNvSpPr/>
            <p:nvPr/>
          </p:nvSpPr>
          <p:spPr>
            <a:xfrm>
              <a:off x="571500" y="1524000"/>
              <a:ext cx="4000500" cy="3810000"/>
            </a:xfrm>
            <a:custGeom>
              <a:avLst/>
              <a:gdLst/>
              <a:ahLst/>
              <a:cxnLst/>
              <a:rect l="l" t="t" r="r" b="b"/>
              <a:pathLst>
                <a:path w="4000500" h="3810000">
                  <a:moveTo>
                    <a:pt x="0" y="0"/>
                  </a:moveTo>
                  <a:lnTo>
                    <a:pt x="381000" y="0"/>
                  </a:lnTo>
                  <a:lnTo>
                    <a:pt x="4000500" y="3810000"/>
                  </a:lnTo>
                  <a:lnTo>
                    <a:pt x="361950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78827" y="1790700"/>
              <a:ext cx="20048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What is Attention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1143000" y="20955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2010" y="2346960"/>
              <a:ext cx="24227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Attention is a function that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2010" y="2613660"/>
              <a:ext cx="22124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maps a query and a set of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2010" y="2880360"/>
              <a:ext cx="25629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key-value pairs to an output.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286250" y="1524000"/>
            <a:ext cx="4000500" cy="3810000"/>
            <a:chOff x="4286250" y="1524000"/>
            <a:chExt cx="4000500" cy="3810000"/>
          </a:xfrm>
        </p:grpSpPr>
        <p:sp>
          <p:nvSpPr>
            <p:cNvPr id="21" name="Polygon 21"/>
            <p:cNvSpPr/>
            <p:nvPr/>
          </p:nvSpPr>
          <p:spPr>
            <a:xfrm>
              <a:off x="7905750" y="1524000"/>
              <a:ext cx="381000" cy="3810000"/>
            </a:xfrm>
            <a:custGeom>
              <a:avLst/>
              <a:gdLst/>
              <a:ahLst/>
              <a:cxnLst/>
              <a:rect l="l" t="t" r="r" b="b"/>
              <a:pathLst>
                <a:path w="381000" h="3810000">
                  <a:moveTo>
                    <a:pt x="0" y="0"/>
                  </a:moveTo>
                  <a:lnTo>
                    <a:pt x="381000" y="0"/>
                  </a:lnTo>
                  <a:lnTo>
                    <a:pt x="381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A3D8F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4286250" y="1524000"/>
              <a:ext cx="3619500" cy="3810000"/>
            </a:xfrm>
            <a:custGeom>
              <a:avLst/>
              <a:gdLst/>
              <a:ahLst/>
              <a:cxnLst/>
              <a:rect l="l" t="t" r="r" b="b"/>
              <a:pathLst>
                <a:path w="3619500" h="3810000">
                  <a:moveTo>
                    <a:pt x="0" y="0"/>
                  </a:moveTo>
                  <a:lnTo>
                    <a:pt x="3619500" y="0"/>
                  </a:lnTo>
                  <a:lnTo>
                    <a:pt x="36195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23" name="Polygon 23"/>
            <p:cNvSpPr/>
            <p:nvPr/>
          </p:nvSpPr>
          <p:spPr>
            <a:xfrm>
              <a:off x="4286250" y="1524000"/>
              <a:ext cx="4000500" cy="3810000"/>
            </a:xfrm>
            <a:custGeom>
              <a:avLst/>
              <a:gdLst/>
              <a:ahLst/>
              <a:cxnLst/>
              <a:rect l="l" t="t" r="r" b="b"/>
              <a:pathLst>
                <a:path w="4000500" h="3810000">
                  <a:moveTo>
                    <a:pt x="0" y="0"/>
                  </a:moveTo>
                  <a:lnTo>
                    <a:pt x="381000" y="0"/>
                  </a:lnTo>
                  <a:lnTo>
                    <a:pt x="4000500" y="3810000"/>
                  </a:lnTo>
                  <a:lnTo>
                    <a:pt x="361950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329357" y="1790700"/>
              <a:ext cx="15332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Weighted Sum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4857750" y="20955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56760" y="2346960"/>
              <a:ext cx="24928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The output is a weighted sum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56760" y="2613660"/>
              <a:ext cx="21598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of the values, where the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56760" y="2880360"/>
              <a:ext cx="25542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weight is the compatibility of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56760" y="3147060"/>
              <a:ext cx="21598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the query with each key.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001000" y="1524000"/>
            <a:ext cx="3048000" cy="3810000"/>
            <a:chOff x="8001000" y="1524000"/>
            <a:chExt cx="3048000" cy="3810000"/>
          </a:xfrm>
        </p:grpSpPr>
        <p:sp>
          <p:nvSpPr>
            <p:cNvPr id="31" name="Polygon 31"/>
            <p:cNvSpPr/>
            <p:nvPr/>
          </p:nvSpPr>
          <p:spPr>
            <a:xfrm>
              <a:off x="10668000" y="1524000"/>
              <a:ext cx="381000" cy="3810000"/>
            </a:xfrm>
            <a:custGeom>
              <a:avLst/>
              <a:gdLst/>
              <a:ahLst/>
              <a:cxnLst/>
              <a:rect l="l" t="t" r="r" b="b"/>
              <a:pathLst>
                <a:path w="381000" h="3810000">
                  <a:moveTo>
                    <a:pt x="0" y="0"/>
                  </a:moveTo>
                  <a:lnTo>
                    <a:pt x="381000" y="0"/>
                  </a:lnTo>
                  <a:lnTo>
                    <a:pt x="381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A3D8F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8001000" y="1524000"/>
              <a:ext cx="2667000" cy="3810000"/>
            </a:xfrm>
            <a:custGeom>
              <a:avLst/>
              <a:gdLst/>
              <a:ahLst/>
              <a:cxnLst/>
              <a:rect l="l" t="t" r="r" b="b"/>
              <a:pathLst>
                <a:path w="2667000" h="3810000">
                  <a:moveTo>
                    <a:pt x="0" y="0"/>
                  </a:moveTo>
                  <a:lnTo>
                    <a:pt x="2667000" y="0"/>
                  </a:lnTo>
                  <a:lnTo>
                    <a:pt x="2667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33" name="Polygon 33"/>
            <p:cNvSpPr/>
            <p:nvPr/>
          </p:nvSpPr>
          <p:spPr>
            <a:xfrm>
              <a:off x="8001000" y="1524000"/>
              <a:ext cx="3048000" cy="3810000"/>
            </a:xfrm>
            <a:custGeom>
              <a:avLst/>
              <a:gdLst/>
              <a:ahLst/>
              <a:cxnLst/>
              <a:rect l="l" t="t" r="r" b="b"/>
              <a:pathLst>
                <a:path w="3048000" h="3810000">
                  <a:moveTo>
                    <a:pt x="0" y="0"/>
                  </a:moveTo>
                  <a:lnTo>
                    <a:pt x="381000" y="0"/>
                  </a:lnTo>
                  <a:lnTo>
                    <a:pt x="3048000" y="3810000"/>
                  </a:lnTo>
                  <a:lnTo>
                    <a:pt x="266700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31114" y="1790700"/>
              <a:ext cx="14067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Matrix Form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382000" y="2095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23885" y="2346960"/>
              <a:ext cx="25279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We compute this for a matrix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23885" y="2613660"/>
              <a:ext cx="22124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of queries Q, keys K, and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3885" y="2880360"/>
              <a:ext cx="21160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values V simultaneously.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8239125" y="3429000"/>
              <a:ext cx="2381250" cy="762000"/>
            </a:xfrm>
            <a:custGeom>
              <a:avLst/>
              <a:gdLst/>
              <a:ahLst/>
              <a:cxnLst/>
              <a:rect l="l" t="t" r="r" b="b"/>
              <a:pathLst>
                <a:path w="2381250" h="7620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723900"/>
                  </a:lnTo>
                  <a:cubicBezTo>
                    <a:pt x="2381250" y="744942"/>
                    <a:pt x="2364192" y="762000"/>
                    <a:pt x="2343150" y="762000"/>
                  </a:cubicBezTo>
                  <a:lnTo>
                    <a:pt x="38100" y="762000"/>
                  </a:lnTo>
                  <a:cubicBezTo>
                    <a:pt x="17058" y="762000"/>
                    <a:pt x="0" y="744942"/>
                    <a:pt x="0" y="723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037362" y="3616642"/>
              <a:ext cx="27847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i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Attention(Q,K,V) = softmax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50678" y="3845242"/>
              <a:ext cx="11581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i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(QKT/√dk)V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58165" y="5411152"/>
            <a:ext cx="8752427" cy="632460"/>
            <a:chOff x="558165" y="5411152"/>
            <a:chExt cx="8752427" cy="632460"/>
          </a:xfrm>
        </p:grpSpPr>
        <p:sp>
          <p:nvSpPr>
            <p:cNvPr id="43" name="TextBox 43"/>
            <p:cNvSpPr txBox="1"/>
            <p:nvPr/>
          </p:nvSpPr>
          <p:spPr>
            <a:xfrm>
              <a:off x="558165" y="5411152"/>
              <a:ext cx="8752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Noto Sans CJK SC"/>
                  <a:ea typeface="Microsoft YaHei"/>
                  <a:cs typeface="Noto Sans CJK SC"/>
                </a:rPr>
                <a:t>The two most commonly used attention functions are additive attention and dot-product (multiplicative) attention.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8165" y="5620702"/>
              <a:ext cx="69352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Noto Sans CJK SC"/>
                  <a:ea typeface="Microsoft YaHei"/>
                  <a:cs typeface="Noto Sans CJK SC"/>
                </a:rPr>
                <a:t>Dot-product attention is identical to our algorithm, except for the scaling factor of 1/√dₖ.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58165" y="5830252"/>
              <a:ext cx="87294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Noto Sans CJK SC"/>
                  <a:ea typeface="Microsoft YaHei"/>
                  <a:cs typeface="Noto Sans CJK SC"/>
                </a:rPr>
                <a:t>While similar in theoretical complexity, dot-product attention is much faster and more space-efficient in practice.</a:t>
              </a:r>
            </a:p>
          </p:txBody>
        </p:sp>
      </p:grpSp>
      <p:sp>
        <p:nvSpPr>
          <p:cNvPr id="47" name="Line 47"/>
          <p:cNvSpPr/>
          <p:nvPr/>
        </p:nvSpPr>
        <p:spPr>
          <a:xfrm>
            <a:off x="571500" y="6048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0A3D8F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554355" y="6283642"/>
            <a:ext cx="18383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Times New Roman"/>
                <a:ea typeface="KaiTi"/>
                <a:cs typeface="Times New Roman"/>
              </a:rPr>
              <a:t>海纳百川 · 自强不息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269789" y="631602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2024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201590" y="66655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148715" y="596265"/>
            <a:ext cx="919295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Technical Core: Multi-Head Attention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381000" y="1143000"/>
            <a:ext cx="11430000" cy="381000"/>
          </a:xfrm>
          <a:custGeom>
            <a:avLst/>
            <a:gdLst/>
            <a:ahLst/>
            <a:cxnLst/>
            <a:rect l="l" t="t" r="r" b="b"/>
            <a:pathLst>
              <a:path w="11430000" h="381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342900"/>
                </a:lnTo>
                <a:cubicBezTo>
                  <a:pt x="11430000" y="363942"/>
                  <a:pt x="11412942" y="381000"/>
                  <a:pt x="11391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4355" y="1235392"/>
            <a:ext cx="57521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多头注意力让模型并行学习多组查询、键、值投影，增强表达能力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1500" y="1714500"/>
            <a:ext cx="3505200" cy="3981450"/>
            <a:chOff x="571500" y="1714500"/>
            <a:chExt cx="3505200" cy="3981450"/>
          </a:xfrm>
        </p:grpSpPr>
        <p:sp>
          <p:nvSpPr>
            <p:cNvPr id="6" name="Freeform 6"/>
            <p:cNvSpPr/>
            <p:nvPr/>
          </p:nvSpPr>
          <p:spPr>
            <a:xfrm>
              <a:off x="647700" y="1790700"/>
              <a:ext cx="3429000" cy="3905250"/>
            </a:xfrm>
            <a:custGeom>
              <a:avLst/>
              <a:gdLst/>
              <a:ahLst/>
              <a:cxnLst/>
              <a:rect l="l" t="t" r="r" b="b"/>
              <a:pathLst>
                <a:path w="3429000" h="390525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3829050"/>
                  </a:lnTo>
                  <a:cubicBezTo>
                    <a:pt x="3429000" y="3871134"/>
                    <a:pt x="3394884" y="3905250"/>
                    <a:pt x="3352800" y="3905250"/>
                  </a:cubicBezTo>
                  <a:lnTo>
                    <a:pt x="76200" y="3905250"/>
                  </a:lnTo>
                  <a:cubicBezTo>
                    <a:pt x="34116" y="3905250"/>
                    <a:pt x="0" y="3871134"/>
                    <a:pt x="0" y="3829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714500"/>
              <a:ext cx="3429000" cy="3905250"/>
            </a:xfrm>
            <a:custGeom>
              <a:avLst/>
              <a:gdLst/>
              <a:ahLst/>
              <a:cxnLst/>
              <a:rect l="l" t="t" r="r" b="b"/>
              <a:pathLst>
                <a:path w="3429000" h="390525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3829050"/>
                  </a:lnTo>
                  <a:cubicBezTo>
                    <a:pt x="3429000" y="3871134"/>
                    <a:pt x="3394884" y="3905250"/>
                    <a:pt x="3352800" y="3905250"/>
                  </a:cubicBezTo>
                  <a:lnTo>
                    <a:pt x="76200" y="3905250"/>
                  </a:lnTo>
                  <a:cubicBezTo>
                    <a:pt x="34116" y="3905250"/>
                    <a:pt x="0" y="3871134"/>
                    <a:pt x="0" y="3829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63160" y="1932622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核心概念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2480" y="2473642"/>
              <a:ext cx="26270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1. 单注意力头执行加权平均，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2480" y="2740342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可能受到限制。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3235642"/>
              <a:ext cx="26073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2. 多头注意力并行运行'h'个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2480" y="3502342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注意力头，每个头有独立的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2480" y="3769042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学习线性投影。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191000" y="1714500"/>
            <a:ext cx="3505200" cy="3981450"/>
            <a:chOff x="4191000" y="1714500"/>
            <a:chExt cx="3505200" cy="3981450"/>
          </a:xfrm>
        </p:grpSpPr>
        <p:sp>
          <p:nvSpPr>
            <p:cNvPr id="15" name="Freeform 15"/>
            <p:cNvSpPr/>
            <p:nvPr/>
          </p:nvSpPr>
          <p:spPr>
            <a:xfrm>
              <a:off x="4267200" y="1790700"/>
              <a:ext cx="3429000" cy="3905250"/>
            </a:xfrm>
            <a:custGeom>
              <a:avLst/>
              <a:gdLst/>
              <a:ahLst/>
              <a:cxnLst/>
              <a:rect l="l" t="t" r="r" b="b"/>
              <a:pathLst>
                <a:path w="3429000" h="390525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3829050"/>
                  </a:lnTo>
                  <a:cubicBezTo>
                    <a:pt x="3429000" y="3871134"/>
                    <a:pt x="3394884" y="3905250"/>
                    <a:pt x="3352800" y="3905250"/>
                  </a:cubicBezTo>
                  <a:lnTo>
                    <a:pt x="76200" y="3905250"/>
                  </a:lnTo>
                  <a:cubicBezTo>
                    <a:pt x="34116" y="3905250"/>
                    <a:pt x="0" y="3871134"/>
                    <a:pt x="0" y="3829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4191000" y="1714500"/>
              <a:ext cx="3429000" cy="3905250"/>
            </a:xfrm>
            <a:custGeom>
              <a:avLst/>
              <a:gdLst/>
              <a:ahLst/>
              <a:cxnLst/>
              <a:rect l="l" t="t" r="r" b="b"/>
              <a:pathLst>
                <a:path w="3429000" h="390525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3829050"/>
                  </a:lnTo>
                  <a:cubicBezTo>
                    <a:pt x="3429000" y="3871134"/>
                    <a:pt x="3394884" y="3905250"/>
                    <a:pt x="3352800" y="3905250"/>
                  </a:cubicBezTo>
                  <a:lnTo>
                    <a:pt x="76200" y="3905250"/>
                  </a:lnTo>
                  <a:cubicBezTo>
                    <a:pt x="34116" y="3905250"/>
                    <a:pt x="0" y="3871134"/>
                    <a:pt x="0" y="3829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82660" y="1932622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模型能力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11980" y="2473642"/>
              <a:ext cx="24791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3. 使模型能够同时关注来自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11980" y="2740342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不同表示子空间的信息。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11980" y="3235642"/>
              <a:ext cx="22819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4. 所有头的输出被拼接并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11980" y="3502342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投影到最终维度。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06650" y="4450556"/>
              <a:ext cx="1597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MultiHead(Q,K,V) =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45176" y="4660106"/>
              <a:ext cx="23206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Concat(head₁,...,headₕ)Wᴼ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17698" y="4869656"/>
              <a:ext cx="1975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where headᵢ = Attention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53251" y="5079206"/>
              <a:ext cx="17044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(QWᵢᵠ, KWᵢᴷ, VWᵢⱽ)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10500" y="1714500"/>
            <a:ext cx="3505200" cy="3981450"/>
            <a:chOff x="7810500" y="1714500"/>
            <a:chExt cx="3505200" cy="3981450"/>
          </a:xfrm>
        </p:grpSpPr>
        <p:sp>
          <p:nvSpPr>
            <p:cNvPr id="27" name="Freeform 27"/>
            <p:cNvSpPr/>
            <p:nvPr/>
          </p:nvSpPr>
          <p:spPr>
            <a:xfrm>
              <a:off x="7886700" y="1790700"/>
              <a:ext cx="3429000" cy="3905250"/>
            </a:xfrm>
            <a:custGeom>
              <a:avLst/>
              <a:gdLst/>
              <a:ahLst/>
              <a:cxnLst/>
              <a:rect l="l" t="t" r="r" b="b"/>
              <a:pathLst>
                <a:path w="3429000" h="390525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3829050"/>
                  </a:lnTo>
                  <a:cubicBezTo>
                    <a:pt x="3429000" y="3871134"/>
                    <a:pt x="3394884" y="3905250"/>
                    <a:pt x="3352800" y="3905250"/>
                  </a:cubicBezTo>
                  <a:lnTo>
                    <a:pt x="76200" y="3905250"/>
                  </a:lnTo>
                  <a:cubicBezTo>
                    <a:pt x="34116" y="3905250"/>
                    <a:pt x="0" y="3871134"/>
                    <a:pt x="0" y="3829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7810500" y="1714500"/>
              <a:ext cx="3429000" cy="3905250"/>
            </a:xfrm>
            <a:custGeom>
              <a:avLst/>
              <a:gdLst/>
              <a:ahLst/>
              <a:cxnLst/>
              <a:rect l="l" t="t" r="r" b="b"/>
              <a:pathLst>
                <a:path w="3429000" h="390525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3829050"/>
                  </a:lnTo>
                  <a:cubicBezTo>
                    <a:pt x="3429000" y="3871134"/>
                    <a:pt x="3394884" y="3905250"/>
                    <a:pt x="3352800" y="3905250"/>
                  </a:cubicBezTo>
                  <a:lnTo>
                    <a:pt x="76200" y="3905250"/>
                  </a:lnTo>
                  <a:cubicBezTo>
                    <a:pt x="34116" y="3905250"/>
                    <a:pt x="0" y="3871134"/>
                    <a:pt x="0" y="3829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02160" y="1932622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结构示意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8096250" y="2381250"/>
              <a:ext cx="2857500" cy="1905000"/>
            </a:xfrm>
            <a:custGeom>
              <a:avLst/>
              <a:gdLst/>
              <a:ahLst/>
              <a:cxnLst/>
              <a:rect l="l" t="t" r="r" b="b"/>
              <a:pathLst>
                <a:path w="2857500" h="1905000">
                  <a:moveTo>
                    <a:pt x="38100" y="0"/>
                  </a:moveTo>
                  <a:lnTo>
                    <a:pt x="2819400" y="0"/>
                  </a:lnTo>
                  <a:cubicBezTo>
                    <a:pt x="2840442" y="0"/>
                    <a:pt x="2857500" y="17058"/>
                    <a:pt x="2857500" y="38100"/>
                  </a:cubicBezTo>
                  <a:lnTo>
                    <a:pt x="2857500" y="1866900"/>
                  </a:lnTo>
                  <a:cubicBezTo>
                    <a:pt x="2857500" y="1887942"/>
                    <a:pt x="2840442" y="1905000"/>
                    <a:pt x="2819400" y="1905000"/>
                  </a:cubicBezTo>
                  <a:lnTo>
                    <a:pt x="38100" y="1905000"/>
                  </a:lnTo>
                  <a:cubicBezTo>
                    <a:pt x="17058" y="1905000"/>
                    <a:pt x="0" y="1887942"/>
                    <a:pt x="0" y="1866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43875" y="2599372"/>
              <a:ext cx="2762250" cy="1468755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8843343" y="4466749"/>
              <a:ext cx="13633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(左) 缩放点积注意力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00945" y="4638199"/>
              <a:ext cx="16481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(右) 多头注意力并行运行</a:t>
              </a:r>
            </a:p>
          </p:txBody>
        </p:sp>
      </p:grpSp>
      <p:sp>
        <p:nvSpPr>
          <p:cNvPr id="35" name="Line 35"/>
          <p:cNvSpPr/>
          <p:nvPr/>
        </p:nvSpPr>
        <p:spPr>
          <a:xfrm>
            <a:off x="571500" y="5905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0A3D8F">
                <a:alpha val="30000"/>
              </a:srgbClr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54355" y="6236018"/>
            <a:ext cx="18383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i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海纳百川 · 自强不息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269789" y="62684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2024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1317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108710" y="422910"/>
            <a:ext cx="1195186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Model Details: Positional Encoding &amp; Feed-Forward Network</a:t>
            </a:r>
          </a:p>
        </p:txBody>
      </p:sp>
      <p:sp>
        <p:nvSpPr>
          <p:cNvPr id="4" name="Rectangle 4"/>
          <p:cNvSpPr/>
          <p:nvPr/>
        </p:nvSpPr>
        <p:spPr>
          <a:xfrm>
            <a:off x="381000" y="1238250"/>
            <a:ext cx="11430000" cy="428625"/>
          </a:xfrm>
          <a:prstGeom prst="rect">
            <a:avLst/>
          </a:pr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-64368" y="1383506"/>
            <a:ext cx="123207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▸ Sinusoidal encodings provide order; position-wise FFN adds non-linear processing — together they enable sequence modeling without recurrence.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971675"/>
            <a:ext cx="3552825" cy="3810000"/>
          </a:xfrm>
          <a:prstGeom prst="rect">
            <a:avLst/>
          </a:prstGeom>
          <a:solidFill>
            <a:srgbClr val="0A3D8F"/>
          </a:solidFill>
          <a:ln w="19050">
            <a:solidFill>
              <a:srgbClr val="0A3D8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613383" y="2141220"/>
            <a:ext cx="145953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" y="2790825"/>
            <a:ext cx="36747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Since the model has no recurrence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8200" y="3124200"/>
            <a:ext cx="36747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or convolution, we must explicitly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8200" y="3457575"/>
            <a:ext cx="37404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inject information about the order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8200" y="3790950"/>
            <a:ext cx="18564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of the sequence.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505325" y="1971675"/>
            <a:ext cx="3552825" cy="3810000"/>
          </a:xfrm>
          <a:prstGeom prst="rect">
            <a:avLst/>
          </a:prstGeom>
          <a:solidFill>
            <a:srgbClr val="0A3D8F"/>
          </a:solidFill>
          <a:ln w="19050">
            <a:solidFill>
              <a:srgbClr val="0A3D8F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482800" y="2141220"/>
            <a:ext cx="158835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Encoding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72025" y="2790825"/>
            <a:ext cx="296275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We use sinusoidal positional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72025" y="3124200"/>
            <a:ext cx="30832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encodings added to the input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72025" y="345757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embeddings.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791075" y="3952875"/>
            <a:ext cx="2981325" cy="13335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679137" y="4156710"/>
            <a:ext cx="31956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PE(pos,2i) = sin(pos/10000^(2i/d))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77925" y="4423410"/>
            <a:ext cx="33981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PE(pos,2i+1) = cos(pos/10000^(2i/d))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65903" y="4744402"/>
            <a:ext cx="38221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Sine and cosine functions of different frequencies</a:t>
            </a:r>
          </a:p>
        </p:txBody>
      </p:sp>
      <p:sp>
        <p:nvSpPr>
          <p:cNvPr id="21" name="Rectangle 21"/>
          <p:cNvSpPr/>
          <p:nvPr/>
        </p:nvSpPr>
        <p:spPr>
          <a:xfrm>
            <a:off x="8439150" y="1971675"/>
            <a:ext cx="3552825" cy="3810000"/>
          </a:xfrm>
          <a:prstGeom prst="rect">
            <a:avLst/>
          </a:prstGeom>
          <a:solidFill>
            <a:srgbClr val="0A3D8F"/>
          </a:solidFill>
          <a:ln w="19050">
            <a:solidFill>
              <a:srgbClr val="0A3D8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8901360" y="2141220"/>
            <a:ext cx="261888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Benefits &amp; FFN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05850" y="2790825"/>
            <a:ext cx="34228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These encodings allow the model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05850" y="3124200"/>
            <a:ext cx="29737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to easily learn to attend by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05850" y="3457575"/>
            <a:ext cx="35213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relative positions and generalize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05850" y="3790950"/>
            <a:ext cx="22836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to longer sequences.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05850" y="4124325"/>
            <a:ext cx="27874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Each layer also contains 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05850" y="4457700"/>
            <a:ext cx="30394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Position-wise Feed-Forward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705850" y="4791075"/>
            <a:ext cx="32146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Network (FFN): a simple two-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705850" y="5124450"/>
            <a:ext cx="30613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layer MLP with ReLU, applied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05850" y="5457825"/>
            <a:ext cx="30394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identically to each position.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6260" y="6156960"/>
            <a:ext cx="14851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Times New Roman"/>
                <a:ea typeface="KaiTi"/>
                <a:cs typeface="Times New Roman"/>
              </a:rPr>
              <a:t>海纳百川 自强不息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843260" y="61569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2024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0070" y="6475095"/>
            <a:ext cx="36441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Source: Vaswani et al., 'Attention Is All You Need', 2017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713321" y="65541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381000" y="952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10590" y="262890"/>
            <a:ext cx="4815511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Experimental Setup</a:t>
            </a:r>
          </a:p>
        </p:txBody>
      </p:sp>
      <p:sp>
        <p:nvSpPr>
          <p:cNvPr id="4" name="Rectangle 4"/>
          <p:cNvSpPr/>
          <p:nvPr/>
        </p:nvSpPr>
        <p:spPr>
          <a:xfrm>
            <a:off x="381000" y="762000"/>
            <a:ext cx="11430000" cy="428625"/>
          </a:xfrm>
          <a:prstGeom prst="rect">
            <a:avLst/>
          </a:pr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96327" y="907256"/>
            <a:ext cx="111993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We evaluate on standard translation benchmarks, compare against SOTA baselines, and use a carefully tuned learning rate schedule.</a:t>
            </a:r>
          </a:p>
        </p:txBody>
      </p:sp>
      <p:sp>
        <p:nvSpPr>
          <p:cNvPr id="6" name="Polygon 6"/>
          <p:cNvSpPr/>
          <p:nvPr/>
        </p:nvSpPr>
        <p:spPr>
          <a:xfrm>
            <a:off x="457200" y="1219200"/>
            <a:ext cx="3562350" cy="4572000"/>
          </a:xfrm>
          <a:custGeom>
            <a:avLst/>
            <a:gdLst/>
            <a:ahLst/>
            <a:cxnLst/>
            <a:rect l="l" t="t" r="r" b="b"/>
            <a:pathLst>
              <a:path w="3562350" h="4572000">
                <a:moveTo>
                  <a:pt x="0" y="0"/>
                </a:moveTo>
                <a:lnTo>
                  <a:pt x="3562350" y="0"/>
                </a:lnTo>
                <a:lnTo>
                  <a:pt x="3562350" y="4572000"/>
                </a:lnTo>
                <a:lnTo>
                  <a:pt x="0" y="45720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Polygon 7"/>
          <p:cNvSpPr/>
          <p:nvPr/>
        </p:nvSpPr>
        <p:spPr>
          <a:xfrm>
            <a:off x="381000" y="1143000"/>
            <a:ext cx="3562350" cy="4572000"/>
          </a:xfrm>
          <a:custGeom>
            <a:avLst/>
            <a:gdLst/>
            <a:ahLst/>
            <a:cxnLst/>
            <a:rect l="l" t="t" r="r" b="b"/>
            <a:pathLst>
              <a:path w="3562350" h="4572000">
                <a:moveTo>
                  <a:pt x="0" y="0"/>
                </a:moveTo>
                <a:lnTo>
                  <a:pt x="3562350" y="0"/>
                </a:lnTo>
                <a:lnTo>
                  <a:pt x="3562350" y="4572000"/>
                </a:lnTo>
                <a:lnTo>
                  <a:pt x="0" y="4572000"/>
                </a:ln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81000" y="1143000"/>
            <a:ext cx="3562350" cy="76200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09155" y="1264920"/>
            <a:ext cx="230604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Tasks &amp; Data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3890" y="1948815"/>
            <a:ext cx="295065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Machine Translation 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3890" y="2329815"/>
            <a:ext cx="30426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two major benchmarks: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3890" y="2853690"/>
            <a:ext cx="220141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WMT 2014 EN-DE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5795" y="3203258"/>
            <a:ext cx="242763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D4F5"/>
                </a:solidFill>
                <a:latin typeface="Segoe UI"/>
                <a:ea typeface="Microsoft YaHei"/>
                <a:cs typeface="Segoe UI"/>
              </a:rPr>
              <a:t>4.5M sentence pairs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3890" y="3615690"/>
            <a:ext cx="220141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WMT 2014 EN-FR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5795" y="3965258"/>
            <a:ext cx="229509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D4F5"/>
                </a:solidFill>
                <a:latin typeface="Segoe UI"/>
                <a:ea typeface="Microsoft YaHei"/>
                <a:cs typeface="Segoe UI"/>
              </a:rPr>
              <a:t>36M sentence pairs</a:t>
            </a:r>
          </a:p>
        </p:txBody>
      </p:sp>
      <p:sp>
        <p:nvSpPr>
          <p:cNvPr id="16" name="Polygon 16"/>
          <p:cNvSpPr/>
          <p:nvPr/>
        </p:nvSpPr>
        <p:spPr>
          <a:xfrm>
            <a:off x="4400550" y="1219200"/>
            <a:ext cx="3562350" cy="4572000"/>
          </a:xfrm>
          <a:custGeom>
            <a:avLst/>
            <a:gdLst/>
            <a:ahLst/>
            <a:cxnLst/>
            <a:rect l="l" t="t" r="r" b="b"/>
            <a:pathLst>
              <a:path w="3562350" h="4572000">
                <a:moveTo>
                  <a:pt x="0" y="0"/>
                </a:moveTo>
                <a:lnTo>
                  <a:pt x="3562350" y="0"/>
                </a:lnTo>
                <a:lnTo>
                  <a:pt x="3562350" y="4572000"/>
                </a:lnTo>
                <a:lnTo>
                  <a:pt x="0" y="45720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4324350" y="1143000"/>
            <a:ext cx="3562350" cy="4572000"/>
          </a:xfrm>
          <a:custGeom>
            <a:avLst/>
            <a:gdLst/>
            <a:ahLst/>
            <a:cxnLst/>
            <a:rect l="l" t="t" r="r" b="b"/>
            <a:pathLst>
              <a:path w="3562350" h="4572000">
                <a:moveTo>
                  <a:pt x="0" y="0"/>
                </a:moveTo>
                <a:lnTo>
                  <a:pt x="3562350" y="0"/>
                </a:lnTo>
                <a:lnTo>
                  <a:pt x="3562350" y="4572000"/>
                </a:lnTo>
                <a:lnTo>
                  <a:pt x="0" y="4572000"/>
                </a:ln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4324350" y="1143000"/>
            <a:ext cx="3562350" cy="76200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124401" y="1264920"/>
            <a:ext cx="396224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Evaluation &amp; Baselines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87240" y="1948815"/>
            <a:ext cx="243801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Evaluation Metric: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83430" y="2345055"/>
            <a:ext cx="17440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BLEU score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87240" y="2948940"/>
            <a:ext cx="13601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Baselines: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87240" y="3234690"/>
            <a:ext cx="235915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State-of-the-art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87240" y="3520440"/>
            <a:ext cx="222770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models including: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87240" y="3949065"/>
            <a:ext cx="133388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GNMT+RL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87240" y="4282440"/>
            <a:ext cx="12813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ConvS2S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87240" y="4615815"/>
            <a:ext cx="229342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Their ensembles</a:t>
            </a:r>
          </a:p>
        </p:txBody>
      </p:sp>
      <p:sp>
        <p:nvSpPr>
          <p:cNvPr id="28" name="Polygon 28"/>
          <p:cNvSpPr/>
          <p:nvPr/>
        </p:nvSpPr>
        <p:spPr>
          <a:xfrm>
            <a:off x="8343900" y="1219200"/>
            <a:ext cx="3562350" cy="4572000"/>
          </a:xfrm>
          <a:custGeom>
            <a:avLst/>
            <a:gdLst/>
            <a:ahLst/>
            <a:cxnLst/>
            <a:rect l="l" t="t" r="r" b="b"/>
            <a:pathLst>
              <a:path w="3562350" h="4572000">
                <a:moveTo>
                  <a:pt x="0" y="0"/>
                </a:moveTo>
                <a:lnTo>
                  <a:pt x="3562350" y="0"/>
                </a:lnTo>
                <a:lnTo>
                  <a:pt x="3562350" y="4572000"/>
                </a:lnTo>
                <a:lnTo>
                  <a:pt x="0" y="45720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8267700" y="1143000"/>
            <a:ext cx="3562350" cy="4572000"/>
          </a:xfrm>
          <a:custGeom>
            <a:avLst/>
            <a:gdLst/>
            <a:ahLst/>
            <a:cxnLst/>
            <a:rect l="l" t="t" r="r" b="b"/>
            <a:pathLst>
              <a:path w="3562350" h="4572000">
                <a:moveTo>
                  <a:pt x="0" y="0"/>
                </a:moveTo>
                <a:lnTo>
                  <a:pt x="3562350" y="0"/>
                </a:lnTo>
                <a:lnTo>
                  <a:pt x="3562350" y="4572000"/>
                </a:lnTo>
                <a:lnTo>
                  <a:pt x="0" y="4572000"/>
                </a:ln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8267700" y="1143000"/>
            <a:ext cx="3562350" cy="76200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629021" y="1264920"/>
            <a:ext cx="283970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Training Details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30590" y="1948815"/>
            <a:ext cx="217512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Optimizer: Adam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32495" y="2298382"/>
            <a:ext cx="225894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D4F5"/>
                </a:solidFill>
                <a:latin typeface="Segoe UI"/>
                <a:ea typeface="Microsoft YaHei"/>
                <a:cs typeface="Segoe UI"/>
              </a:rPr>
              <a:t>β₁ = 0.9, β₂ = 0.98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32495" y="2536508"/>
            <a:ext cx="92149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D4F5"/>
                </a:solidFill>
                <a:latin typeface="Segoe UI"/>
                <a:ea typeface="Microsoft YaHei"/>
                <a:cs typeface="Segoe UI"/>
              </a:rPr>
              <a:t>ε = 10⁻⁹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30590" y="2948940"/>
            <a:ext cx="310838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Learning rate schedule: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32495" y="3298508"/>
            <a:ext cx="22709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D4F5"/>
                </a:solidFill>
                <a:latin typeface="Segoe UI"/>
                <a:ea typeface="Microsoft YaHei"/>
                <a:cs typeface="Segoe UI"/>
              </a:rPr>
              <a:t>warmup then decay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36305" y="3711892"/>
            <a:ext cx="19369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lrate = d_model⁻⁰·⁵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36305" y="3930968"/>
            <a:ext cx="20749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· min(step_num⁻⁰·⁵,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36305" y="4150042"/>
            <a:ext cx="30903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step_num · warmup_steps⁻¹·⁵)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530590" y="4472940"/>
            <a:ext cx="29026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warmup_steps = 4000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534400" y="4857750"/>
            <a:ext cx="3181350" cy="476250"/>
          </a:xfrm>
          <a:prstGeom prst="rect">
            <a:avLst/>
          </a:prstGeom>
          <a:solidFill>
            <a:srgbClr val="E3F2FD"/>
          </a:solidFill>
          <a:ln w="19050">
            <a:solidFill>
              <a:srgbClr val="1E5AA8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605052" y="4934902"/>
            <a:ext cx="30400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Linear warmup for first warmup_steps,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900255" y="5125402"/>
            <a:ext cx="24496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then inverse square root decay.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65760" y="6347460"/>
            <a:ext cx="29485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大连理工大学 | WMT 2014 Benchmark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462260" y="6347460"/>
            <a:ext cx="17743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[Presentation Date]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713321" y="65541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952500"/>
            <a:ext cx="12192000" cy="285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619125" y="571500"/>
            <a:ext cx="381000" cy="323850"/>
            <a:chOff x="619125" y="571500"/>
            <a:chExt cx="381000" cy="323850"/>
          </a:xfrm>
        </p:grpSpPr>
        <p:sp>
          <p:nvSpPr>
            <p:cNvPr id="3" name="Freeform 3"/>
            <p:cNvSpPr/>
            <p:nvPr/>
          </p:nvSpPr>
          <p:spPr>
            <a:xfrm>
              <a:off x="619125" y="571500"/>
              <a:ext cx="381000" cy="323850"/>
            </a:xfrm>
            <a:custGeom>
              <a:avLst/>
              <a:gdLst/>
              <a:ahLst/>
              <a:cxnLst/>
              <a:rect l="l" t="t" r="r" b="b"/>
              <a:pathLst>
                <a:path w="381000" h="323850">
                  <a:moveTo>
                    <a:pt x="0" y="0"/>
                  </a:moveTo>
                  <a:lnTo>
                    <a:pt x="0" y="323850"/>
                  </a:lnTo>
                  <a:lnTo>
                    <a:pt x="190500" y="285750"/>
                  </a:lnTo>
                  <a:lnTo>
                    <a:pt x="381000" y="323850"/>
                  </a:lnTo>
                  <a:lnTo>
                    <a:pt x="381000" y="0"/>
                  </a:lnTo>
                  <a:lnTo>
                    <a:pt x="190500" y="38100"/>
                  </a:lnTo>
                  <a:close/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809625" y="6096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0A3D8F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619125" y="571500"/>
              <a:ext cx="381000" cy="38100"/>
            </a:xfrm>
            <a:custGeom>
              <a:avLst/>
              <a:gdLst/>
              <a:ahLst/>
              <a:cxnLst/>
              <a:rect l="l" t="t" r="r" b="b"/>
              <a:pathLst>
                <a:path w="381000" h="38100">
                  <a:moveTo>
                    <a:pt x="0" y="0"/>
                  </a:moveTo>
                  <a:cubicBezTo>
                    <a:pt x="127000" y="38100"/>
                    <a:pt x="254000" y="38100"/>
                    <a:pt x="381000" y="0"/>
                  </a:cubicBezTo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619125" y="857250"/>
              <a:ext cx="381000" cy="38100"/>
            </a:xfrm>
            <a:custGeom>
              <a:avLst/>
              <a:gdLst/>
              <a:ahLst/>
              <a:cxnLst/>
              <a:rect l="l" t="t" r="r" b="b"/>
              <a:pathLst>
                <a:path w="381000" h="38100">
                  <a:moveTo>
                    <a:pt x="0" y="38100"/>
                  </a:moveTo>
                  <a:cubicBezTo>
                    <a:pt x="127000" y="0"/>
                    <a:pt x="254000" y="0"/>
                    <a:pt x="381000" y="38100"/>
                  </a:cubicBezTo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66750" y="647700"/>
              <a:ext cx="114300" cy="19050"/>
            </a:xfrm>
            <a:custGeom>
              <a:avLst/>
              <a:gdLst/>
              <a:ahLst/>
              <a:cxnLst/>
              <a:rect l="l" t="t" r="r" b="b"/>
              <a:pathLst>
                <a:path w="114300" h="19050">
                  <a:moveTo>
                    <a:pt x="0" y="19050"/>
                  </a:moveTo>
                  <a:lnTo>
                    <a:pt x="114300" y="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66750" y="704850"/>
              <a:ext cx="114300" cy="19050"/>
            </a:xfrm>
            <a:custGeom>
              <a:avLst/>
              <a:gdLst/>
              <a:ahLst/>
              <a:cxnLst/>
              <a:rect l="l" t="t" r="r" b="b"/>
              <a:pathLst>
                <a:path w="114300" h="19050">
                  <a:moveTo>
                    <a:pt x="0" y="19050"/>
                  </a:moveTo>
                  <a:lnTo>
                    <a:pt x="114300" y="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66750" y="762000"/>
              <a:ext cx="95250" cy="19050"/>
            </a:xfrm>
            <a:custGeom>
              <a:avLst/>
              <a:gdLst/>
              <a:ahLst/>
              <a:cxnLst/>
              <a:rect l="l" t="t" r="r" b="b"/>
              <a:pathLst>
                <a:path w="95250" h="19050">
                  <a:moveTo>
                    <a:pt x="0" y="19050"/>
                  </a:moveTo>
                  <a:lnTo>
                    <a:pt x="95250" y="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38200" y="647700"/>
              <a:ext cx="114300" cy="19050"/>
            </a:xfrm>
            <a:custGeom>
              <a:avLst/>
              <a:gdLst/>
              <a:ahLst/>
              <a:cxnLst/>
              <a:rect l="l" t="t" r="r" b="b"/>
              <a:pathLst>
                <a:path w="114300" h="19050">
                  <a:moveTo>
                    <a:pt x="0" y="0"/>
                  </a:moveTo>
                  <a:lnTo>
                    <a:pt x="114300" y="1905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38200" y="704850"/>
              <a:ext cx="114300" cy="19050"/>
            </a:xfrm>
            <a:custGeom>
              <a:avLst/>
              <a:gdLst/>
              <a:ahLst/>
              <a:cxnLst/>
              <a:rect l="l" t="t" r="r" b="b"/>
              <a:pathLst>
                <a:path w="114300" h="19050">
                  <a:moveTo>
                    <a:pt x="0" y="0"/>
                  </a:moveTo>
                  <a:lnTo>
                    <a:pt x="114300" y="1905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38200" y="762000"/>
              <a:ext cx="95250" cy="19050"/>
            </a:xfrm>
            <a:custGeom>
              <a:avLst/>
              <a:gdLst/>
              <a:ahLst/>
              <a:cxnLst/>
              <a:rect l="l" t="t" r="r" b="b"/>
              <a:pathLst>
                <a:path w="95250" h="19050">
                  <a:moveTo>
                    <a:pt x="0" y="0"/>
                  </a:moveTo>
                  <a:lnTo>
                    <a:pt x="95250" y="1905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101090" y="453390"/>
            <a:ext cx="12128125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Key Result: New State-of-the-Art in Translation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81000" y="904875"/>
            <a:ext cx="11430000" cy="428625"/>
          </a:xfrm>
          <a:prstGeom prst="rect">
            <a:avLst/>
          </a:pr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251109" y="1050131"/>
            <a:ext cx="96897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Transformer big sets new SOTA BLEU scores with a fraction of the training cost (FLOPs) of prior best ensembles.</a:t>
            </a:r>
          </a:p>
        </p:txBody>
      </p:sp>
      <p:sp>
        <p:nvSpPr>
          <p:cNvPr id="17" name="Rectangle 17"/>
          <p:cNvSpPr/>
          <p:nvPr/>
        </p:nvSpPr>
        <p:spPr>
          <a:xfrm>
            <a:off x="381000" y="1476375"/>
            <a:ext cx="11430000" cy="4048125"/>
          </a:xfrm>
          <a:prstGeom prst="rect">
            <a:avLst/>
          </a:prstGeom>
          <a:solidFill>
            <a:srgbClr val="FFFFFF"/>
          </a:solidFill>
          <a:ln w="19050">
            <a:solidFill>
              <a:srgbClr val="0A3D8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381000" y="1476375"/>
            <a:ext cx="11430000" cy="5238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728177" y="1631632"/>
            <a:ext cx="473564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BLEU Score &amp; Training Cost Comparison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81000" y="2000250"/>
            <a:ext cx="11430000" cy="42862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52462" y="2164556"/>
            <a:ext cx="4943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Model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72745" y="2164556"/>
            <a:ext cx="5030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EN-DE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01495" y="2164556"/>
            <a:ext cx="5030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EN-FR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135648" y="21645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EN-DE FLOPs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16898" y="21645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EN-FR FLOPs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81232" y="2339816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BLEU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09982" y="2339816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BLEU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81000" y="2428875"/>
            <a:ext cx="11430000" cy="30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54368" y="2523649"/>
            <a:ext cx="8933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ByteNet [18]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316069" y="25236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23.75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01458" y="25236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15958" y="25236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997208" y="25236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81000" y="2733675"/>
            <a:ext cx="11430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54368" y="2828449"/>
            <a:ext cx="16409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Deep-Att + PosUnk [39]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472708" y="28284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783979" y="282844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39.2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15958" y="28284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58690" y="2828449"/>
            <a:ext cx="5801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1.0·10²⁰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81000" y="3038475"/>
            <a:ext cx="11430000" cy="30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54368" y="3133249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GNMT + RL [38]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355229" y="313324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24.6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744819" y="31332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39.92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59640" y="3133249"/>
            <a:ext cx="61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2.3·10¹⁹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758690" y="3133249"/>
            <a:ext cx="5801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1.4·10²⁰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81000" y="3343275"/>
            <a:ext cx="11430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54368" y="3438049"/>
            <a:ext cx="850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ConvS2S [9]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333869" y="343804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25.16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744819" y="34380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40.46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359640" y="3438049"/>
            <a:ext cx="61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9.6·10¹⁸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758690" y="3438049"/>
            <a:ext cx="5801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1.5·10²⁰</a:t>
            </a:r>
          </a:p>
        </p:txBody>
      </p:sp>
      <p:sp>
        <p:nvSpPr>
          <p:cNvPr id="52" name="Rectangle 52"/>
          <p:cNvSpPr/>
          <p:nvPr/>
        </p:nvSpPr>
        <p:spPr>
          <a:xfrm>
            <a:off x="381000" y="3648075"/>
            <a:ext cx="11430000" cy="30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54368" y="3742849"/>
            <a:ext cx="6442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MoE [32]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316069" y="37428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26.03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744819" y="37428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40.56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359640" y="3742849"/>
            <a:ext cx="61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2.0·10¹⁹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758690" y="3742849"/>
            <a:ext cx="5801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1.2·10²⁰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81000" y="3952875"/>
            <a:ext cx="11430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654368" y="404764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Deep-Att + PosUnk Ensemble [39]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472708" y="40476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783979" y="404764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40.4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615958" y="40476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740890" y="4047649"/>
            <a:ext cx="61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8.0·10²⁰</a:t>
            </a:r>
          </a:p>
        </p:txBody>
      </p:sp>
      <p:sp>
        <p:nvSpPr>
          <p:cNvPr id="64" name="Rectangle 64"/>
          <p:cNvSpPr/>
          <p:nvPr/>
        </p:nvSpPr>
        <p:spPr>
          <a:xfrm>
            <a:off x="381000" y="4257675"/>
            <a:ext cx="11430000" cy="30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654368" y="4352449"/>
            <a:ext cx="17050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GNMT + RL Ensemble [38]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316069" y="43524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26.30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780419" y="4352449"/>
            <a:ext cx="3451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41.16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377440" y="4352449"/>
            <a:ext cx="5801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1.8·10²⁰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776490" y="4352449"/>
            <a:ext cx="5445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1.1·10²¹</a:t>
            </a:r>
          </a:p>
        </p:txBody>
      </p:sp>
      <p:sp>
        <p:nvSpPr>
          <p:cNvPr id="70" name="Rectangle 70"/>
          <p:cNvSpPr/>
          <p:nvPr/>
        </p:nvSpPr>
        <p:spPr>
          <a:xfrm>
            <a:off x="381000" y="4562475"/>
            <a:ext cx="11430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654368" y="4657249"/>
            <a:ext cx="15128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ConvS2S Ensemble [9]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316069" y="46572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26.36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762619" y="465724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41.29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359640" y="4657249"/>
            <a:ext cx="61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7.7·10¹⁹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8758690" y="4657249"/>
            <a:ext cx="5801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1.2·10²¹</a:t>
            </a:r>
          </a:p>
        </p:txBody>
      </p:sp>
      <p:sp>
        <p:nvSpPr>
          <p:cNvPr id="76" name="Rectangle 76"/>
          <p:cNvSpPr/>
          <p:nvPr/>
        </p:nvSpPr>
        <p:spPr>
          <a:xfrm>
            <a:off x="381000" y="4867275"/>
            <a:ext cx="11430000" cy="304800"/>
          </a:xfrm>
          <a:prstGeom prst="rect">
            <a:avLst/>
          </a:prstGeom>
          <a:solidFill>
            <a:srgbClr val="E8F5E9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654368" y="4962049"/>
            <a:ext cx="19460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Transformer (base model)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347397" y="4962049"/>
            <a:ext cx="3537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81C784"/>
                </a:solidFill>
                <a:latin typeface="Noto Sans CJK SC"/>
                <a:ea typeface="Microsoft YaHei"/>
                <a:cs typeface="Noto Sans CJK SC"/>
              </a:rPr>
              <a:t>27.3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794837" y="4962049"/>
            <a:ext cx="3163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81C784"/>
                </a:solidFill>
                <a:latin typeface="Noto Sans CJK SC"/>
                <a:ea typeface="Microsoft YaHei"/>
                <a:cs typeface="Noto Sans CJK SC"/>
              </a:rPr>
              <a:t>38.1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615958" y="49620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8740890" y="4962049"/>
            <a:ext cx="61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3.3·10¹⁸</a:t>
            </a:r>
          </a:p>
        </p:txBody>
      </p:sp>
      <p:sp>
        <p:nvSpPr>
          <p:cNvPr id="82" name="Rectangle 82"/>
          <p:cNvSpPr/>
          <p:nvPr/>
        </p:nvSpPr>
        <p:spPr>
          <a:xfrm>
            <a:off x="381000" y="5172075"/>
            <a:ext cx="11430000" cy="352425"/>
          </a:xfrm>
          <a:prstGeom prst="rect">
            <a:avLst/>
          </a:prstGeom>
          <a:solidFill>
            <a:srgbClr val="E8F5E9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653415" y="5287328"/>
            <a:ext cx="14839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Transformer (big)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333793" y="5287328"/>
            <a:ext cx="3809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Noto Sans CJK SC"/>
                <a:ea typeface="Microsoft YaHei"/>
                <a:cs typeface="Noto Sans CJK SC"/>
              </a:rPr>
              <a:t>28.4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782670" y="5287328"/>
            <a:ext cx="3406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Noto Sans CJK SC"/>
                <a:ea typeface="Microsoft YaHei"/>
                <a:cs typeface="Noto Sans CJK SC"/>
              </a:rPr>
              <a:t>41.8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6609884" y="5287328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8701298" y="5287328"/>
            <a:ext cx="694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Noto Sans CJK SC"/>
                <a:ea typeface="Microsoft YaHei"/>
                <a:cs typeface="Noto Sans CJK SC"/>
              </a:rPr>
              <a:t>2.3·10¹⁹</a:t>
            </a:r>
          </a:p>
        </p:txBody>
      </p:sp>
      <p:grpSp>
        <p:nvGrpSpPr>
          <p:cNvPr id="94" name="Group 94"/>
          <p:cNvGrpSpPr/>
          <p:nvPr/>
        </p:nvGrpSpPr>
        <p:grpSpPr>
          <a:xfrm>
            <a:off x="381000" y="5667375"/>
            <a:ext cx="3695700" cy="1028700"/>
            <a:chOff x="381000" y="5667375"/>
            <a:chExt cx="3695700" cy="1028700"/>
          </a:xfrm>
        </p:grpSpPr>
        <p:sp>
          <p:nvSpPr>
            <p:cNvPr id="88" name="Polygon 88"/>
            <p:cNvSpPr/>
            <p:nvPr/>
          </p:nvSpPr>
          <p:spPr>
            <a:xfrm>
              <a:off x="457200" y="5743575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0" y="0"/>
                  </a:moveTo>
                  <a:lnTo>
                    <a:pt x="3619500" y="0"/>
                  </a:lnTo>
                  <a:lnTo>
                    <a:pt x="3619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9" name="Polygon 89"/>
            <p:cNvSpPr/>
            <p:nvPr/>
          </p:nvSpPr>
          <p:spPr>
            <a:xfrm>
              <a:off x="381000" y="5667375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0" y="0"/>
                  </a:moveTo>
                  <a:lnTo>
                    <a:pt x="3619500" y="0"/>
                  </a:lnTo>
                  <a:lnTo>
                    <a:pt x="3619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039168" y="5804535"/>
              <a:ext cx="23031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EN-DE: Performance Lead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06742" y="6057424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Transformer (big) scores 28.4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06742" y="6228874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BLEU, beating prior best by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06742" y="6400324"/>
              <a:ext cx="10190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+2.04 points.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4286250" y="5667375"/>
            <a:ext cx="3695700" cy="1028700"/>
            <a:chOff x="4286250" y="5667375"/>
            <a:chExt cx="3695700" cy="1028700"/>
          </a:xfrm>
        </p:grpSpPr>
        <p:sp>
          <p:nvSpPr>
            <p:cNvPr id="95" name="Polygon 95"/>
            <p:cNvSpPr/>
            <p:nvPr/>
          </p:nvSpPr>
          <p:spPr>
            <a:xfrm>
              <a:off x="4362450" y="5743575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0" y="0"/>
                  </a:moveTo>
                  <a:lnTo>
                    <a:pt x="3619500" y="0"/>
                  </a:lnTo>
                  <a:lnTo>
                    <a:pt x="3619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6" name="Polygon 96"/>
            <p:cNvSpPr/>
            <p:nvPr/>
          </p:nvSpPr>
          <p:spPr>
            <a:xfrm>
              <a:off x="4286250" y="5667375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0" y="0"/>
                  </a:moveTo>
                  <a:lnTo>
                    <a:pt x="3619500" y="0"/>
                  </a:lnTo>
                  <a:lnTo>
                    <a:pt x="3619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4654582" y="5804535"/>
              <a:ext cx="28828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EN-FR: Efficiency Breakthrough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511992" y="6057424"/>
              <a:ext cx="18332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Achieves SOTA (41.8 BLEU)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511992" y="6228874"/>
              <a:ext cx="18261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with ~1/35th the FLOPs of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4511992" y="6400324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best previous ensemble.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8191500" y="5667375"/>
            <a:ext cx="3695700" cy="1028700"/>
            <a:chOff x="8191500" y="5667375"/>
            <a:chExt cx="3695700" cy="1028700"/>
          </a:xfrm>
        </p:grpSpPr>
        <p:sp>
          <p:nvSpPr>
            <p:cNvPr id="102" name="Polygon 102"/>
            <p:cNvSpPr/>
            <p:nvPr/>
          </p:nvSpPr>
          <p:spPr>
            <a:xfrm>
              <a:off x="8267700" y="5743575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0" y="0"/>
                  </a:moveTo>
                  <a:lnTo>
                    <a:pt x="3619500" y="0"/>
                  </a:lnTo>
                  <a:lnTo>
                    <a:pt x="3619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3" name="Polygon 103"/>
            <p:cNvSpPr/>
            <p:nvPr/>
          </p:nvSpPr>
          <p:spPr>
            <a:xfrm>
              <a:off x="8191500" y="5667375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0" y="0"/>
                  </a:moveTo>
                  <a:lnTo>
                    <a:pt x="3619500" y="0"/>
                  </a:lnTo>
                  <a:lnTo>
                    <a:pt x="3619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9525952" y="58045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Conclusion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417242" y="6057424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Not just better, but vastly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417242" y="6228874"/>
              <a:ext cx="1548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more efficient. A new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417242" y="640032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paradigm for NMT.</a:t>
              </a:r>
            </a:p>
          </p:txBody>
        </p:sp>
      </p:grpSp>
      <p:sp>
        <p:nvSpPr>
          <p:cNvPr id="109" name="TextBox 109"/>
          <p:cNvSpPr txBox="1"/>
          <p:nvPr/>
        </p:nvSpPr>
        <p:spPr>
          <a:xfrm>
            <a:off x="370522" y="6530816"/>
            <a:ext cx="39128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Source: Vaswani et al., 'Attention Is All You Need' (2017), Table 2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9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558165" y="63636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海纳百川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0754868" y="6379845"/>
            <a:ext cx="4960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2023.10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0" y="952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428625" y="457200"/>
            <a:ext cx="381000" cy="323850"/>
            <a:chOff x="428625" y="457200"/>
            <a:chExt cx="381000" cy="323850"/>
          </a:xfrm>
        </p:grpSpPr>
        <p:sp>
          <p:nvSpPr>
            <p:cNvPr id="3" name="Freeform 3"/>
            <p:cNvSpPr/>
            <p:nvPr/>
          </p:nvSpPr>
          <p:spPr>
            <a:xfrm>
              <a:off x="428625" y="457200"/>
              <a:ext cx="381000" cy="323850"/>
            </a:xfrm>
            <a:custGeom>
              <a:avLst/>
              <a:gdLst/>
              <a:ahLst/>
              <a:cxnLst/>
              <a:rect l="l" t="t" r="r" b="b"/>
              <a:pathLst>
                <a:path w="381000" h="323850">
                  <a:moveTo>
                    <a:pt x="0" y="0"/>
                  </a:moveTo>
                  <a:lnTo>
                    <a:pt x="0" y="323850"/>
                  </a:lnTo>
                  <a:lnTo>
                    <a:pt x="381000" y="323850"/>
                  </a:lnTo>
                  <a:lnTo>
                    <a:pt x="381000" y="0"/>
                  </a:lnTo>
                  <a:lnTo>
                    <a:pt x="190500" y="76200"/>
                  </a:lnTo>
                  <a:close/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428625" y="457200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0" y="0"/>
                  </a:moveTo>
                  <a:lnTo>
                    <a:pt x="190500" y="76200"/>
                  </a:lnTo>
                  <a:lnTo>
                    <a:pt x="381000" y="0"/>
                  </a:lnTo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619125" y="533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9050">
              <a:solidFill>
                <a:srgbClr val="0A3D8F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428625" y="619125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0" y="0"/>
                  </a:moveTo>
                  <a:lnTo>
                    <a:pt x="190500" y="76200"/>
                  </a:ln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910590" y="139065"/>
            <a:ext cx="1010387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Ablation Study: Validating Design Choices</a:t>
            </a:r>
          </a:p>
        </p:txBody>
      </p:sp>
      <p:sp>
        <p:nvSpPr>
          <p:cNvPr id="9" name="Rectangle 9"/>
          <p:cNvSpPr/>
          <p:nvPr/>
        </p:nvSpPr>
        <p:spPr>
          <a:xfrm>
            <a:off x="381000" y="762000"/>
            <a:ext cx="11430000" cy="428625"/>
          </a:xfrm>
          <a:prstGeom prst="rect">
            <a:avLst/>
          </a:pr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64848" y="926306"/>
            <a:ext cx="98623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▸ 8 attention heads, sufficient dimensionality, and dropout are optimal; larger models perform better as expected.</a:t>
            </a:r>
          </a:p>
        </p:txBody>
      </p:sp>
      <p:sp>
        <p:nvSpPr>
          <p:cNvPr id="11" name="Polygon 11"/>
          <p:cNvSpPr/>
          <p:nvPr/>
        </p:nvSpPr>
        <p:spPr>
          <a:xfrm>
            <a:off x="647700" y="1409700"/>
            <a:ext cx="11049000" cy="1333500"/>
          </a:xfrm>
          <a:custGeom>
            <a:avLst/>
            <a:gdLst/>
            <a:ahLst/>
            <a:cxnLst/>
            <a:rect l="l" t="t" r="r" b="b"/>
            <a:pathLst>
              <a:path w="11049000" h="1333500">
                <a:moveTo>
                  <a:pt x="0" y="0"/>
                </a:moveTo>
                <a:lnTo>
                  <a:pt x="11049000" y="0"/>
                </a:lnTo>
                <a:lnTo>
                  <a:pt x="11049000" y="1333500"/>
                </a:lnTo>
                <a:lnTo>
                  <a:pt x="0" y="1333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Polygon 12"/>
          <p:cNvSpPr/>
          <p:nvPr/>
        </p:nvSpPr>
        <p:spPr>
          <a:xfrm>
            <a:off x="571500" y="1333500"/>
            <a:ext cx="11049000" cy="1333500"/>
          </a:xfrm>
          <a:custGeom>
            <a:avLst/>
            <a:gdLst/>
            <a:ahLst/>
            <a:cxnLst/>
            <a:rect l="l" t="t" r="r" b="b"/>
            <a:pathLst>
              <a:path w="11049000" h="1333500">
                <a:moveTo>
                  <a:pt x="0" y="0"/>
                </a:moveTo>
                <a:lnTo>
                  <a:pt x="11049000" y="0"/>
                </a:lnTo>
                <a:lnTo>
                  <a:pt x="11049000" y="1333500"/>
                </a:lnTo>
                <a:lnTo>
                  <a:pt x="0" y="1333500"/>
                </a:ln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265739" y="1472565"/>
            <a:ext cx="16605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Key Findings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4855" y="1902142"/>
            <a:ext cx="76745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8 heads optimal • d_k reduction hurts quality • Larger models perform better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4855" y="2235518"/>
            <a:ext cx="82857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Dropout crucial for preventing overfitting • Sinusoidal ≈ learned positional encoding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857500"/>
            <a:ext cx="11049000" cy="32385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3D8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71500" y="2857500"/>
            <a:ext cx="11049000" cy="47625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3276350" y="3009900"/>
            <a:ext cx="5639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Table 3: Transformer Architecture Ablation Study</a:t>
            </a:r>
          </a:p>
        </p:txBody>
      </p:sp>
      <p:grpSp>
        <p:nvGrpSpPr>
          <p:cNvPr id="143" name="Group 143"/>
          <p:cNvGrpSpPr/>
          <p:nvPr/>
        </p:nvGrpSpPr>
        <p:grpSpPr>
          <a:xfrm>
            <a:off x="571500" y="3333750"/>
            <a:ext cx="11049000" cy="2950369"/>
            <a:chOff x="571500" y="3333750"/>
            <a:chExt cx="11049000" cy="2950369"/>
          </a:xfrm>
        </p:grpSpPr>
        <p:sp>
          <p:nvSpPr>
            <p:cNvPr id="19" name="Rectangle 19"/>
            <p:cNvSpPr/>
            <p:nvPr/>
          </p:nvSpPr>
          <p:spPr>
            <a:xfrm>
              <a:off x="571500" y="3333750"/>
              <a:ext cx="11049000" cy="2667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9618" y="3418999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8742" y="3418999"/>
              <a:ext cx="592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d_model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30742" y="3418999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d_ff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45118" y="3418999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16618" y="3418999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d_k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83368" y="3418999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d_v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50118" y="3418999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P_drop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02618" y="3418999"/>
              <a:ext cx="316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ε_ls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5118" y="3418999"/>
              <a:ext cx="854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train steps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98118" y="3418999"/>
              <a:ext cx="727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PPL (dev)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41118" y="3418999"/>
              <a:ext cx="8097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BLEU (dev)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74618" y="3418999"/>
              <a:ext cx="8396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params×10⁶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1500" y="3600450"/>
              <a:ext cx="11049000" cy="2667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9618" y="36856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base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68742" y="36856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30742" y="36856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45118" y="36856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16618" y="36856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83368" y="36856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50118" y="36856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02618" y="36856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55118" y="36856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98118" y="3685699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4.92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41118" y="3685699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25.8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274618" y="36856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71500" y="386715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845118" y="3952399"/>
              <a:ext cx="67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16618" y="39523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83368" y="39523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50118" y="39523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02618" y="39523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55118" y="39523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98118" y="39523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5.29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941118" y="39523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24.9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74618" y="39523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-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71500" y="4133850"/>
              <a:ext cx="11049000" cy="2667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845118" y="42190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16618" y="42190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128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83368" y="42190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128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750118" y="42190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702618" y="42190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55118" y="42190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98118" y="42190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5.00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941118" y="42190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274618" y="42190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-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71500" y="440055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9618" y="4485799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(A)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845118" y="44857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416618" y="44857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083368" y="44857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750118" y="44857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702618" y="44857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55118" y="44857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798118" y="44857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4.91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941118" y="44857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25.8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274618" y="44857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-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71500" y="4667250"/>
              <a:ext cx="11049000" cy="2667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845118" y="47524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416618" y="47524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16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083368" y="47524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16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750118" y="47524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702618" y="47524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655118" y="47524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798118" y="47524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5.01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941118" y="47524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274618" y="47524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-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571500" y="493395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49618" y="5019199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(B)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845118" y="50191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416618" y="50191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16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4083368" y="50191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4750118" y="50191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702618" y="50191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655118" y="50191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798118" y="50191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5.16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941118" y="50191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25.1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274618" y="50191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58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571500" y="5200650"/>
              <a:ext cx="11049000" cy="2667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2845118" y="52858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3416618" y="52858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32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4083368" y="52858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4750118" y="52858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5702618" y="52858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655118" y="52858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798118" y="52858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5.01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941118" y="52858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25.4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274618" y="52858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60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571500" y="546735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1368742" y="55525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2130742" y="55525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2845118" y="55525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3416618" y="55525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4083368" y="55525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4750118" y="55525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5702618" y="55525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6655118" y="55525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7798118" y="5552599"/>
              <a:ext cx="2668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6.11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8941118" y="55525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23.7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0274618" y="55525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36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571500" y="5734050"/>
              <a:ext cx="11049000" cy="2667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1368742" y="58192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2130742" y="58192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2845118" y="58192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3416618" y="58192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4083368" y="58192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4750118" y="58192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5702618" y="58192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6655118" y="58192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7798118" y="58192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5.19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8941118" y="58192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25.3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0274618" y="58192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50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571500" y="600075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1368742" y="60859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2130742" y="60859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2845118" y="60859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3416618" y="60859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4083368" y="60859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4750118" y="60859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5702618" y="60859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6655118" y="60859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7798118" y="60859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4.88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8941118" y="60859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25.5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10274618" y="60859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80</a:t>
              </a:r>
            </a:p>
          </p:txBody>
        </p:sp>
      </p:grpSp>
      <p:sp>
        <p:nvSpPr>
          <p:cNvPr id="144" name="TextBox 144"/>
          <p:cNvSpPr txBox="1"/>
          <p:nvPr/>
        </p:nvSpPr>
        <p:spPr>
          <a:xfrm>
            <a:off x="2823222" y="6435566"/>
            <a:ext cx="65455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Table 3: Variations on the Transformer architecture. Unlisted values are identical to those of the base model.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3558219" y="6578441"/>
            <a:ext cx="50755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All metrics are on the English-to-German translation development set, newstest2013.</a:t>
            </a:r>
          </a:p>
        </p:txBody>
      </p:sp>
      <p:sp>
        <p:nvSpPr>
          <p:cNvPr id="146" name="Line 146"/>
          <p:cNvSpPr/>
          <p:nvPr/>
        </p:nvSpPr>
        <p:spPr>
          <a:xfrm>
            <a:off x="571500" y="5905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sp>
        <p:nvSpPr>
          <p:cNvPr id="147" name="TextBox 147"/>
          <p:cNvSpPr txBox="1"/>
          <p:nvPr/>
        </p:nvSpPr>
        <p:spPr>
          <a:xfrm>
            <a:off x="558165" y="6363652"/>
            <a:ext cx="43358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Source: Vaswani et al., 'Attention Is All You Need' (2017)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10271808" y="6363652"/>
            <a:ext cx="15525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[Presentation Date]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11667315" y="6554152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952500"/>
            <a:ext cx="12192000" cy="285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476250" cy="47625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96340" y="358140"/>
            <a:ext cx="13266768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Interpretability: What Do the Attention Heads Learn?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9200" y="1028700"/>
            <a:ext cx="104770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Attention heads specialize in distinct linguistic functions, enabling interpretable model behavior.</a:t>
            </a:r>
          </a:p>
        </p:txBody>
      </p:sp>
      <p:sp>
        <p:nvSpPr>
          <p:cNvPr id="6" name="Freeform 6"/>
          <p:cNvSpPr/>
          <p:nvPr/>
        </p:nvSpPr>
        <p:spPr>
          <a:xfrm>
            <a:off x="952500" y="1619250"/>
            <a:ext cx="3048000" cy="1905000"/>
          </a:xfrm>
          <a:custGeom>
            <a:avLst/>
            <a:gdLst/>
            <a:ahLst/>
            <a:cxnLst/>
            <a:rect l="l" t="t" r="r" b="b"/>
            <a:pathLst>
              <a:path w="3048000" h="1905000">
                <a:moveTo>
                  <a:pt x="76200" y="0"/>
                </a:moveTo>
                <a:lnTo>
                  <a:pt x="2971800" y="0"/>
                </a:lnTo>
                <a:cubicBezTo>
                  <a:pt x="3013884" y="0"/>
                  <a:pt x="3048000" y="34116"/>
                  <a:pt x="3048000" y="76200"/>
                </a:cubicBezTo>
                <a:lnTo>
                  <a:pt x="3048000" y="1828800"/>
                </a:lnTo>
                <a:cubicBezTo>
                  <a:pt x="3048000" y="1870884"/>
                  <a:pt x="3013884" y="1905000"/>
                  <a:pt x="2971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952500" y="1619250"/>
            <a:ext cx="3048000" cy="381000"/>
          </a:xfrm>
          <a:prstGeom prst="rect">
            <a:avLst/>
          </a:prstGeom>
          <a:solidFill>
            <a:srgbClr val="00C9A7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68985" y="1645920"/>
            <a:ext cx="381502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Multi-Head Attention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2545" y="2203132"/>
            <a:ext cx="352410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Effective and interpretable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2545" y="2584132"/>
            <a:ext cx="313853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Heads specialize in tasks</a:t>
            </a:r>
          </a:p>
        </p:txBody>
      </p:sp>
      <p:sp>
        <p:nvSpPr>
          <p:cNvPr id="11" name="Freeform 11"/>
          <p:cNvSpPr/>
          <p:nvPr/>
        </p:nvSpPr>
        <p:spPr>
          <a:xfrm>
            <a:off x="4572000" y="1619250"/>
            <a:ext cx="3048000" cy="1905000"/>
          </a:xfrm>
          <a:custGeom>
            <a:avLst/>
            <a:gdLst/>
            <a:ahLst/>
            <a:cxnLst/>
            <a:rect l="l" t="t" r="r" b="b"/>
            <a:pathLst>
              <a:path w="3048000" h="1905000">
                <a:moveTo>
                  <a:pt x="76200" y="0"/>
                </a:moveTo>
                <a:lnTo>
                  <a:pt x="2971800" y="0"/>
                </a:lnTo>
                <a:cubicBezTo>
                  <a:pt x="3013884" y="0"/>
                  <a:pt x="3048000" y="34116"/>
                  <a:pt x="3048000" y="76200"/>
                </a:cubicBezTo>
                <a:lnTo>
                  <a:pt x="3048000" y="1828800"/>
                </a:lnTo>
                <a:cubicBezTo>
                  <a:pt x="3048000" y="1870884"/>
                  <a:pt x="3013884" y="1905000"/>
                  <a:pt x="2971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572000" y="1619250"/>
            <a:ext cx="3048000" cy="381000"/>
          </a:xfrm>
          <a:prstGeom prst="rect">
            <a:avLst/>
          </a:prstGeom>
          <a:solidFill>
            <a:srgbClr val="FF6B6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976859" y="1645920"/>
            <a:ext cx="423828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Syntactic Dependencies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32045" y="2203132"/>
            <a:ext cx="299394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Long-range verb linking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32045" y="2584132"/>
            <a:ext cx="358435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E.g., 'making' → 'difficult'</a:t>
            </a:r>
          </a:p>
        </p:txBody>
      </p:sp>
      <p:sp>
        <p:nvSpPr>
          <p:cNvPr id="16" name="Freeform 16"/>
          <p:cNvSpPr/>
          <p:nvPr/>
        </p:nvSpPr>
        <p:spPr>
          <a:xfrm>
            <a:off x="8191500" y="1619250"/>
            <a:ext cx="3048000" cy="1905000"/>
          </a:xfrm>
          <a:custGeom>
            <a:avLst/>
            <a:gdLst/>
            <a:ahLst/>
            <a:cxnLst/>
            <a:rect l="l" t="t" r="r" b="b"/>
            <a:pathLst>
              <a:path w="3048000" h="1905000">
                <a:moveTo>
                  <a:pt x="76200" y="0"/>
                </a:moveTo>
                <a:lnTo>
                  <a:pt x="2971800" y="0"/>
                </a:lnTo>
                <a:cubicBezTo>
                  <a:pt x="3013884" y="0"/>
                  <a:pt x="3048000" y="34116"/>
                  <a:pt x="3048000" y="76200"/>
                </a:cubicBezTo>
                <a:lnTo>
                  <a:pt x="3048000" y="1828800"/>
                </a:lnTo>
                <a:cubicBezTo>
                  <a:pt x="3048000" y="1870884"/>
                  <a:pt x="3013884" y="1905000"/>
                  <a:pt x="2971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8191500" y="1619250"/>
            <a:ext cx="3048000" cy="381000"/>
          </a:xfrm>
          <a:prstGeom prst="rect">
            <a:avLst/>
          </a:prstGeom>
          <a:solidFill>
            <a:srgbClr val="4ECDC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899997" y="1645920"/>
            <a:ext cx="363100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Anaphora Resolution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51545" y="2203132"/>
            <a:ext cx="339156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Pronoun antecedent linking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51545" y="2584132"/>
            <a:ext cx="431934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E.g., 'its' → 'Law', 'application'</a:t>
            </a:r>
          </a:p>
        </p:txBody>
      </p:sp>
      <p:sp>
        <p:nvSpPr>
          <p:cNvPr id="21" name="Freeform 21"/>
          <p:cNvSpPr/>
          <p:nvPr/>
        </p:nvSpPr>
        <p:spPr>
          <a:xfrm>
            <a:off x="952500" y="3810000"/>
            <a:ext cx="10477500" cy="952500"/>
          </a:xfrm>
          <a:custGeom>
            <a:avLst/>
            <a:gdLst/>
            <a:ahLst/>
            <a:cxnLst/>
            <a:rect l="l" t="t" r="r" b="b"/>
            <a:pathLst>
              <a:path w="10477500" h="952500">
                <a:moveTo>
                  <a:pt x="76200" y="0"/>
                </a:moveTo>
                <a:lnTo>
                  <a:pt x="10401300" y="0"/>
                </a:lnTo>
                <a:cubicBezTo>
                  <a:pt x="10443384" y="0"/>
                  <a:pt x="10477500" y="34116"/>
                  <a:pt x="10477500" y="76200"/>
                </a:cubicBezTo>
                <a:lnTo>
                  <a:pt x="10477500" y="876300"/>
                </a:lnTo>
                <a:cubicBezTo>
                  <a:pt x="10477500" y="918384"/>
                  <a:pt x="10443384" y="952500"/>
                  <a:pt x="10401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312545" y="4012882"/>
            <a:ext cx="806662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Attend to neighbors or boundaries, capturing structural patterns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0" y="4953000"/>
            <a:ext cx="4000500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3D8F"/>
            </a:solidFill>
          </a:ln>
        </p:spPr>
      </p:sp>
      <p:pic>
        <p:nvPicPr>
          <p:cNvPr id="24" name="Imag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3065" y="5048250"/>
            <a:ext cx="673418" cy="13335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7700010" y="6537960"/>
            <a:ext cx="49027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Attention mechanism showing long-distance dependencies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6260" y="65379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学而时习之，不亦说乎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08448" y="6554152"/>
            <a:ext cx="4253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476250" cy="47625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96340" y="405765"/>
            <a:ext cx="1121721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Interpretability: Specialized Attention Heads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1047750"/>
            <a:ext cx="11049000" cy="428625"/>
          </a:xfrm>
          <a:prstGeom prst="rect">
            <a:avLst/>
          </a:pr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4855" y="1187768"/>
            <a:ext cx="102406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A3D8F"/>
                </a:solidFill>
                <a:latin typeface="Microsoft YaHei"/>
                <a:ea typeface="Microsoft YaHei"/>
                <a:cs typeface="Microsoft YaHei"/>
              </a:rPr>
              <a:t>Different attention heads specialize in distinct linguistic patterns, enabling nuanced understanding.</a:t>
            </a:r>
          </a:p>
        </p:txBody>
      </p:sp>
      <p:sp>
        <p:nvSpPr>
          <p:cNvPr id="7" name="Polygon 7"/>
          <p:cNvSpPr/>
          <p:nvPr/>
        </p:nvSpPr>
        <p:spPr>
          <a:xfrm>
            <a:off x="1143000" y="152400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190500" y="0"/>
                </a:moveTo>
                <a:lnTo>
                  <a:pt x="3429000" y="0"/>
                </a:lnTo>
                <a:lnTo>
                  <a:pt x="3238500" y="1905000"/>
                </a:lnTo>
                <a:lnTo>
                  <a:pt x="0" y="1905000"/>
                </a:ln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713681" y="1645920"/>
            <a:ext cx="22876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Local Bigram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3045" y="2203132"/>
            <a:ext cx="40060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Attends to immediate next word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03045" y="2584132"/>
            <a:ext cx="278911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Learns local patterns</a:t>
            </a:r>
          </a:p>
        </p:txBody>
      </p:sp>
      <p:sp>
        <p:nvSpPr>
          <p:cNvPr id="11" name="Polygon 11"/>
          <p:cNvSpPr/>
          <p:nvPr/>
        </p:nvSpPr>
        <p:spPr>
          <a:xfrm>
            <a:off x="4572000" y="152400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190500" y="0"/>
                </a:moveTo>
                <a:lnTo>
                  <a:pt x="3429000" y="0"/>
                </a:lnTo>
                <a:lnTo>
                  <a:pt x="3238500" y="1905000"/>
                </a:lnTo>
                <a:lnTo>
                  <a:pt x="0" y="1905000"/>
                </a:ln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179485" y="1645920"/>
            <a:ext cx="221402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Global Scope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32045" y="2203132"/>
            <a:ext cx="405426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Broad attention to sentence end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32045" y="2584132"/>
            <a:ext cx="384943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Captures sentential structure</a:t>
            </a:r>
          </a:p>
        </p:txBody>
      </p:sp>
      <p:sp>
        <p:nvSpPr>
          <p:cNvPr id="15" name="Polygon 15"/>
          <p:cNvSpPr/>
          <p:nvPr/>
        </p:nvSpPr>
        <p:spPr>
          <a:xfrm>
            <a:off x="8001000" y="152400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190500" y="0"/>
                </a:moveTo>
                <a:lnTo>
                  <a:pt x="3429000" y="0"/>
                </a:lnTo>
                <a:lnTo>
                  <a:pt x="3238500" y="1905000"/>
                </a:lnTo>
                <a:lnTo>
                  <a:pt x="0" y="1905000"/>
                </a:ln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111623" y="1645920"/>
            <a:ext cx="320775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Multi-Head Design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61045" y="2203132"/>
            <a:ext cx="36445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Different subspaces capture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61045" y="2584132"/>
            <a:ext cx="41386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Various relationships effectively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905000" y="3619500"/>
            <a:ext cx="8382000" cy="209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3D8F"/>
            </a:solidFill>
          </a:ln>
        </p:spPr>
      </p:sp>
      <p:pic>
        <p:nvPicPr>
          <p:cNvPr id="20" name="Imag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462" y="3714750"/>
            <a:ext cx="1742122" cy="1905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751838" y="5680710"/>
            <a:ext cx="86883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Two attention heads in layer 5 resolving anaphora. Head 5 focuses on 'Law', head 6 on 'application'.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0070" y="6189345"/>
            <a:ext cx="35718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Source: Attention is All You Need (Vaswani et al., 2017)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6260" y="6442710"/>
            <a:ext cx="16603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Times New Roman"/>
                <a:ea typeface="KaiTi"/>
                <a:cs typeface="Times New Roman"/>
              </a:rPr>
              <a:t>学而时习之 不亦说乎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170110" y="645890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571500" y="381000"/>
            <a:ext cx="476250" cy="47625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96340" y="358140"/>
            <a:ext cx="1169797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Microsoft YaHei"/>
                <a:ea typeface="Microsoft YaHei"/>
                <a:cs typeface="Microsoft YaHei"/>
              </a:rPr>
              <a:t>Generalization: Strong Performance on Parsing</a:t>
            </a:r>
          </a:p>
        </p:txBody>
      </p:sp>
      <p:sp>
        <p:nvSpPr>
          <p:cNvPr id="5" name="Rectangle 5"/>
          <p:cNvSpPr/>
          <p:nvPr/>
        </p:nvSpPr>
        <p:spPr>
          <a:xfrm>
            <a:off x="381000" y="952500"/>
            <a:ext cx="11430000" cy="428625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1061085"/>
            <a:ext cx="84341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The Transformer demonstrates strong generalization capabilities in English constituency parsing.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52500" y="1714500"/>
            <a:ext cx="5078159" cy="1905000"/>
            <a:chOff x="952500" y="1714500"/>
            <a:chExt cx="5078159" cy="1905000"/>
          </a:xfrm>
        </p:grpSpPr>
        <p:sp>
          <p:nvSpPr>
            <p:cNvPr id="7" name="Rectangle 7"/>
            <p:cNvSpPr/>
            <p:nvPr/>
          </p:nvSpPr>
          <p:spPr>
            <a:xfrm>
              <a:off x="952500" y="1714500"/>
              <a:ext cx="3048000" cy="1905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8658" y="1836420"/>
              <a:ext cx="265568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Task Overview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17295" y="2298382"/>
              <a:ext cx="41868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• Predict syntactic tree structure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17295" y="2679382"/>
              <a:ext cx="48133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• Applied to English constituency parsing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0" y="1714500"/>
            <a:ext cx="4873323" cy="2286000"/>
            <a:chOff x="4572000" y="1714500"/>
            <a:chExt cx="4873323" cy="2286000"/>
          </a:xfrm>
        </p:grpSpPr>
        <p:sp>
          <p:nvSpPr>
            <p:cNvPr id="12" name="Rectangle 12"/>
            <p:cNvSpPr/>
            <p:nvPr/>
          </p:nvSpPr>
          <p:spPr>
            <a:xfrm>
              <a:off x="4572000" y="1714500"/>
              <a:ext cx="3048000" cy="2286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03037" y="1836420"/>
              <a:ext cx="138592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Results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36795" y="2298382"/>
              <a:ext cx="433139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• 91.3 F1 with 40K training sentences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36795" y="2679382"/>
              <a:ext cx="46085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• Outperforms Berkeley Parser (90.4)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40605" y="30927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• Semi-supervised: 92.7 F1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91500" y="1714500"/>
            <a:ext cx="4499801" cy="1905000"/>
            <a:chOff x="8191500" y="1714500"/>
            <a:chExt cx="4499801" cy="1905000"/>
          </a:xfrm>
        </p:grpSpPr>
        <p:sp>
          <p:nvSpPr>
            <p:cNvPr id="18" name="Rectangle 18"/>
            <p:cNvSpPr/>
            <p:nvPr/>
          </p:nvSpPr>
          <p:spPr>
            <a:xfrm>
              <a:off x="8191500" y="1714500"/>
              <a:ext cx="3048000" cy="1905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64905" y="1836420"/>
              <a:ext cx="190119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Conclusion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56295" y="2298382"/>
              <a:ext cx="42350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• Proves Transformer’s versatility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56295" y="2679382"/>
              <a:ext cx="41747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• Beyond machine translation tasks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514150" y="3822382"/>
            <a:ext cx="91637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Table 4: The Transformer generalizes well to English constituency parsing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99813" y="4156710"/>
            <a:ext cx="29923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(Results are on Section 23 of WSJ)</a:t>
            </a:r>
          </a:p>
        </p:txBody>
      </p:sp>
      <p:grpSp>
        <p:nvGrpSpPr>
          <p:cNvPr id="87" name="Group 87"/>
          <p:cNvGrpSpPr/>
          <p:nvPr/>
        </p:nvGrpSpPr>
        <p:grpSpPr>
          <a:xfrm>
            <a:off x="1905000" y="4381500"/>
            <a:ext cx="6667500" cy="2590800"/>
            <a:chOff x="1905000" y="4381500"/>
            <a:chExt cx="6667500" cy="2590800"/>
          </a:xfrm>
        </p:grpSpPr>
        <p:sp>
          <p:nvSpPr>
            <p:cNvPr id="25" name="Rectangle 25"/>
            <p:cNvSpPr/>
            <p:nvPr/>
          </p:nvSpPr>
          <p:spPr>
            <a:xfrm>
              <a:off x="1905000" y="4381500"/>
              <a:ext cx="3810000" cy="285750"/>
            </a:xfrm>
            <a:prstGeom prst="rect">
              <a:avLst/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15000" y="4381500"/>
              <a:ext cx="1905000" cy="285750"/>
            </a:xfrm>
            <a:prstGeom prst="rect">
              <a:avLst/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20000" y="4381500"/>
              <a:ext cx="952500" cy="285750"/>
            </a:xfrm>
            <a:prstGeom prst="rect">
              <a:avLst/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05581" y="4442460"/>
              <a:ext cx="6088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Parser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10503" y="4442460"/>
              <a:ext cx="7139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Training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95438" y="4442460"/>
              <a:ext cx="801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WSJ 23 F1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1905000" y="4667250"/>
              <a:ext cx="6667500" cy="304800"/>
              <a:chOff x="1905000" y="4667250"/>
              <a:chExt cx="6667500" cy="3048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1905000" y="4667250"/>
                <a:ext cx="3810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5715000" y="4667250"/>
                <a:ext cx="1905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7620000" y="4667250"/>
                <a:ext cx="9525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2370772" y="4728210"/>
                <a:ext cx="287845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Vinyals &amp; Kaiser el al. (2014) [37]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613844" y="4728210"/>
                <a:ext cx="21073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WSJ only, discriminative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888224" y="4728210"/>
                <a:ext cx="4160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88.3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1905000" y="4953000"/>
              <a:ext cx="6667500" cy="304800"/>
              <a:chOff x="1905000" y="4953000"/>
              <a:chExt cx="6667500" cy="3048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1905000" y="4953000"/>
                <a:ext cx="3810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5715000" y="4953000"/>
                <a:ext cx="1905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7620000" y="4953000"/>
                <a:ext cx="9525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699385" y="5013960"/>
                <a:ext cx="222123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Petrov et al. (2006) [29]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613844" y="5013960"/>
                <a:ext cx="21073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WSJ only, discriminative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888224" y="5013960"/>
                <a:ext cx="4160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90.4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1905000" y="5238750"/>
              <a:ext cx="6667500" cy="304800"/>
              <a:chOff x="1905000" y="5238750"/>
              <a:chExt cx="6667500" cy="3048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1905000" y="5238750"/>
                <a:ext cx="3810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5715000" y="5238750"/>
                <a:ext cx="1905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7620000" y="5238750"/>
                <a:ext cx="9525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2865882" y="5299710"/>
                <a:ext cx="188823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Zhu et al. (2013) [40]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613844" y="5299710"/>
                <a:ext cx="21073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WSJ only, discriminative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888224" y="5299710"/>
                <a:ext cx="4160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90.4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1905000" y="5524500"/>
              <a:ext cx="6667500" cy="304800"/>
              <a:chOff x="1905000" y="5524500"/>
              <a:chExt cx="6667500" cy="3048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1905000" y="5524500"/>
                <a:ext cx="3810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5715000" y="5524500"/>
                <a:ext cx="1905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7620000" y="5524500"/>
                <a:ext cx="9525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2865882" y="5585460"/>
                <a:ext cx="188823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Dyer et al. (2016) [8]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5613844" y="5585460"/>
                <a:ext cx="21073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WSJ only, discriminative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910131" y="5585460"/>
                <a:ext cx="37223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91.7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1905000" y="5810250"/>
              <a:ext cx="6667500" cy="304800"/>
              <a:chOff x="1905000" y="5810250"/>
              <a:chExt cx="6667500" cy="30480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1905000" y="5810250"/>
                <a:ext cx="3810000" cy="285750"/>
              </a:xfrm>
              <a:prstGeom prst="rect">
                <a:avLst/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5715000" y="5810250"/>
                <a:ext cx="1905000" cy="285750"/>
              </a:xfrm>
              <a:prstGeom prst="rect">
                <a:avLst/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7620000" y="5810250"/>
                <a:ext cx="952500" cy="285750"/>
              </a:xfrm>
              <a:prstGeom prst="rect">
                <a:avLst/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2782634" y="5871210"/>
                <a:ext cx="205473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Transformer (4 layers)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5613844" y="5871210"/>
                <a:ext cx="21073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WSJ only, discriminative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910131" y="5871210"/>
                <a:ext cx="37223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91.3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1905000" y="6096000"/>
              <a:ext cx="6667500" cy="304800"/>
              <a:chOff x="1905000" y="6096000"/>
              <a:chExt cx="6667500" cy="3048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1905000" y="6096000"/>
                <a:ext cx="3810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5715000" y="6096000"/>
                <a:ext cx="1905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7620000" y="6096000"/>
                <a:ext cx="9525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2865882" y="6156960"/>
                <a:ext cx="188823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Zhu et al. (2013) [40]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5955602" y="6156960"/>
                <a:ext cx="14237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semi-supervised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7910131" y="6156960"/>
                <a:ext cx="37223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91.3</a:t>
                </a: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1905000" y="6381750"/>
              <a:ext cx="6667500" cy="304800"/>
              <a:chOff x="1905000" y="6381750"/>
              <a:chExt cx="6667500" cy="3048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1905000" y="6381750"/>
                <a:ext cx="3810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5715000" y="6381750"/>
                <a:ext cx="1905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5" name="Rectangle 75"/>
              <p:cNvSpPr/>
              <p:nvPr/>
            </p:nvSpPr>
            <p:spPr>
              <a:xfrm>
                <a:off x="7620000" y="6381750"/>
                <a:ext cx="9525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2651188" y="6442710"/>
                <a:ext cx="231762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Huang &amp; Harper (2009) [14]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5955602" y="6442710"/>
                <a:ext cx="14237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semi-supervised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7910131" y="6442710"/>
                <a:ext cx="37223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91.3</a:t>
                </a: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1905000" y="6667500"/>
              <a:ext cx="6667500" cy="304800"/>
              <a:chOff x="1905000" y="6667500"/>
              <a:chExt cx="6667500" cy="304800"/>
            </a:xfrm>
          </p:grpSpPr>
          <p:sp>
            <p:nvSpPr>
              <p:cNvPr id="80" name="Rectangle 80"/>
              <p:cNvSpPr/>
              <p:nvPr/>
            </p:nvSpPr>
            <p:spPr>
              <a:xfrm>
                <a:off x="1905000" y="6667500"/>
                <a:ext cx="3810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1" name="Rectangle 81"/>
              <p:cNvSpPr/>
              <p:nvPr/>
            </p:nvSpPr>
            <p:spPr>
              <a:xfrm>
                <a:off x="5715000" y="6667500"/>
                <a:ext cx="1905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7620000" y="6667500"/>
                <a:ext cx="9525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2607373" y="6728460"/>
                <a:ext cx="240525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McClosky et al. (2006) [26]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5955602" y="6728460"/>
                <a:ext cx="14237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semi-supervised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7910131" y="6728460"/>
                <a:ext cx="37223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92.1</a:t>
                </a:r>
              </a:p>
            </p:txBody>
          </p:sp>
        </p:grpSp>
      </p:grpSp>
      <p:sp>
        <p:nvSpPr>
          <p:cNvPr id="88" name="TextBox 88"/>
          <p:cNvSpPr txBox="1"/>
          <p:nvPr/>
        </p:nvSpPr>
        <p:spPr>
          <a:xfrm>
            <a:off x="556260" y="653796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学术严谨，追求卓越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170110" y="655415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29590" y="215265"/>
            <a:ext cx="7826588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Conclusion &amp; Core Contributions</a:t>
            </a:r>
          </a:p>
        </p:txBody>
      </p:sp>
      <p:sp>
        <p:nvSpPr>
          <p:cNvPr id="4" name="Freeform 4"/>
          <p:cNvSpPr/>
          <p:nvPr/>
        </p:nvSpPr>
        <p:spPr>
          <a:xfrm>
            <a:off x="381000" y="762000"/>
            <a:ext cx="11430000" cy="428625"/>
          </a:xfrm>
          <a:custGeom>
            <a:avLst/>
            <a:gdLst/>
            <a:ahLst/>
            <a:cxnLst/>
            <a:rect l="l" t="t" r="r" b="b"/>
            <a:pathLst>
              <a:path w="11430000" h="428625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390525"/>
                </a:lnTo>
                <a:cubicBezTo>
                  <a:pt x="11430000" y="411567"/>
                  <a:pt x="11412942" y="428625"/>
                  <a:pt x="1139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2450" y="838200"/>
            <a:ext cx="115833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The Transformer fundamentally changed how we approach sequence modeling through attention mechanisms.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-2693479" y="1714500"/>
            <a:ext cx="9958959" cy="2857500"/>
            <a:chOff x="-2693479" y="1714500"/>
            <a:chExt cx="9958959" cy="2857500"/>
          </a:xfrm>
        </p:grpSpPr>
        <p:sp>
          <p:nvSpPr>
            <p:cNvPr id="7" name="Rectangle 7"/>
            <p:cNvSpPr/>
            <p:nvPr/>
          </p:nvSpPr>
          <p:spPr>
            <a:xfrm>
              <a:off x="571500" y="1714500"/>
              <a:ext cx="3429000" cy="28575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  <a:effectLst>
              <a:outerShdw blurRad="76200" dist="107763" dir="8100000" algn="tl" rotWithShape="0">
                <a:srgbClr val="FFFFFF">
                  <a:alpha val="300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571500" y="1714500"/>
              <a:ext cx="3429000" cy="762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6531" y="1931670"/>
              <a:ext cx="307893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The Transformer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-2693479" y="2727960"/>
              <a:ext cx="99589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Introduced a paradigm shift: attention mechanisms alone are sufficient for state-of-the-art sequence modeling.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22451" y="1714500"/>
            <a:ext cx="9547098" cy="2857500"/>
            <a:chOff x="1322451" y="1714500"/>
            <a:chExt cx="9547098" cy="28575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714500"/>
              <a:ext cx="3429000" cy="28575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  <a:effectLst>
              <a:outerShdw blurRad="76200" dist="107763" dir="8100000" algn="tl" rotWithShape="0">
                <a:srgbClr val="FFFFFF">
                  <a:alpha val="300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4381500" y="1714500"/>
              <a:ext cx="3429000" cy="762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82922" y="1931670"/>
              <a:ext cx="322615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Key Contributions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22451" y="2727960"/>
              <a:ext cx="95470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Architecture: A novel, recurrence-free, convolution-free encoder-decoder model based solely on attention.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70404" y="2966085"/>
              <a:ext cx="72511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Efficiency: Massively parallelizable, leading to drastically reduced training times.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641723" y="1714500"/>
            <a:ext cx="10528554" cy="3619500"/>
            <a:chOff x="4641723" y="1714500"/>
            <a:chExt cx="10528554" cy="3619500"/>
          </a:xfrm>
        </p:grpSpPr>
        <p:sp>
          <p:nvSpPr>
            <p:cNvPr id="18" name="Rectangle 18"/>
            <p:cNvSpPr/>
            <p:nvPr/>
          </p:nvSpPr>
          <p:spPr>
            <a:xfrm>
              <a:off x="8191500" y="1714500"/>
              <a:ext cx="3429000" cy="36195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  <a:effectLst>
              <a:outerShdw blurRad="76200" dist="107763" dir="8100000" algn="tl" rotWithShape="0">
                <a:srgbClr val="FFFFFF">
                  <a:alpha val="300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8191500" y="1714500"/>
              <a:ext cx="3429000" cy="762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13750" y="1931670"/>
              <a:ext cx="27845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Further Impact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41723" y="2727960"/>
              <a:ext cx="105285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Modeling: Constant operational path length between any two positions, facilitating learning of long-range dependencies.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35549" y="2966085"/>
              <a:ext cx="87409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Performance: Achieved new SOTA results on major machine translation benchmarks with lower cost.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40950" y="3220402"/>
              <a:ext cx="61300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Generality: Demonstrated strong performance on English constituency parsing.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56260" y="6537960"/>
            <a:ext cx="26681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Dalian University of Technology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70110" y="655415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952500"/>
            <a:ext cx="12192000" cy="285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381000"/>
            <a:ext cx="476250" cy="381000"/>
            <a:chOff x="571500" y="381000"/>
            <a:chExt cx="476250" cy="381000"/>
          </a:xfrm>
        </p:grpSpPr>
        <p:sp>
          <p:nvSpPr>
            <p:cNvPr id="3" name="Freeform 3"/>
            <p:cNvSpPr/>
            <p:nvPr/>
          </p:nvSpPr>
          <p:spPr>
            <a:xfrm>
              <a:off x="571500" y="38100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619125" y="4286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0"/>
                  </a:moveTo>
                  <a:lnTo>
                    <a:pt x="381000" y="0"/>
                  </a:lnTo>
                  <a:lnTo>
                    <a:pt x="381000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666750" y="476250"/>
              <a:ext cx="285750" cy="47625"/>
            </a:xfrm>
            <a:custGeom>
              <a:avLst/>
              <a:gdLst/>
              <a:ahLst/>
              <a:cxnLst/>
              <a:rect l="l" t="t" r="r" b="b"/>
              <a:pathLst>
                <a:path w="285750" h="47625">
                  <a:moveTo>
                    <a:pt x="0" y="0"/>
                  </a:moveTo>
                  <a:lnTo>
                    <a:pt x="285750" y="0"/>
                  </a:lnTo>
                  <a:lnTo>
                    <a:pt x="285750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666750" y="571500"/>
              <a:ext cx="285750" cy="47625"/>
            </a:xfrm>
            <a:custGeom>
              <a:avLst/>
              <a:gdLst/>
              <a:ahLst/>
              <a:cxnLst/>
              <a:rect l="l" t="t" r="r" b="b"/>
              <a:pathLst>
                <a:path w="285750" h="47625">
                  <a:moveTo>
                    <a:pt x="0" y="0"/>
                  </a:moveTo>
                  <a:lnTo>
                    <a:pt x="285750" y="0"/>
                  </a:lnTo>
                  <a:lnTo>
                    <a:pt x="285750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666750" y="666750"/>
              <a:ext cx="285750" cy="47625"/>
            </a:xfrm>
            <a:custGeom>
              <a:avLst/>
              <a:gdLst/>
              <a:ahLst/>
              <a:cxnLst/>
              <a:rect l="l" t="t" r="r" b="b"/>
              <a:pathLst>
                <a:path w="285750" h="47625">
                  <a:moveTo>
                    <a:pt x="0" y="0"/>
                  </a:moveTo>
                  <a:lnTo>
                    <a:pt x="285750" y="0"/>
                  </a:lnTo>
                  <a:lnTo>
                    <a:pt x="285750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101090" y="262890"/>
            <a:ext cx="666264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Impact &amp; Future Directions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762000"/>
            <a:ext cx="11430000" cy="4286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54355" y="854392"/>
            <a:ext cx="68267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This work defined a new paradigm in NLP, powering the LLM revolution.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1500" y="1524000"/>
            <a:ext cx="13307711" cy="2667000"/>
            <a:chOff x="571500" y="1524000"/>
            <a:chExt cx="13307711" cy="2667000"/>
          </a:xfrm>
        </p:grpSpPr>
        <p:sp>
          <p:nvSpPr>
            <p:cNvPr id="12" name="Polygon 12"/>
            <p:cNvSpPr/>
            <p:nvPr/>
          </p:nvSpPr>
          <p:spPr>
            <a:xfrm>
              <a:off x="571500" y="1524000"/>
              <a:ext cx="2476500" cy="2667000"/>
            </a:xfrm>
            <a:custGeom>
              <a:avLst/>
              <a:gdLst/>
              <a:ahLst/>
              <a:cxnLst/>
              <a:rect l="l" t="t" r="r" b="b"/>
              <a:pathLst>
                <a:path w="2476500" h="2667000">
                  <a:moveTo>
                    <a:pt x="0" y="0"/>
                  </a:moveTo>
                  <a:lnTo>
                    <a:pt x="2476500" y="0"/>
                  </a:lnTo>
                  <a:lnTo>
                    <a:pt x="2476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" name="Polygon 13"/>
            <p:cNvSpPr/>
            <p:nvPr/>
          </p:nvSpPr>
          <p:spPr>
            <a:xfrm>
              <a:off x="571500" y="1524000"/>
              <a:ext cx="2476500" cy="2667000"/>
            </a:xfrm>
            <a:custGeom>
              <a:avLst/>
              <a:gdLst/>
              <a:ahLst/>
              <a:cxnLst/>
              <a:rect l="l" t="t" r="r" b="b"/>
              <a:pathLst>
                <a:path w="2476500" h="2667000">
                  <a:moveTo>
                    <a:pt x="0" y="0"/>
                  </a:moveTo>
                  <a:lnTo>
                    <a:pt x="2476500" y="0"/>
                  </a:lnTo>
                  <a:lnTo>
                    <a:pt x="2476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" y="1524000"/>
              <a:ext cx="2476500" cy="762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81195" y="1741170"/>
              <a:ext cx="125711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Impact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6295" y="2488882"/>
              <a:ext cx="130429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The Transformer has become the foundational architecture for nearly all modern NLP (BERT, GPT, T5, etc.).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006672" y="1524000"/>
            <a:ext cx="10067801" cy="2667000"/>
            <a:chOff x="4006672" y="1524000"/>
            <a:chExt cx="10067801" cy="2667000"/>
          </a:xfrm>
        </p:grpSpPr>
        <p:sp>
          <p:nvSpPr>
            <p:cNvPr id="18" name="Polygon 18"/>
            <p:cNvSpPr/>
            <p:nvPr/>
          </p:nvSpPr>
          <p:spPr>
            <a:xfrm>
              <a:off x="4381500" y="1524000"/>
              <a:ext cx="2476500" cy="2667000"/>
            </a:xfrm>
            <a:custGeom>
              <a:avLst/>
              <a:gdLst/>
              <a:ahLst/>
              <a:cxnLst/>
              <a:rect l="l" t="t" r="r" b="b"/>
              <a:pathLst>
                <a:path w="2476500" h="2667000">
                  <a:moveTo>
                    <a:pt x="0" y="0"/>
                  </a:moveTo>
                  <a:lnTo>
                    <a:pt x="2476500" y="0"/>
                  </a:lnTo>
                  <a:lnTo>
                    <a:pt x="2476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Polygon 19"/>
            <p:cNvSpPr/>
            <p:nvPr/>
          </p:nvSpPr>
          <p:spPr>
            <a:xfrm>
              <a:off x="4381500" y="1524000"/>
              <a:ext cx="2476500" cy="2667000"/>
            </a:xfrm>
            <a:custGeom>
              <a:avLst/>
              <a:gdLst/>
              <a:ahLst/>
              <a:cxnLst/>
              <a:rect l="l" t="t" r="r" b="b"/>
              <a:pathLst>
                <a:path w="2476500" h="2667000">
                  <a:moveTo>
                    <a:pt x="0" y="0"/>
                  </a:moveTo>
                  <a:lnTo>
                    <a:pt x="2476500" y="0"/>
                  </a:lnTo>
                  <a:lnTo>
                    <a:pt x="2476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81500" y="1524000"/>
              <a:ext cx="2476500" cy="762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06672" y="1741170"/>
              <a:ext cx="322615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Future Directions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6295" y="2488882"/>
              <a:ext cx="77894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Extending attention to other modalities (images, audio, video).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6295" y="2774632"/>
              <a:ext cx="942817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Investigating efficient (local/restricted) attention for very long sequences.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6295" y="3060382"/>
              <a:ext cx="83919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Exploring non-autoregressive or less sequential generation methods.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46295" y="3346132"/>
              <a:ext cx="75123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The paper's final sentence: 'We leave this for future work.'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191500" y="1524000"/>
            <a:ext cx="5054060" cy="2728912"/>
            <a:chOff x="8191500" y="1524000"/>
            <a:chExt cx="5054060" cy="2728912"/>
          </a:xfrm>
        </p:grpSpPr>
        <p:sp>
          <p:nvSpPr>
            <p:cNvPr id="27" name="Polygon 27"/>
            <p:cNvSpPr/>
            <p:nvPr/>
          </p:nvSpPr>
          <p:spPr>
            <a:xfrm>
              <a:off x="8191500" y="1524000"/>
              <a:ext cx="2476500" cy="2667000"/>
            </a:xfrm>
            <a:custGeom>
              <a:avLst/>
              <a:gdLst/>
              <a:ahLst/>
              <a:cxnLst/>
              <a:rect l="l" t="t" r="r" b="b"/>
              <a:pathLst>
                <a:path w="2476500" h="2667000">
                  <a:moveTo>
                    <a:pt x="0" y="0"/>
                  </a:moveTo>
                  <a:lnTo>
                    <a:pt x="2476500" y="0"/>
                  </a:lnTo>
                  <a:lnTo>
                    <a:pt x="2476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" name="Polygon 28"/>
            <p:cNvSpPr/>
            <p:nvPr/>
          </p:nvSpPr>
          <p:spPr>
            <a:xfrm>
              <a:off x="8191500" y="1524000"/>
              <a:ext cx="2476500" cy="2667000"/>
            </a:xfrm>
            <a:custGeom>
              <a:avLst/>
              <a:gdLst/>
              <a:ahLst/>
              <a:cxnLst/>
              <a:rect l="l" t="t" r="r" b="b"/>
              <a:pathLst>
                <a:path w="2476500" h="2667000">
                  <a:moveTo>
                    <a:pt x="0" y="0"/>
                  </a:moveTo>
                  <a:lnTo>
                    <a:pt x="2476500" y="0"/>
                  </a:lnTo>
                  <a:lnTo>
                    <a:pt x="2476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91500" y="1524000"/>
              <a:ext cx="2476500" cy="762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893207" y="1741170"/>
              <a:ext cx="107308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Notes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56295" y="2488882"/>
              <a:ext cx="457238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This work didn't just propose a model;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56295" y="2774632"/>
              <a:ext cx="31626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it defined a new paradigm.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56295" y="3060382"/>
              <a:ext cx="47892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Its impact is immense, powering the LLM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56295" y="3346132"/>
              <a:ext cx="42711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revolution. The future directions it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56295" y="3631882"/>
              <a:ext cx="388558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outlined are still active areas of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56295" y="3917632"/>
              <a:ext cx="19697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research today.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56260" y="6537960"/>
            <a:ext cx="26681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Dalian University of Technology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170110" y="655415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58140" y="186690"/>
            <a:ext cx="309590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Questions &amp; Discussion</a:t>
            </a:r>
          </a:p>
        </p:txBody>
      </p:sp>
      <p:sp>
        <p:nvSpPr>
          <p:cNvPr id="4" name="Freeform 4"/>
          <p:cNvSpPr/>
          <p:nvPr/>
        </p:nvSpPr>
        <p:spPr>
          <a:xfrm>
            <a:off x="381000" y="762000"/>
            <a:ext cx="11430000" cy="428625"/>
          </a:xfrm>
          <a:custGeom>
            <a:avLst/>
            <a:gdLst/>
            <a:ahLst/>
            <a:cxnLst/>
            <a:rect l="l" t="t" r="r" b="b"/>
            <a:pathLst>
              <a:path w="11430000" h="428625">
                <a:moveTo>
                  <a:pt x="57150" y="0"/>
                </a:moveTo>
                <a:lnTo>
                  <a:pt x="11372850" y="0"/>
                </a:lnTo>
                <a:cubicBezTo>
                  <a:pt x="11404413" y="0"/>
                  <a:pt x="11430000" y="25587"/>
                  <a:pt x="11430000" y="57150"/>
                </a:cubicBezTo>
                <a:lnTo>
                  <a:pt x="11430000" y="371475"/>
                </a:lnTo>
                <a:cubicBezTo>
                  <a:pt x="11430000" y="403038"/>
                  <a:pt x="11404413" y="428625"/>
                  <a:pt x="11372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A3D8F">
              <a:alpha val="10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57212" y="907256"/>
            <a:ext cx="73693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▸ This discussion will address key questions and gather insights to shape our strategy.</a:t>
            </a:r>
          </a:p>
        </p:txBody>
      </p:sp>
      <p:sp>
        <p:nvSpPr>
          <p:cNvPr id="6" name="Freeform 6"/>
          <p:cNvSpPr/>
          <p:nvPr/>
        </p:nvSpPr>
        <p:spPr>
          <a:xfrm>
            <a:off x="381000" y="1524000"/>
            <a:ext cx="11049000" cy="2857500"/>
          </a:xfrm>
          <a:custGeom>
            <a:avLst/>
            <a:gdLst/>
            <a:ahLst/>
            <a:cxnLst/>
            <a:rect l="l" t="t" r="r" b="b"/>
            <a:pathLst>
              <a:path w="11049000" h="2857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2781300"/>
                </a:lnTo>
                <a:cubicBezTo>
                  <a:pt x="11049000" y="2823384"/>
                  <a:pt x="11014884" y="2857500"/>
                  <a:pt x="10972800" y="2857500"/>
                </a:cubicBezTo>
                <a:lnTo>
                  <a:pt x="76200" y="2857500"/>
                </a:lnTo>
                <a:cubicBezTo>
                  <a:pt x="34116" y="2857500"/>
                  <a:pt x="0" y="2823384"/>
                  <a:pt x="0" y="2781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0A3D8F"/>
            </a:solidFill>
          </a:ln>
          <a:effectLst>
            <a:outerShdw blurRad="228600" dist="57150" dir="10799427" algn="tl" rotWithShape="0">
              <a:srgbClr val="000000">
                <a:alpha val="15000"/>
              </a:srgbClr>
            </a:outerShdw>
          </a:effectLst>
        </p:spPr>
      </p:sp>
      <p:sp>
        <p:nvSpPr>
          <p:cNvPr id="7" name="Rectangle 7"/>
          <p:cNvSpPr/>
          <p:nvPr/>
        </p:nvSpPr>
        <p:spPr>
          <a:xfrm>
            <a:off x="381000" y="1524000"/>
            <a:ext cx="11049000" cy="38100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57549" y="1520190"/>
            <a:ext cx="309590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Questions &amp; Discussion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2450" y="2042160"/>
            <a:ext cx="32037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Thank you for your attention!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2450" y="2055495"/>
            <a:ext cx="40581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Questions and feedback are welcome.</a:t>
            </a:r>
          </a:p>
        </p:txBody>
      </p:sp>
      <p:sp>
        <p:nvSpPr>
          <p:cNvPr id="11" name="Freeform 11"/>
          <p:cNvSpPr/>
          <p:nvPr/>
        </p:nvSpPr>
        <p:spPr>
          <a:xfrm>
            <a:off x="381000" y="4476750"/>
            <a:ext cx="11049000" cy="1905000"/>
          </a:xfrm>
          <a:custGeom>
            <a:avLst/>
            <a:gdLst/>
            <a:ahLst/>
            <a:cxnLst/>
            <a:rect l="l" t="t" r="r" b="b"/>
            <a:pathLst>
              <a:path w="11049000" h="1905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828800"/>
                </a:lnTo>
                <a:cubicBezTo>
                  <a:pt x="11049000" y="1870884"/>
                  <a:pt x="11014884" y="1905000"/>
                  <a:pt x="1097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0A3D8F"/>
            </a:solidFill>
          </a:ln>
          <a:effectLst>
            <a:outerShdw blurRad="228600" dist="57150" dir="10799427" algn="tl" rotWithShape="0">
              <a:srgbClr val="000000">
                <a:alpha val="15000"/>
              </a:srgbClr>
            </a:outerShdw>
          </a:effectLst>
        </p:spPr>
      </p:sp>
      <p:sp>
        <p:nvSpPr>
          <p:cNvPr id="12" name="Rectangle 12"/>
          <p:cNvSpPr/>
          <p:nvPr/>
        </p:nvSpPr>
        <p:spPr>
          <a:xfrm>
            <a:off x="381000" y="4476750"/>
            <a:ext cx="11049000" cy="38100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857071" y="4600575"/>
            <a:ext cx="209685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Insights &amp; Findings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2450" y="4994910"/>
            <a:ext cx="32037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Thank you for your attention!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2450" y="5008245"/>
            <a:ext cx="40581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Questions and feedback are welcome.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09972" y="6586538"/>
            <a:ext cx="61055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Slide 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