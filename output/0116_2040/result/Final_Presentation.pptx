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bin" ContentType="application/vnd.openxmlformats-officedocument.presentationml.printerSettings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5.12-->
<p:presentation xmlns:r="http://schemas.openxmlformats.org/officeDocument/2006/relationships" xmlns:a="http://schemas.openxmlformats.org/drawingml/2006/main" xmlns:p="http://schemas.openxmlformats.org/presentationml/2006/main" saveSubsetFonts="1" autoCompressPictures="0">
  <p:sldMasterIdLst>
    <p:sldMasterId id="2147483648" r:id="rId1"/>
    <p:sldMasterId id="2147483671" r:id="rId3"/>
    <p:sldMasterId id="2147483683" r:id="rId4"/>
    <p:sldMasterId id="2147483695" r:id="rId5"/>
    <p:sldMasterId id="2147483707" r:id="rId6"/>
    <p:sldMasterId id="2147483719" r:id="rId7"/>
    <p:sldMasterId id="2147483731" r:id="rId8"/>
    <p:sldMasterId id="2147483743" r:id="rId9"/>
    <p:sldMasterId id="2147483755" r:id="rId10"/>
    <p:sldMasterId id="2147483767" r:id="rId11"/>
    <p:sldMasterId id="2147483779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</p:sldIdLst>
  <p:sldSz cx="9144000" cy="6858000" type="screen4x3"/>
  <p:notesSz cx="6858000" cy="9144000"/>
  <p:custDataLst>
    <p:tags r:id="rId2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Master" Target="slideMasters/slideMaster9.xml" /><Relationship Id="rId11" Type="http://schemas.openxmlformats.org/officeDocument/2006/relationships/slideMaster" Target="slideMasters/slideMaster10.xml" /><Relationship Id="rId12" Type="http://schemas.openxmlformats.org/officeDocument/2006/relationships/slideMaster" Target="slideMasters/slideMaster11.xml" /><Relationship Id="rId13" Type="http://schemas.openxmlformats.org/officeDocument/2006/relationships/notesMaster" Target="notesMasters/notesMaster1.xml" /><Relationship Id="rId14" Type="http://schemas.openxmlformats.org/officeDocument/2006/relationships/slide" Target="slides/slide1.xml" /><Relationship Id="rId15" Type="http://schemas.openxmlformats.org/officeDocument/2006/relationships/slide" Target="slides/slide2.xml" /><Relationship Id="rId16" Type="http://schemas.openxmlformats.org/officeDocument/2006/relationships/slide" Target="slides/slide3.xml" /><Relationship Id="rId17" Type="http://schemas.openxmlformats.org/officeDocument/2006/relationships/slide" Target="slides/slide4.xml" /><Relationship Id="rId18" Type="http://schemas.openxmlformats.org/officeDocument/2006/relationships/slide" Target="slides/slide5.xml" /><Relationship Id="rId19" Type="http://schemas.openxmlformats.org/officeDocument/2006/relationships/slide" Target="slides/slide6.xml" /><Relationship Id="rId2" Type="http://schemas.openxmlformats.org/officeDocument/2006/relationships/printerSettings" Target="printerSettings/printerSettings1.bin" /><Relationship Id="rId20" Type="http://schemas.openxmlformats.org/officeDocument/2006/relationships/slide" Target="slides/slide7.xml" /><Relationship Id="rId21" Type="http://schemas.openxmlformats.org/officeDocument/2006/relationships/slide" Target="slides/slide8.xml" /><Relationship Id="rId22" Type="http://schemas.openxmlformats.org/officeDocument/2006/relationships/slide" Target="slides/slide9.xml" /><Relationship Id="rId23" Type="http://schemas.openxmlformats.org/officeDocument/2006/relationships/slide" Target="slides/slide10.xml" /><Relationship Id="rId24" Type="http://schemas.openxmlformats.org/officeDocument/2006/relationships/slide" Target="slides/slide11.xml" /><Relationship Id="rId25" Type="http://schemas.openxmlformats.org/officeDocument/2006/relationships/tags" Target="tags/tag1.xml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slideMaster" Target="slideMasters/slideMaster2.xml" /><Relationship Id="rId4" Type="http://schemas.openxmlformats.org/officeDocument/2006/relationships/slideMaster" Target="slideMasters/slideMaster3.xml" /><Relationship Id="rId5" Type="http://schemas.openxmlformats.org/officeDocument/2006/relationships/slideMaster" Target="slideMasters/slideMaster4.xml" /><Relationship Id="rId6" Type="http://schemas.openxmlformats.org/officeDocument/2006/relationships/slideMaster" Target="slideMasters/slideMaster5.xml" /><Relationship Id="rId7" Type="http://schemas.openxmlformats.org/officeDocument/2006/relationships/slideMaster" Target="slideMasters/slideMaster6.xml" /><Relationship Id="rId8" Type="http://schemas.openxmlformats.org/officeDocument/2006/relationships/slideMaster" Target="slideMasters/slideMaster7.xml" /><Relationship Id="rId9" Type="http://schemas.openxmlformats.org/officeDocument/2006/relationships/slideMaster" Target="slideMasters/slideMaster8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1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Header 1" title="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465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Time 2" title=""/>
          <p:cNvSpPr txBox="1">
            <a:spLocks noGrp="1"/>
          </p:cNvSpPr>
          <p:nvPr>
            <p:ph type="dt" idx="1"/>
          </p:nvPr>
        </p:nvSpPr>
        <p:spPr>
          <a:xfrm>
            <a:off x="3943350" y="0"/>
            <a:ext cx="291465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B0A7E0-6FA4-4048-B1AE-A4282D9F61BC}" type="datetimeFigureOut">
              <a:t>2026/1/16</a:t>
            </a:fld>
          </a:p>
        </p:txBody>
      </p:sp>
      <p:sp>
        <p:nvSpPr>
          <p:cNvPr id="4" name="SlideImage 3" title="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4" title="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sz="1200"/>
            </a:defPPr>
          </a:lstStyle>
          <a:p>
            <a:r>
              <a:rPr smtClean="0"/>
              <a:t>First Level</a:t>
            </a:r>
          </a:p>
          <a:p>
            <a:pPr lvl="1"/>
            <a:r>
              <a:rPr smtClean="0"/>
              <a:t>Second Level</a:t>
            </a:r>
          </a:p>
          <a:p>
            <a:pPr lvl="2"/>
            <a:r>
              <a:rPr smtClean="0"/>
              <a:t>Third level</a:t>
            </a:r>
          </a:p>
          <a:p>
            <a:pPr lvl="3"/>
            <a:r>
              <a:rPr smtClean="0"/>
              <a:t>Fourth level</a:t>
            </a:r>
          </a:p>
          <a:p>
            <a:pPr lvl="4"/>
            <a:r>
              <a:rPr smtClean="0"/>
              <a:t>Fifth level</a:t>
            </a:r>
          </a:p>
        </p:txBody>
      </p:sp>
      <p:sp>
        <p:nvSpPr>
          <p:cNvPr id="6" name="Footer 5" title=""/>
          <p:cNvSpPr>
            <a:spLocks noGrp="1"/>
          </p:cNvSpPr>
          <p:nvPr>
            <p:ph type="ftr" sz="quarter" idx="4"/>
          </p:nvPr>
        </p:nvSpPr>
        <p:spPr>
          <a:xfrm>
            <a:off x="0" y="8648700"/>
            <a:ext cx="291465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Number 6" title=""/>
          <p:cNvSpPr txBox="1">
            <a:spLocks noGrp="1"/>
          </p:cNvSpPr>
          <p:nvPr>
            <p:ph type="sldNum" sz="quarter" idx="5"/>
          </p:nvPr>
        </p:nvSpPr>
        <p:spPr>
          <a:xfrm>
            <a:off x="3943350" y="8648700"/>
            <a:ext cx="291465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0896C5-00DC-43F3-826E-C8557E951036}" type="slidenum">
              <a:rPr smtClean="0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importance of sequence transduction models and the role of attention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the challenges faced by traditional models and the need for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Provide an overview of the Transformer model and its advantages.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technical details of the attention mechanism used in the Transformer.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how positional encoding works and its importance in the Transformer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experimental setup and evaluation metrics used in the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the superior performance and reduced training costs of the Transformer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the generalization capabilities of the Transformer model to other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the impact of the Transformer model and future research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 audience engagement and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Appropriately acknowledge all contributions and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6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6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7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0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168075583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614314258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6064837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782244947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90158736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727027711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840726560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89236939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910927964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12223792"/>
      </p:ext>
    </p:extLst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168075583"/>
      </p:ext>
    </p:extLst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614314258"/>
      </p:ext>
    </p:extLst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60648375"/>
      </p:ext>
    </p:extLst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782244947"/>
      </p:ext>
    </p:extLst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90158736"/>
      </p:ext>
    </p:extLst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727027711"/>
      </p:ext>
    </p:extLst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840726560"/>
      </p:ext>
    </p:extLst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89236939"/>
      </p:ext>
    </p:extLst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910927964"/>
      </p:ext>
    </p:extLst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12223792"/>
      </p:ext>
    </p:extLst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168075583"/>
      </p:ext>
    </p:extLst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614314258"/>
      </p:ext>
    </p:extLst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60648375"/>
      </p:ext>
    </p:extLst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782244947"/>
      </p:ext>
    </p:extLst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90158736"/>
      </p:ext>
    </p:extLst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727027711"/>
      </p:ext>
    </p:extLst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840726560"/>
      </p:ext>
    </p:extLst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89236939"/>
      </p:ext>
    </p:extLst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910927964"/>
      </p:ext>
    </p:extLst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12223792"/>
      </p:ext>
    </p:extLst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168075583"/>
      </p:ext>
    </p:extLst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614314258"/>
      </p:ext>
    </p:extLst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60648375"/>
      </p:ext>
    </p:extLst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782244947"/>
      </p:ext>
    </p:extLst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90158736"/>
      </p:ext>
    </p:extLst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727027711"/>
      </p:ext>
    </p:extLst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840726560"/>
      </p:ext>
    </p:extLst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89236939"/>
      </p:ext>
    </p:extLst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910927964"/>
      </p:ext>
    </p:extLst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12223792"/>
      </p:ext>
    </p:extLst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168075583"/>
      </p:ext>
    </p:extLst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614314258"/>
      </p:ext>
    </p:extLst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60648375"/>
      </p:ext>
    </p:extLst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782244947"/>
      </p:ext>
    </p:extLst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90158736"/>
      </p:ext>
    </p:extLst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727027711"/>
      </p:ext>
    </p:extLst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840726560"/>
      </p:ext>
    </p:extLst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89236939"/>
      </p:ext>
    </p:extLst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910927964"/>
      </p:ext>
    </p:extLst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12223792"/>
      </p:ext>
    </p:extLst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168075583"/>
      </p:ext>
    </p:extLst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614314258"/>
      </p:ext>
    </p:extLst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60648375"/>
      </p:ext>
    </p:extLst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782244947"/>
      </p:ext>
    </p:extLst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90158736"/>
      </p:ext>
    </p:extLst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727027711"/>
      </p:ext>
    </p:extLst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transition/>
  <p:timing/>
</p:sldLayout>
</file>

<file path=ppt/slideLayouts/slideLayout6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840726560"/>
      </p:ext>
    </p:extLst>
  </p:cSld>
  <p:clrMapOvr>
    <a:masterClrMapping/>
  </p:clrMapOvr>
  <p:transition/>
  <p:timing/>
</p:sldLayout>
</file>

<file path=ppt/slideLayouts/slideLayout6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89236939"/>
      </p:ext>
    </p:extLst>
  </p:cSld>
  <p:clrMapOvr>
    <a:masterClrMapping/>
  </p:clrMapOvr>
  <p:transition/>
  <p:timing/>
</p:sldLayout>
</file>

<file path=ppt/slideLayouts/slideLayout6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910927964"/>
      </p:ext>
    </p:extLst>
  </p:cSld>
  <p:clrMapOvr>
    <a:masterClrMapping/>
  </p:clrMapOvr>
  <p:transition/>
  <p:timing/>
</p:sldLayout>
</file>

<file path=ppt/slideLayouts/slideLayout6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12223792"/>
      </p:ext>
    </p:extLst>
  </p:cSld>
  <p:clrMapOvr>
    <a:masterClrMapping/>
  </p:clrMapOvr>
  <p:transition/>
  <p:timing/>
</p:sldLayout>
</file>

<file path=ppt/slideLayouts/slideLayout6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168075583"/>
      </p:ext>
    </p:extLst>
  </p:cSld>
  <p:clrMapOvr>
    <a:masterClrMapping/>
  </p:clrMapOvr>
  <p:transition/>
  <p:timing/>
</p:sldLayout>
</file>

<file path=ppt/slideLayouts/slideLayout6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614314258"/>
      </p:ext>
    </p:extLst>
  </p:cSld>
  <p:clrMapOvr>
    <a:masterClrMapping/>
  </p:clrMapOvr>
  <p:transition/>
  <p:timing/>
</p:sldLayout>
</file>

<file path=ppt/slideLayouts/slideLayout6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60648375"/>
      </p:ext>
    </p:extLst>
  </p:cSld>
  <p:clrMapOvr>
    <a:masterClrMapping/>
  </p:clrMapOvr>
  <p:transition/>
  <p:timing/>
</p:sldLayout>
</file>

<file path=ppt/slideLayouts/slideLayout7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782244947"/>
      </p:ext>
    </p:extLst>
  </p:cSld>
  <p:clrMapOvr>
    <a:masterClrMapping/>
  </p:clrMapOvr>
  <p:transition/>
  <p:timing/>
</p:sldLayout>
</file>

<file path=ppt/slideLayouts/slideLayout7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90158736"/>
      </p:ext>
    </p:extLst>
  </p:cSld>
  <p:clrMapOvr>
    <a:masterClrMapping/>
  </p:clrMapOvr>
  <p:transition/>
  <p:timing/>
</p:sldLayout>
</file>

<file path=ppt/slideLayouts/slideLayout7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727027711"/>
      </p:ext>
    </p:extLst>
  </p:cSld>
  <p:clrMapOvr>
    <a:masterClrMapping/>
  </p:clrMapOvr>
  <p:transition/>
  <p:timing/>
</p:sldLayout>
</file>

<file path=ppt/slideLayouts/slideLayout7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transition/>
  <p:timing/>
</p:sldLayout>
</file>

<file path=ppt/slideLayouts/slideLayout7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840726560"/>
      </p:ext>
    </p:extLst>
  </p:cSld>
  <p:clrMapOvr>
    <a:masterClrMapping/>
  </p:clrMapOvr>
  <p:transition/>
  <p:timing/>
</p:sldLayout>
</file>

<file path=ppt/slideLayouts/slideLayout7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89236939"/>
      </p:ext>
    </p:extLst>
  </p:cSld>
  <p:clrMapOvr>
    <a:masterClrMapping/>
  </p:clrMapOvr>
  <p:transition/>
  <p:timing/>
</p:sldLayout>
</file>

<file path=ppt/slideLayouts/slideLayout7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910927964"/>
      </p:ext>
    </p:extLst>
  </p:cSld>
  <p:clrMapOvr>
    <a:masterClrMapping/>
  </p:clrMapOvr>
  <p:transition/>
  <p:timing/>
</p:sldLayout>
</file>

<file path=ppt/slideLayouts/slideLayout7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12223792"/>
      </p:ext>
    </p:extLst>
  </p:cSld>
  <p:clrMapOvr>
    <a:masterClrMapping/>
  </p:clrMapOvr>
  <p:transition/>
  <p:timing/>
</p:sldLayout>
</file>

<file path=ppt/slideLayouts/slideLayout7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168075583"/>
      </p:ext>
    </p:extLst>
  </p:cSld>
  <p:clrMapOvr>
    <a:masterClrMapping/>
  </p:clrMapOvr>
  <p:transition/>
  <p:timing/>
</p:sldLayout>
</file>

<file path=ppt/slideLayouts/slideLayout7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614314258"/>
      </p:ext>
    </p:extLst>
  </p:cSld>
  <p:clrMapOvr>
    <a:masterClrMapping/>
  </p:clrMapOvr>
  <p:transition/>
  <p:timing/>
</p:sldLayout>
</file>

<file path=ppt/slideLayouts/slideLayout8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60648375"/>
      </p:ext>
    </p:extLst>
  </p:cSld>
  <p:clrMapOvr>
    <a:masterClrMapping/>
  </p:clrMapOvr>
  <p:transition/>
  <p:timing/>
</p:sldLayout>
</file>

<file path=ppt/slideLayouts/slideLayout8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782244947"/>
      </p:ext>
    </p:extLst>
  </p:cSld>
  <p:clrMapOvr>
    <a:masterClrMapping/>
  </p:clrMapOvr>
  <p:transition/>
  <p:timing/>
</p:sldLayout>
</file>

<file path=ppt/slideLayouts/slideLayout8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90158736"/>
      </p:ext>
    </p:extLst>
  </p:cSld>
  <p:clrMapOvr>
    <a:masterClrMapping/>
  </p:clrMapOvr>
  <p:transition/>
  <p:timing/>
</p:sldLayout>
</file>

<file path=ppt/slideLayouts/slideLayout8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727027711"/>
      </p:ext>
    </p:extLst>
  </p:cSld>
  <p:clrMapOvr>
    <a:masterClrMapping/>
  </p:clrMapOvr>
  <p:transition/>
  <p:timing/>
</p:sldLayout>
</file>

<file path=ppt/slideLayouts/slideLayout8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transition/>
  <p:timing/>
</p:sldLayout>
</file>

<file path=ppt/slideLayouts/slideLayout8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840726560"/>
      </p:ext>
    </p:extLst>
  </p:cSld>
  <p:clrMapOvr>
    <a:masterClrMapping/>
  </p:clrMapOvr>
  <p:transition/>
  <p:timing/>
</p:sldLayout>
</file>

<file path=ppt/slideLayouts/slideLayout8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89236939"/>
      </p:ext>
    </p:extLst>
  </p:cSld>
  <p:clrMapOvr>
    <a:masterClrMapping/>
  </p:clrMapOvr>
  <p:transition/>
  <p:timing/>
</p:sldLayout>
</file>

<file path=ppt/slideLayouts/slideLayout8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910927964"/>
      </p:ext>
    </p:extLst>
  </p:cSld>
  <p:clrMapOvr>
    <a:masterClrMapping/>
  </p:clrMapOvr>
  <p:transition/>
  <p:timing/>
</p:sldLayout>
</file>

<file path=ppt/slideLayouts/slideLayout8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12223792"/>
      </p:ext>
    </p:extLst>
  </p:cSld>
  <p:clrMapOvr>
    <a:masterClrMapping/>
  </p:clrMapOvr>
  <p:transition/>
  <p:timing/>
</p:sldLayout>
</file>

<file path=ppt/slideLayouts/slideLayout8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168075583"/>
      </p:ext>
    </p:extLst>
  </p:cSld>
  <p:clrMapOvr>
    <a:masterClrMapping/>
  </p:clrMapOvr>
  <p:transition/>
  <p:timing/>
</p:sldLayout>
</file>

<file path=ppt/slideLayouts/slideLayout9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614314258"/>
      </p:ext>
    </p:extLst>
  </p:cSld>
  <p:clrMapOvr>
    <a:masterClrMapping/>
  </p:clrMapOvr>
  <p:transition/>
  <p:timing/>
</p:sldLayout>
</file>

<file path=ppt/slideLayouts/slideLayout9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60648375"/>
      </p:ext>
    </p:extLst>
  </p:cSld>
  <p:clrMapOvr>
    <a:masterClrMapping/>
  </p:clrMapOvr>
  <p:transition/>
  <p:timing/>
</p:sldLayout>
</file>

<file path=ppt/slideLayouts/slideLayout9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782244947"/>
      </p:ext>
    </p:extLst>
  </p:cSld>
  <p:clrMapOvr>
    <a:masterClrMapping/>
  </p:clrMapOvr>
  <p:transition/>
  <p:timing/>
</p:sldLayout>
</file>

<file path=ppt/slideLayouts/slideLayout9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90158736"/>
      </p:ext>
    </p:extLst>
  </p:cSld>
  <p:clrMapOvr>
    <a:masterClrMapping/>
  </p:clrMapOvr>
  <p:transition/>
  <p:timing/>
</p:sldLayout>
</file>

<file path=ppt/slideLayouts/slideLayout9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727027711"/>
      </p:ext>
    </p:extLst>
  </p:cSld>
  <p:clrMapOvr>
    <a:masterClrMapping/>
  </p:clrMapOvr>
  <p:transition/>
  <p:timing/>
</p:sldLayout>
</file>

<file path=ppt/slideLayouts/slideLayout9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transition/>
  <p:timing/>
</p:sldLayout>
</file>

<file path=ppt/slideLayouts/slideLayout9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840726560"/>
      </p:ext>
    </p:extLst>
  </p:cSld>
  <p:clrMapOvr>
    <a:masterClrMapping/>
  </p:clrMapOvr>
  <p:transition/>
  <p:timing/>
</p:sldLayout>
</file>

<file path=ppt/slideLayouts/slideLayout9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89236939"/>
      </p:ext>
    </p:extLst>
  </p:cSld>
  <p:clrMapOvr>
    <a:masterClrMapping/>
  </p:clrMapOvr>
  <p:transition/>
  <p:timing/>
</p:sldLayout>
</file>

<file path=ppt/slideLayouts/slideLayout9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910927964"/>
      </p:ext>
    </p:extLst>
  </p:cSld>
  <p:clrMapOvr>
    <a:masterClrMapping/>
  </p:clrMapOvr>
  <p:transition/>
  <p:timing/>
</p:sldLayout>
</file>

<file path=ppt/slideLayouts/slideLayout9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12223792"/>
      </p:ext>
    </p:extLst>
  </p:cSld>
  <p:clrMapOvr>
    <a:masterClrMapping/>
  </p:clrMapOvr>
  <p:transition/>
  <p:timing/>
</p:sldLayout>
</file>

<file path=ppt/slideLayouts/slideLayout10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168075583"/>
      </p:ext>
    </p:extLst>
  </p:cSld>
  <p:clrMapOvr>
    <a:masterClrMapping/>
  </p:clrMapOvr>
  <p:transition/>
  <p:timing/>
</p:sldLayout>
</file>

<file path=ppt/slideLayouts/slideLayout10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614314258"/>
      </p:ext>
    </p:extLst>
  </p:cSld>
  <p:clrMapOvr>
    <a:masterClrMapping/>
  </p:clrMapOvr>
  <p:transition/>
  <p:timing/>
</p:sldLayout>
</file>

<file path=ppt/slideLayouts/slideLayout10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60648375"/>
      </p:ext>
    </p:extLst>
  </p:cSld>
  <p:clrMapOvr>
    <a:masterClrMapping/>
  </p:clrMapOvr>
  <p:transition/>
  <p:timing/>
</p:sldLayout>
</file>

<file path=ppt/slideLayouts/slideLayout10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782244947"/>
      </p:ext>
    </p:extLst>
  </p:cSld>
  <p:clrMapOvr>
    <a:masterClrMapping/>
  </p:clrMapOvr>
  <p:transition/>
  <p:timing/>
</p:sldLayout>
</file>

<file path=ppt/slideLayouts/slideLayout10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90158736"/>
      </p:ext>
    </p:extLst>
  </p:cSld>
  <p:clrMapOvr>
    <a:masterClrMapping/>
  </p:clrMapOvr>
  <p:transition/>
  <p:timing/>
</p:sldLayout>
</file>

<file path=ppt/slideLayouts/slideLayout10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727027711"/>
      </p:ext>
    </p:extLst>
  </p:cSld>
  <p:clrMapOvr>
    <a:masterClrMapping/>
  </p:clrMapOvr>
  <p:transition/>
  <p:timing/>
</p:sldLayout>
</file>

<file path=ppt/slideLayouts/slideLayout10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transition/>
  <p:timing/>
</p:sldLayout>
</file>

<file path=ppt/slideLayouts/slideLayout10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840726560"/>
      </p:ext>
    </p:extLst>
  </p:cSld>
  <p:clrMapOvr>
    <a:masterClrMapping/>
  </p:clrMapOvr>
  <p:transition/>
  <p:timing/>
</p:sldLayout>
</file>

<file path=ppt/slideLayouts/slideLayout10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89236939"/>
      </p:ext>
    </p:extLst>
  </p:cSld>
  <p:clrMapOvr>
    <a:masterClrMapping/>
  </p:clrMapOvr>
  <p:transition/>
  <p:timing/>
</p:sldLayout>
</file>

<file path=ppt/slideLayouts/slideLayout10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910927964"/>
      </p:ext>
    </p:extLst>
  </p:cSld>
  <p:clrMapOvr>
    <a:masterClrMapping/>
  </p:clrMapOvr>
  <p:transition/>
  <p:timing/>
</p:sldLayout>
</file>

<file path=ppt/slideLayouts/slideLayout1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12223792"/>
      </p:ext>
    </p:extLst>
  </p:cSld>
  <p:clrMapOvr>
    <a:masterClrMapping/>
  </p:clrMapOvr>
  <p:transition/>
  <p:timing/>
</p:sldLayout>
</file>

<file path=ppt/slideLayouts/slideLayout1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168075583"/>
      </p:ext>
    </p:extLst>
  </p:cSld>
  <p:clrMapOvr>
    <a:masterClrMapping/>
  </p:clrMapOvr>
  <p:transition/>
  <p:timing/>
</p:sldLayout>
</file>

<file path=ppt/slideLayouts/slideLayout1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614314258"/>
      </p:ext>
    </p:extLst>
  </p:cSld>
  <p:clrMapOvr>
    <a:masterClrMapping/>
  </p:clrMapOvr>
  <p:transition/>
  <p:timing/>
</p:sldLayout>
</file>

<file path=ppt/slideLayouts/slideLayout1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60648375"/>
      </p:ext>
    </p:extLst>
  </p:cSld>
  <p:clrMapOvr>
    <a:masterClrMapping/>
  </p:clrMapOvr>
  <p:transition/>
  <p:timing/>
</p:sldLayout>
</file>

<file path=ppt/slideLayouts/slideLayout1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782244947"/>
      </p:ext>
    </p:extLst>
  </p:cSld>
  <p:clrMapOvr>
    <a:masterClrMapping/>
  </p:clrMapOvr>
  <p:transition/>
  <p:timing/>
</p:sldLayout>
</file>

<file path=ppt/slideLayouts/slideLayout1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90158736"/>
      </p:ext>
    </p:extLst>
  </p:cSld>
  <p:clrMapOvr>
    <a:masterClrMapping/>
  </p:clrMapOvr>
  <p:transition/>
  <p:timing/>
</p:sldLayout>
</file>

<file path=ppt/slideLayouts/slideLayout1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727027711"/>
      </p:ext>
    </p:extLst>
  </p:cSld>
  <p:clrMapOvr>
    <a:masterClrMapping/>
  </p:clrMapOvr>
  <p:transition/>
  <p:timing/>
</p:sldLayout>
</file>

<file path=ppt/slideLayouts/slideLayout1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transition/>
  <p:timing/>
</p:sldLayout>
</file>

<file path=ppt/slideLayouts/slideLayout1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840726560"/>
      </p:ext>
    </p:extLst>
  </p:cSld>
  <p:clrMapOvr>
    <a:masterClrMapping/>
  </p:clrMapOvr>
  <p:transition/>
  <p:timing/>
</p:sldLayout>
</file>

<file path=ppt/slideLayouts/slideLayout1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89236939"/>
      </p:ext>
    </p:extLst>
  </p:cSld>
  <p:clrMapOvr>
    <a:masterClrMapping/>
  </p:clrMapOvr>
  <p:transition/>
  <p:timing/>
</p:sldLayout>
</file>

<file path=ppt/slideLayouts/slideLayout1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910927964"/>
      </p:ext>
    </p:extLst>
  </p:cSld>
  <p:clrMapOvr>
    <a:masterClrMapping/>
  </p:clrMapOvr>
  <p:transition/>
  <p:timing/>
</p:sldLayout>
</file>

<file path=ppt/slideLayouts/slideLayout1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12223792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slideLayout" Target="../slideLayouts/slideLayout32.xml" /><Relationship Id="rId11" Type="http://schemas.openxmlformats.org/officeDocument/2006/relationships/slideLayout" Target="../slideLayouts/slideLayout33.xml" /><Relationship Id="rId12" Type="http://schemas.openxmlformats.org/officeDocument/2006/relationships/theme" Target="../theme/theme4.xml" /><Relationship Id="rId2" Type="http://schemas.openxmlformats.org/officeDocument/2006/relationships/slideLayout" Target="../slideLayouts/slideLayout24.xml" /><Relationship Id="rId3" Type="http://schemas.openxmlformats.org/officeDocument/2006/relationships/slideLayout" Target="../slideLayouts/slideLayout25.xml" /><Relationship Id="rId4" Type="http://schemas.openxmlformats.org/officeDocument/2006/relationships/slideLayout" Target="../slideLayouts/slideLayout26.xml" /><Relationship Id="rId5" Type="http://schemas.openxmlformats.org/officeDocument/2006/relationships/slideLayout" Target="../slideLayouts/slideLayout27.xml" /><Relationship Id="rId6" Type="http://schemas.openxmlformats.org/officeDocument/2006/relationships/slideLayout" Target="../slideLayouts/slideLayout28.xml" /><Relationship Id="rId7" Type="http://schemas.openxmlformats.org/officeDocument/2006/relationships/slideLayout" Target="../slideLayouts/slideLayout29.xml" /><Relationship Id="rId8" Type="http://schemas.openxmlformats.org/officeDocument/2006/relationships/slideLayout" Target="../slideLayouts/slideLayout30.xml" /><Relationship Id="rId9" Type="http://schemas.openxmlformats.org/officeDocument/2006/relationships/slideLayout" Target="../slideLayouts/slideLayout31.xml" /></Relationships>
</file>

<file path=ppt/slideMasters/_rels/slideMaster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4.xml" /><Relationship Id="rId10" Type="http://schemas.openxmlformats.org/officeDocument/2006/relationships/slideLayout" Target="../slideLayouts/slideLayout43.xml" /><Relationship Id="rId11" Type="http://schemas.openxmlformats.org/officeDocument/2006/relationships/slideLayout" Target="../slideLayouts/slideLayout44.xml" /><Relationship Id="rId12" Type="http://schemas.openxmlformats.org/officeDocument/2006/relationships/theme" Target="../theme/theme5.xml" /><Relationship Id="rId2" Type="http://schemas.openxmlformats.org/officeDocument/2006/relationships/slideLayout" Target="../slideLayouts/slideLayout35.xml" /><Relationship Id="rId3" Type="http://schemas.openxmlformats.org/officeDocument/2006/relationships/slideLayout" Target="../slideLayouts/slideLayout36.xml" /><Relationship Id="rId4" Type="http://schemas.openxmlformats.org/officeDocument/2006/relationships/slideLayout" Target="../slideLayouts/slideLayout37.xml" /><Relationship Id="rId5" Type="http://schemas.openxmlformats.org/officeDocument/2006/relationships/slideLayout" Target="../slideLayouts/slideLayout38.xml" /><Relationship Id="rId6" Type="http://schemas.openxmlformats.org/officeDocument/2006/relationships/slideLayout" Target="../slideLayouts/slideLayout39.xml" /><Relationship Id="rId7" Type="http://schemas.openxmlformats.org/officeDocument/2006/relationships/slideLayout" Target="../slideLayouts/slideLayout40.xml" /><Relationship Id="rId8" Type="http://schemas.openxmlformats.org/officeDocument/2006/relationships/slideLayout" Target="../slideLayouts/slideLayout41.xml" /><Relationship Id="rId9" Type="http://schemas.openxmlformats.org/officeDocument/2006/relationships/slideLayout" Target="../slideLayouts/slideLayout42.xml" /></Relationships>
</file>

<file path=ppt/slideMasters/_rels/slideMaster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10" Type="http://schemas.openxmlformats.org/officeDocument/2006/relationships/slideLayout" Target="../slideLayouts/slideLayout54.xml" /><Relationship Id="rId11" Type="http://schemas.openxmlformats.org/officeDocument/2006/relationships/slideLayout" Target="../slideLayouts/slideLayout55.xml" /><Relationship Id="rId12" Type="http://schemas.openxmlformats.org/officeDocument/2006/relationships/theme" Target="../theme/theme6.xml" /><Relationship Id="rId2" Type="http://schemas.openxmlformats.org/officeDocument/2006/relationships/slideLayout" Target="../slideLayouts/slideLayout46.xml" /><Relationship Id="rId3" Type="http://schemas.openxmlformats.org/officeDocument/2006/relationships/slideLayout" Target="../slideLayouts/slideLayout47.xml" /><Relationship Id="rId4" Type="http://schemas.openxmlformats.org/officeDocument/2006/relationships/slideLayout" Target="../slideLayouts/slideLayout48.xml" /><Relationship Id="rId5" Type="http://schemas.openxmlformats.org/officeDocument/2006/relationships/slideLayout" Target="../slideLayouts/slideLayout49.xml" /><Relationship Id="rId6" Type="http://schemas.openxmlformats.org/officeDocument/2006/relationships/slideLayout" Target="../slideLayouts/slideLayout50.xml" /><Relationship Id="rId7" Type="http://schemas.openxmlformats.org/officeDocument/2006/relationships/slideLayout" Target="../slideLayouts/slideLayout51.xml" /><Relationship Id="rId8" Type="http://schemas.openxmlformats.org/officeDocument/2006/relationships/slideLayout" Target="../slideLayouts/slideLayout52.xml" /><Relationship Id="rId9" Type="http://schemas.openxmlformats.org/officeDocument/2006/relationships/slideLayout" Target="../slideLayouts/slideLayout53.xml" /></Relationships>
</file>

<file path=ppt/slideMasters/_rels/slideMaster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6.xml" /><Relationship Id="rId10" Type="http://schemas.openxmlformats.org/officeDocument/2006/relationships/slideLayout" Target="../slideLayouts/slideLayout65.xml" /><Relationship Id="rId11" Type="http://schemas.openxmlformats.org/officeDocument/2006/relationships/slideLayout" Target="../slideLayouts/slideLayout66.xml" /><Relationship Id="rId12" Type="http://schemas.openxmlformats.org/officeDocument/2006/relationships/theme" Target="../theme/theme7.xml" /><Relationship Id="rId2" Type="http://schemas.openxmlformats.org/officeDocument/2006/relationships/slideLayout" Target="../slideLayouts/slideLayout57.xml" /><Relationship Id="rId3" Type="http://schemas.openxmlformats.org/officeDocument/2006/relationships/slideLayout" Target="../slideLayouts/slideLayout58.xml" /><Relationship Id="rId4" Type="http://schemas.openxmlformats.org/officeDocument/2006/relationships/slideLayout" Target="../slideLayouts/slideLayout59.xml" /><Relationship Id="rId5" Type="http://schemas.openxmlformats.org/officeDocument/2006/relationships/slideLayout" Target="../slideLayouts/slideLayout60.xml" /><Relationship Id="rId6" Type="http://schemas.openxmlformats.org/officeDocument/2006/relationships/slideLayout" Target="../slideLayouts/slideLayout61.xml" /><Relationship Id="rId7" Type="http://schemas.openxmlformats.org/officeDocument/2006/relationships/slideLayout" Target="../slideLayouts/slideLayout62.xml" /><Relationship Id="rId8" Type="http://schemas.openxmlformats.org/officeDocument/2006/relationships/slideLayout" Target="../slideLayouts/slideLayout63.xml" /><Relationship Id="rId9" Type="http://schemas.openxmlformats.org/officeDocument/2006/relationships/slideLayout" Target="../slideLayouts/slideLayout64.xml" /></Relationships>
</file>

<file path=ppt/slideMasters/_rels/slideMaster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7.xml" /><Relationship Id="rId10" Type="http://schemas.openxmlformats.org/officeDocument/2006/relationships/slideLayout" Target="../slideLayouts/slideLayout76.xml" /><Relationship Id="rId11" Type="http://schemas.openxmlformats.org/officeDocument/2006/relationships/slideLayout" Target="../slideLayouts/slideLayout77.xml" /><Relationship Id="rId12" Type="http://schemas.openxmlformats.org/officeDocument/2006/relationships/theme" Target="../theme/theme8.xml" /><Relationship Id="rId2" Type="http://schemas.openxmlformats.org/officeDocument/2006/relationships/slideLayout" Target="../slideLayouts/slideLayout68.xml" /><Relationship Id="rId3" Type="http://schemas.openxmlformats.org/officeDocument/2006/relationships/slideLayout" Target="../slideLayouts/slideLayout69.xml" /><Relationship Id="rId4" Type="http://schemas.openxmlformats.org/officeDocument/2006/relationships/slideLayout" Target="../slideLayouts/slideLayout70.xml" /><Relationship Id="rId5" Type="http://schemas.openxmlformats.org/officeDocument/2006/relationships/slideLayout" Target="../slideLayouts/slideLayout71.xml" /><Relationship Id="rId6" Type="http://schemas.openxmlformats.org/officeDocument/2006/relationships/slideLayout" Target="../slideLayouts/slideLayout72.xml" /><Relationship Id="rId7" Type="http://schemas.openxmlformats.org/officeDocument/2006/relationships/slideLayout" Target="../slideLayouts/slideLayout73.xml" /><Relationship Id="rId8" Type="http://schemas.openxmlformats.org/officeDocument/2006/relationships/slideLayout" Target="../slideLayouts/slideLayout74.xml" /><Relationship Id="rId9" Type="http://schemas.openxmlformats.org/officeDocument/2006/relationships/slideLayout" Target="../slideLayouts/slideLayout75.xml" /></Relationships>
</file>

<file path=ppt/slideMasters/_rels/slideMaster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8.xml" /><Relationship Id="rId10" Type="http://schemas.openxmlformats.org/officeDocument/2006/relationships/slideLayout" Target="../slideLayouts/slideLayout87.xml" /><Relationship Id="rId11" Type="http://schemas.openxmlformats.org/officeDocument/2006/relationships/slideLayout" Target="../slideLayouts/slideLayout88.xml" /><Relationship Id="rId12" Type="http://schemas.openxmlformats.org/officeDocument/2006/relationships/theme" Target="../theme/theme9.xml" /><Relationship Id="rId2" Type="http://schemas.openxmlformats.org/officeDocument/2006/relationships/slideLayout" Target="../slideLayouts/slideLayout79.xml" /><Relationship Id="rId3" Type="http://schemas.openxmlformats.org/officeDocument/2006/relationships/slideLayout" Target="../slideLayouts/slideLayout80.xml" /><Relationship Id="rId4" Type="http://schemas.openxmlformats.org/officeDocument/2006/relationships/slideLayout" Target="../slideLayouts/slideLayout81.xml" /><Relationship Id="rId5" Type="http://schemas.openxmlformats.org/officeDocument/2006/relationships/slideLayout" Target="../slideLayouts/slideLayout82.xml" /><Relationship Id="rId6" Type="http://schemas.openxmlformats.org/officeDocument/2006/relationships/slideLayout" Target="../slideLayouts/slideLayout83.xml" /><Relationship Id="rId7" Type="http://schemas.openxmlformats.org/officeDocument/2006/relationships/slideLayout" Target="../slideLayouts/slideLayout84.xml" /><Relationship Id="rId8" Type="http://schemas.openxmlformats.org/officeDocument/2006/relationships/slideLayout" Target="../slideLayouts/slideLayout85.xml" /><Relationship Id="rId9" Type="http://schemas.openxmlformats.org/officeDocument/2006/relationships/slideLayout" Target="../slideLayouts/slideLayout86.xml" /></Relationships>
</file>

<file path=ppt/slideMasters/_rels/slideMaster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9.xml" /><Relationship Id="rId10" Type="http://schemas.openxmlformats.org/officeDocument/2006/relationships/slideLayout" Target="../slideLayouts/slideLayout98.xml" /><Relationship Id="rId11" Type="http://schemas.openxmlformats.org/officeDocument/2006/relationships/slideLayout" Target="../slideLayouts/slideLayout99.xml" /><Relationship Id="rId12" Type="http://schemas.openxmlformats.org/officeDocument/2006/relationships/theme" Target="../theme/theme10.xml" /><Relationship Id="rId2" Type="http://schemas.openxmlformats.org/officeDocument/2006/relationships/slideLayout" Target="../slideLayouts/slideLayout90.xml" /><Relationship Id="rId3" Type="http://schemas.openxmlformats.org/officeDocument/2006/relationships/slideLayout" Target="../slideLayouts/slideLayout91.xml" /><Relationship Id="rId4" Type="http://schemas.openxmlformats.org/officeDocument/2006/relationships/slideLayout" Target="../slideLayouts/slideLayout92.xml" /><Relationship Id="rId5" Type="http://schemas.openxmlformats.org/officeDocument/2006/relationships/slideLayout" Target="../slideLayouts/slideLayout93.xml" /><Relationship Id="rId6" Type="http://schemas.openxmlformats.org/officeDocument/2006/relationships/slideLayout" Target="../slideLayouts/slideLayout94.xml" /><Relationship Id="rId7" Type="http://schemas.openxmlformats.org/officeDocument/2006/relationships/slideLayout" Target="../slideLayouts/slideLayout95.xml" /><Relationship Id="rId8" Type="http://schemas.openxmlformats.org/officeDocument/2006/relationships/slideLayout" Target="../slideLayouts/slideLayout96.xml" /><Relationship Id="rId9" Type="http://schemas.openxmlformats.org/officeDocument/2006/relationships/slideLayout" Target="../slideLayouts/slideLayout97.xml" /></Relationships>
</file>

<file path=ppt/slideMasters/_rels/slideMaster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0.xml" /><Relationship Id="rId10" Type="http://schemas.openxmlformats.org/officeDocument/2006/relationships/slideLayout" Target="../slideLayouts/slideLayout109.xml" /><Relationship Id="rId11" Type="http://schemas.openxmlformats.org/officeDocument/2006/relationships/slideLayout" Target="../slideLayouts/slideLayout110.xml" /><Relationship Id="rId12" Type="http://schemas.openxmlformats.org/officeDocument/2006/relationships/theme" Target="../theme/theme11.xml" /><Relationship Id="rId2" Type="http://schemas.openxmlformats.org/officeDocument/2006/relationships/slideLayout" Target="../slideLayouts/slideLayout101.xml" /><Relationship Id="rId3" Type="http://schemas.openxmlformats.org/officeDocument/2006/relationships/slideLayout" Target="../slideLayouts/slideLayout102.xml" /><Relationship Id="rId4" Type="http://schemas.openxmlformats.org/officeDocument/2006/relationships/slideLayout" Target="../slideLayouts/slideLayout103.xml" /><Relationship Id="rId5" Type="http://schemas.openxmlformats.org/officeDocument/2006/relationships/slideLayout" Target="../slideLayouts/slideLayout104.xml" /><Relationship Id="rId6" Type="http://schemas.openxmlformats.org/officeDocument/2006/relationships/slideLayout" Target="../slideLayouts/slideLayout105.xml" /><Relationship Id="rId7" Type="http://schemas.openxmlformats.org/officeDocument/2006/relationships/slideLayout" Target="../slideLayouts/slideLayout106.xml" /><Relationship Id="rId8" Type="http://schemas.openxmlformats.org/officeDocument/2006/relationships/slideLayout" Target="../slideLayouts/slideLayout107.xml" /><Relationship Id="rId9" Type="http://schemas.openxmlformats.org/officeDocument/2006/relationships/slideLayout" Target="../slideLayouts/slideLayout108.xml" /></Relationships>
</file>

<file path=ppt/slideMasters/_rels/slideMaster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1.xml" /><Relationship Id="rId10" Type="http://schemas.openxmlformats.org/officeDocument/2006/relationships/slideLayout" Target="../slideLayouts/slideLayout120.xml" /><Relationship Id="rId11" Type="http://schemas.openxmlformats.org/officeDocument/2006/relationships/slideLayout" Target="../slideLayouts/slideLayout121.xml" /><Relationship Id="rId12" Type="http://schemas.openxmlformats.org/officeDocument/2006/relationships/theme" Target="../theme/theme12.xml" /><Relationship Id="rId2" Type="http://schemas.openxmlformats.org/officeDocument/2006/relationships/slideLayout" Target="../slideLayouts/slideLayout112.xml" /><Relationship Id="rId3" Type="http://schemas.openxmlformats.org/officeDocument/2006/relationships/slideLayout" Target="../slideLayouts/slideLayout113.xml" /><Relationship Id="rId4" Type="http://schemas.openxmlformats.org/officeDocument/2006/relationships/slideLayout" Target="../slideLayouts/slideLayout114.xml" /><Relationship Id="rId5" Type="http://schemas.openxmlformats.org/officeDocument/2006/relationships/slideLayout" Target="../slideLayouts/slideLayout115.xml" /><Relationship Id="rId6" Type="http://schemas.openxmlformats.org/officeDocument/2006/relationships/slideLayout" Target="../slideLayouts/slideLayout116.xml" /><Relationship Id="rId7" Type="http://schemas.openxmlformats.org/officeDocument/2006/relationships/slideLayout" Target="../slideLayouts/slideLayout117.xml" /><Relationship Id="rId8" Type="http://schemas.openxmlformats.org/officeDocument/2006/relationships/slideLayout" Target="../slideLayouts/slideLayout118.xml" /><Relationship Id="rId9" Type="http://schemas.openxmlformats.org/officeDocument/2006/relationships/slideLayout" Target="../slideLayouts/slideLayout11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8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9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1.jpeg" /><Relationship Id="rId4" Type="http://schemas.openxmlformats.org/officeDocument/2006/relationships/image" Target="../media/image2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2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3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4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5.xml" /><Relationship Id="rId2" Type="http://schemas.openxmlformats.org/officeDocument/2006/relationships/notesSlide" Target="../notesSlides/notesSlide10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6.xml" /><Relationship Id="rId2" Type="http://schemas.openxmlformats.org/officeDocument/2006/relationships/notesSlide" Target="../notesSlides/notesSlide1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BACKGROUND: SEQUENCE TRANSDUCTION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Sequence transduction models are essential for tasks like language modeling and machine translation.</a:t>
            </a: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Traditionally, these models rely on recurrent neural networks (RNNs) and convolutional neural networks (CNNs).</a:t>
            </a: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Attention mechanisms have emerged as a powerful tool to model dependencies in sequences.</a:t>
            </a:r>
          </a:p>
        </p:txBody>
      </p:sp>
      <p:sp>
        <p:nvSpPr>
          <p:cNvPr id="6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PROBLEM: LIMITATIONS OF EXISTING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Existing models using RNNs and CNNs face limitations in parallelization due to their sequential nature.</a:t>
            </a: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These models struggle with long-range dependencies and require significant computational resources.</a:t>
            </a: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The need for more efficient and scalable models is evident.</a:t>
            </a:r>
          </a:p>
        </p:txBody>
      </p:sp>
      <p:sp>
        <p:nvSpPr>
          <p:cNvPr id="6" name="TextBox"/>
          <p:cNvSpPr txBox="1">
            <a:spLocks noGrp="1" noSelect="1" noRot="1" noMove="1"/>
          </p:cNvSpPr>
          <p:nvPr/>
        </p:nvSpPr>
        <p:spPr>
          <a:xfrm>
            <a:off x="1366520" y="178689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  <p:sp>
        <p:nvSpPr>
          <p:cNvPr id="7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SOLUTION OVERVIEW: THE TRANSFORMER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The Transformer model introduces a novel architecture based solely on attention mechanisms.</a:t>
            </a: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It eliminates the need for recurrence and convolution, allowing for greater parallelization.</a:t>
            </a: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The model sets new benchmarks in machine translation tasks.</a:t>
            </a:r>
          </a:p>
        </p:txBody>
      </p:sp>
      <p:sp>
        <p:nvSpPr>
          <p:cNvPr id="6" name="TextBox"/>
          <p:cNvSpPr txBox="1">
            <a:spLocks noGrp="1" noSelect="1" noRot="1" noMove="1"/>
          </p:cNvSpPr>
          <p:nvPr/>
        </p:nvSpPr>
        <p:spPr>
          <a:xfrm>
            <a:off x="1366520" y="178689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  <p:sp>
        <p:nvSpPr>
          <p:cNvPr id="7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TECHNICAL APPROACH: MULTI-HEAD SELF-ATTENTION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20"/>
              </a:lnSpc>
              <a:defRPr sz="1600">
                <a:solidFill>
                  <a:srgbClr val="A3B9CC"/>
                </a:solidFill>
                <a:latin typeface="Arial"/>
              </a:defRPr>
            </a:pPr>
          </a:p>
          <a:p>
            <a:r>
              <a:t>Point 1: Overview of the mechanism.</a:t>
            </a:r>
          </a:p>
          <a:p>
            <a:r>
              <a:t>Point 2: Key advantages.</a:t>
            </a:r>
          </a:p>
          <a:p>
            <a:r>
              <a:t>Point 3: Implementation details.</a:t>
            </a:r>
          </a:p>
        </p:txBody>
      </p:sp>
      <p:pic>
        <p:nvPicPr>
          <p:cNvPr id="6" name="Picture 5" descr="_page_3_Figure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371600"/>
            <a:ext cx="1426464" cy="2743200"/>
          </a:xfrm>
          <a:prstGeom prst="rect">
            <a:avLst/>
          </a:prstGeom>
        </p:spPr>
      </p:pic>
      <p:pic>
        <p:nvPicPr>
          <p:cNvPr id="7" name="Picture 6" descr="tmpmefqdxg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4114800"/>
            <a:ext cx="5971922" cy="914400"/>
          </a:xfrm>
          <a:prstGeom prst="rect">
            <a:avLst/>
          </a:prstGeom>
        </p:spPr>
      </p:pic>
      <p:sp>
        <p:nvSpPr>
          <p:cNvPr id="8" name="TextBox"/>
          <p:cNvSpPr txBox="1">
            <a:spLocks noGrp="1" noSelect="1" noRot="1" noMove="1"/>
          </p:cNvSpPr>
          <p:nvPr/>
        </p:nvSpPr>
        <p:spPr>
          <a:xfrm>
            <a:off x="1366520" y="178689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  <p:sp>
        <p:nvSpPr>
          <p:cNvPr id="9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POSITIVE ENCODING IN TRANSFORMERS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Positional encoding helps the model understand the order of tokens in a sequence.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Sine and cosine functions are used for even and odd indices, respectively.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This encoding is crucial for maintaining sequence information without recurrence.</a:t>
            </a:r>
          </a:p>
        </p:txBody>
      </p:sp>
      <p:pic>
        <p:nvPicPr>
          <p:cNvPr id="6" name="Picture 5" descr="tmph6msb6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83280"/>
            <a:ext cx="8229600" cy="1009804"/>
          </a:xfrm>
          <a:prstGeom prst="rect">
            <a:avLst/>
          </a:prstGeom>
        </p:spPr>
      </p:pic>
      <p:sp>
        <p:nvSpPr>
          <p:cNvPr id="7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  <p:sp>
        <p:nvSpPr>
          <p:cNvPr id="8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</a:p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</a:p>
          <a:p>
            <a:pPr>
              <a:spcAft>
                <a:spcPts val="140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Experiments conducted on WMT 2014 English-to-German and English-to-French translation tasks.</a:t>
            </a:r>
          </a:p>
          <a:p>
            <a:pPr>
              <a:spcAft>
                <a:spcPts val="140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Evaluation metrics include BLEU scores.</a:t>
            </a:r>
          </a:p>
          <a:p>
            <a:pPr>
              <a:spcAft>
                <a:spcPts val="140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Baseline methods used for comparison include state-of-the-art models.</a:t>
            </a:r>
          </a:p>
        </p:txBody>
      </p:sp>
      <p:sp>
        <p:nvSpPr>
          <p:cNvPr id="6" name="TextBox"/>
          <p:cNvSpPr txBox="1">
            <a:spLocks noGrp="1" noSelect="1" noRot="1" noMove="1"/>
          </p:cNvSpPr>
          <p:nvPr/>
        </p:nvSpPr>
        <p:spPr>
          <a:xfrm>
            <a:off x="1366520" y="178689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  <p:sp>
        <p:nvSpPr>
          <p:cNvPr id="7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Key Results: BLEU Scores and Training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  <a:p>
            <a:pPr>
              <a:spcAft>
                <a:spcPts val="140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The Transformer model achieves superior BLEU scores compared to previous models.</a:t>
            </a:r>
          </a:p>
          <a:p>
            <a:pPr>
              <a:spcAft>
                <a:spcPts val="140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Significant reduction in training costs observed.</a:t>
            </a:r>
          </a:p>
          <a:p>
            <a:pPr>
              <a:spcAft>
                <a:spcPts val="140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Results demonstrate the efficiency and effectiveness of the Transformer model.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7432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 vert="horz" wrap="square"/>
                    <a:lstStyle/>
                    <a:p>
                      <a:pPr>
                        <a:defRPr sz="1600">
                          <a:solidFill>
                            <a:srgbClr val="A3B9CC"/>
                          </a:solidFill>
                          <a:latin typeface="Arial"/>
                        </a:defRPr>
                      </a:pPr>
                      <a:r>
                        <a:t>Row 1, Col 1</a:t>
                      </a:r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>
                        <a:defRPr sz="1600">
                          <a:solidFill>
                            <a:srgbClr val="A3B9CC"/>
                          </a:solidFill>
                          <a:latin typeface="Arial"/>
                        </a:defRPr>
                      </a:pPr>
                      <a:r>
                        <a:t>Row 1, Col 2</a:t>
                      </a:r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>
                        <a:defRPr sz="1600">
                          <a:solidFill>
                            <a:srgbClr val="A3B9CC"/>
                          </a:solidFill>
                          <a:latin typeface="Arial"/>
                        </a:defRPr>
                      </a:pPr>
                      <a:r>
                        <a:t>Row 1, Col 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vert="horz" wrap="square"/>
                    <a:lstStyle/>
                    <a:p>
                      <a:pPr>
                        <a:defRPr sz="1600">
                          <a:solidFill>
                            <a:srgbClr val="A3B9CC"/>
                          </a:solidFill>
                          <a:latin typeface="Arial"/>
                        </a:defRPr>
                      </a:pPr>
                      <a:r>
                        <a:t>Row 2, Col 1</a:t>
                      </a:r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>
                        <a:defRPr sz="1600">
                          <a:solidFill>
                            <a:srgbClr val="A3B9CC"/>
                          </a:solidFill>
                          <a:latin typeface="Arial"/>
                        </a:defRPr>
                      </a:pPr>
                      <a:r>
                        <a:t>Row 2, Col 2</a:t>
                      </a:r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>
                        <a:defRPr sz="1600">
                          <a:solidFill>
                            <a:srgbClr val="A3B9CC"/>
                          </a:solidFill>
                          <a:latin typeface="Arial"/>
                        </a:defRPr>
                      </a:pPr>
                      <a:r>
                        <a:t>Row 2, Col 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vert="horz" wrap="square"/>
                    <a:lstStyle/>
                    <a:p>
                      <a:pPr>
                        <a:defRPr sz="1600">
                          <a:solidFill>
                            <a:srgbClr val="A3B9CC"/>
                          </a:solidFill>
                          <a:latin typeface="Arial"/>
                        </a:defRPr>
                      </a:pPr>
                      <a:r>
                        <a:t>Row 3, Col 1</a:t>
                      </a:r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>
                        <a:defRPr sz="1600">
                          <a:solidFill>
                            <a:srgbClr val="A3B9CC"/>
                          </a:solidFill>
                          <a:latin typeface="Arial"/>
                        </a:defRPr>
                      </a:pPr>
                      <a:r>
                        <a:t>Row 3, Col 2</a:t>
                      </a:r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>
                        <a:defRPr sz="1600">
                          <a:solidFill>
                            <a:srgbClr val="A3B9CC"/>
                          </a:solidFill>
                          <a:latin typeface="Arial"/>
                        </a:defRPr>
                      </a:pPr>
                      <a:r>
                        <a:t>Row 3, Col 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"/>
          <p:cNvSpPr txBox="1">
            <a:spLocks noGrp="1" noSelect="1" noRot="1" noMove="1"/>
          </p:cNvSpPr>
          <p:nvPr/>
        </p:nvSpPr>
        <p:spPr>
          <a:xfrm>
            <a:off x="1366520" y="178689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  <p:sp>
        <p:nvSpPr>
          <p:cNvPr id="8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Analysis: Generalization to Other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The Transformer model generalizes well to English constituency parsing.</a:t>
            </a: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Competitive performance observed in both supervised and semi-supervised settings.</a:t>
            </a: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Demonstrates the model's versatility beyond translation tasks.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2004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371600">
                <a:tc>
                  <a:txBody>
                    <a:bodyPr vert="horz" wrap="square"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t>F1 Score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 vert="horz" wrap="square"/>
                    <a:lstStyle/>
                    <a:p>
                      <a:r>
                        <a:t>Transformer</a:t>
                      </a:r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t>0.88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"/>
          <p:cNvSpPr txBox="1">
            <a:spLocks noGrp="1" noSelect="1" noRot="1" noMove="1"/>
          </p:cNvSpPr>
          <p:nvPr/>
        </p:nvSpPr>
        <p:spPr>
          <a:xfrm>
            <a:off x="1366520" y="178689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  <p:sp>
        <p:nvSpPr>
          <p:cNvPr id="8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CONCLUSION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Summarize the impact of the Transformer model.</a:t>
            </a: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Discuss future research directions.</a:t>
            </a: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Highlight key findings and implications.</a:t>
            </a:r>
          </a:p>
        </p:txBody>
      </p:sp>
      <p:sp>
        <p:nvSpPr>
          <p:cNvPr id="6" name="TextBox"/>
          <p:cNvSpPr txBox="1">
            <a:spLocks noGrp="1" noSelect="1" noRot="1" noMove="1"/>
          </p:cNvSpPr>
          <p:nvPr/>
        </p:nvSpPr>
        <p:spPr>
          <a:xfrm>
            <a:off x="1366520" y="178689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  <p:sp>
        <p:nvSpPr>
          <p:cNvPr id="7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Thank you for your attention!</a:t>
            </a:r>
          </a:p>
          <a:p>
            <a:pPr>
              <a:defRPr sz="1600">
                <a:solidFill>
                  <a:srgbClr val="A3B9CC"/>
                </a:solidFill>
                <a:latin typeface="Arial"/>
              </a:defRPr>
            </a:pPr>
            <a:r>
              <a:t>Questions and feedback are welcome.</a:t>
            </a:r>
          </a:p>
        </p:txBody>
      </p:sp>
      <p:sp>
        <p:nvSpPr>
          <p:cNvPr id="6" name="TextBox"/>
          <p:cNvSpPr txBox="1">
            <a:spLocks noGrp="1" noSelect="1" noRot="1" noMove="1"/>
          </p:cNvSpPr>
          <p:nvPr/>
        </p:nvSpPr>
        <p:spPr>
          <a:xfrm>
            <a:off x="1366520" y="178689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  <p:sp>
        <p:nvSpPr>
          <p:cNvPr id="7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ACKNOWLEDGEMENTS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  <a:p>
            <a:pPr>
              <a:spcAft>
                <a:spcPts val="120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Thank funding agencies, collaborators, advisors, and institutions.</a:t>
            </a:r>
          </a:p>
          <a:p>
            <a:pPr>
              <a:spcAft>
                <a:spcPts val="120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Include logos of funding sources if available.</a:t>
            </a:r>
          </a:p>
        </p:txBody>
      </p:sp>
      <p:sp>
        <p:nvSpPr>
          <p:cNvPr id="6" name="TextBox"/>
          <p:cNvSpPr txBox="1">
            <a:spLocks noGrp="1" noSelect="1" noRot="1" noMove="1"/>
          </p:cNvSpPr>
          <p:nvPr/>
        </p:nvSpPr>
        <p:spPr>
          <a:xfrm>
            <a:off x="1366520" y="178689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  <p:sp>
        <p:nvSpPr>
          <p:cNvPr id="7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Unix 5.15.0.139"/>
  <p:tag name="AS_RELEASE_DATE" val="2025.12.14"/>
  <p:tag name="AS_TITLE" val="Aspose.Slides for Python via .NET"/>
  <p:tag name="AS_VERSION" val="25.1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4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5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6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7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8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9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10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1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12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13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72</Paragraphs>
  <Slides>11</Slides>
  <Notes>11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baseType="lpstr" size="14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Python via .NET</Application>
  <AppVersion>25.1200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2026-01-16T12:43:44Z</dcterms:modified>
</cp:coreProperties>
</file>