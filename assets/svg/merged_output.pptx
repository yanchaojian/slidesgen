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5240000" cy="8572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FBFD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114813" y="226695"/>
            <a:ext cx="9010374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900" b="1" dirty="0">
                <a:solidFill>
                  <a:srgbClr val="003366"/>
                </a:solidFill>
                <a:latin typeface="Noto Sans CJK SC"/>
                <a:ea typeface="Microsoft YaHei"/>
                <a:cs typeface="Noto Sans CJK SC"/>
              </a:rPr>
              <a:t>结构化 Atomic Token 设计示意图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986338" y="802005"/>
            <a:ext cx="526732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4D5968"/>
                </a:solidFill>
                <a:latin typeface="Noto Sans CJK SC"/>
                <a:ea typeface="Microsoft YaHei"/>
                <a:cs typeface="Noto Sans CJK SC"/>
              </a:rPr>
              <a:t>面向乐高积木结构生成的离散符号表示</a:t>
            </a:r>
          </a:p>
        </p:txBody>
      </p:sp>
      <p:grpSp>
        <p:nvGrpSpPr>
          <p:cNvPr id="48" name="Group 48"/>
          <p:cNvGrpSpPr/>
          <p:nvPr/>
        </p:nvGrpSpPr>
        <p:grpSpPr>
          <a:xfrm>
            <a:off x="342900" y="1219200"/>
            <a:ext cx="3848100" cy="5181600"/>
            <a:chOff x="342900" y="1219200"/>
            <a:chExt cx="3848100" cy="5181600"/>
          </a:xfrm>
        </p:grpSpPr>
        <p:sp>
          <p:nvSpPr>
            <p:cNvPr id="5" name="Freeform 5"/>
            <p:cNvSpPr/>
            <p:nvPr/>
          </p:nvSpPr>
          <p:spPr>
            <a:xfrm>
              <a:off x="342900" y="1219200"/>
              <a:ext cx="3733800" cy="5181600"/>
            </a:xfrm>
            <a:custGeom>
              <a:avLst/>
              <a:gdLst/>
              <a:ahLst/>
              <a:cxnLst/>
              <a:rect l="l" t="t" r="r" b="b"/>
              <a:pathLst>
                <a:path w="3733800" h="5181600">
                  <a:moveTo>
                    <a:pt x="114300" y="0"/>
                  </a:moveTo>
                  <a:lnTo>
                    <a:pt x="3619500" y="0"/>
                  </a:lnTo>
                  <a:cubicBezTo>
                    <a:pt x="3682626" y="0"/>
                    <a:pt x="3733800" y="51174"/>
                    <a:pt x="3733800" y="114300"/>
                  </a:cubicBezTo>
                  <a:lnTo>
                    <a:pt x="3733800" y="5067300"/>
                  </a:lnTo>
                  <a:cubicBezTo>
                    <a:pt x="3733800" y="5130426"/>
                    <a:pt x="3682626" y="5181600"/>
                    <a:pt x="3619500" y="5181600"/>
                  </a:cubicBezTo>
                  <a:lnTo>
                    <a:pt x="114300" y="5181600"/>
                  </a:lnTo>
                  <a:cubicBezTo>
                    <a:pt x="51174" y="5181600"/>
                    <a:pt x="0" y="5130426"/>
                    <a:pt x="0" y="5067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 w="17145">
              <a:solidFill>
                <a:srgbClr val="0D67C5"/>
              </a:solidFill>
            </a:ln>
            <a:effectLst>
              <a:glow rad="76200">
                <a:srgbClr val="000000">
                  <a:alpha val="30000"/>
                </a:srgbClr>
              </a:glow>
            </a:effectLst>
          </p:spPr>
        </p:sp>
        <p:sp>
          <p:nvSpPr>
            <p:cNvPr id="6" name="Freeform 6"/>
            <p:cNvSpPr/>
            <p:nvPr/>
          </p:nvSpPr>
          <p:spPr>
            <a:xfrm>
              <a:off x="342900" y="1219200"/>
              <a:ext cx="3733800" cy="504825"/>
            </a:xfrm>
            <a:custGeom>
              <a:avLst/>
              <a:gdLst/>
              <a:ahLst/>
              <a:cxnLst/>
              <a:rect l="l" t="t" r="r" b="b"/>
              <a:pathLst>
                <a:path w="3733800" h="504825">
                  <a:moveTo>
                    <a:pt x="114300" y="0"/>
                  </a:moveTo>
                  <a:lnTo>
                    <a:pt x="3619500" y="0"/>
                  </a:lnTo>
                  <a:cubicBezTo>
                    <a:pt x="3682626" y="0"/>
                    <a:pt x="3733800" y="51174"/>
                    <a:pt x="3733800" y="114300"/>
                  </a:cubicBezTo>
                  <a:lnTo>
                    <a:pt x="3733800" y="504825"/>
                  </a:lnTo>
                  <a:lnTo>
                    <a:pt x="0" y="504825"/>
                  </a:ln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gradFill>
              <a:gsLst>
                <a:gs pos="0">
                  <a:srgbClr val="065FC5"/>
                </a:gs>
                <a:gs pos="100000">
                  <a:srgbClr val="003366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10030" y="1348740"/>
              <a:ext cx="339953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原始文本表示（BrickGPT）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52450" y="1914525"/>
              <a:ext cx="4981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60C9"/>
                  </a:solidFill>
                  <a:latin typeface="Noto Sans CJK SC"/>
                  <a:ea typeface="Microsoft YaHei"/>
                  <a:cs typeface="Noto Sans CJK SC"/>
                </a:rPr>
                <a:t>示例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552450" y="2209800"/>
              <a:ext cx="3257550" cy="590550"/>
            </a:xfrm>
            <a:custGeom>
              <a:avLst/>
              <a:gdLst/>
              <a:ahLst/>
              <a:cxnLst/>
              <a:rect l="l" t="t" r="r" b="b"/>
              <a:pathLst>
                <a:path w="3257550" h="590550">
                  <a:moveTo>
                    <a:pt x="66675" y="0"/>
                  </a:moveTo>
                  <a:lnTo>
                    <a:pt x="3190875" y="0"/>
                  </a:lnTo>
                  <a:cubicBezTo>
                    <a:pt x="3227699" y="0"/>
                    <a:pt x="3257550" y="29851"/>
                    <a:pt x="3257550" y="66675"/>
                  </a:cubicBezTo>
                  <a:lnTo>
                    <a:pt x="3257550" y="523875"/>
                  </a:lnTo>
                  <a:cubicBezTo>
                    <a:pt x="3257550" y="560699"/>
                    <a:pt x="3227699" y="590550"/>
                    <a:pt x="3190875" y="590550"/>
                  </a:cubicBezTo>
                  <a:lnTo>
                    <a:pt x="66675" y="590550"/>
                  </a:lnTo>
                  <a:cubicBezTo>
                    <a:pt x="29851" y="590550"/>
                    <a:pt x="0" y="560699"/>
                    <a:pt x="0" y="523875"/>
                  </a:cubicBezTo>
                  <a:lnTo>
                    <a:pt x="0" y="66675"/>
                  </a:lnTo>
                  <a:cubicBezTo>
                    <a:pt x="0" y="29851"/>
                    <a:pt x="29851" y="0"/>
                    <a:pt x="66675" y="0"/>
                  </a:cubicBez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8C8C8C"/>
              </a:solidFill>
              <a:prstDash val="dash"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46072" y="2391251"/>
              <a:ext cx="1870305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5" dirty="0">
                  <a:solidFill>
                    <a:srgbClr val="111111"/>
                  </a:solidFill>
                  <a:latin typeface="Noto Sans CJK SC"/>
                  <a:ea typeface="Microsoft YaHei"/>
                  <a:cs typeface="Noto Sans CJK SC"/>
                </a:rPr>
                <a:t>1x2（7,4,0）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2450" y="3124200"/>
              <a:ext cx="280994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60C9"/>
                  </a:solidFill>
                  <a:latin typeface="Noto Sans CJK SC"/>
                  <a:ea typeface="Microsoft YaHei"/>
                  <a:cs typeface="Noto Sans CJK SC"/>
                </a:rPr>
                <a:t>被拆分为多个字符级 token</a:t>
              </a:r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542925" y="3448050"/>
              <a:ext cx="3648075" cy="416719"/>
              <a:chOff x="542925" y="3448050"/>
              <a:chExt cx="3648075" cy="416719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542925" y="3448050"/>
                <a:ext cx="304800" cy="40005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400050">
                    <a:moveTo>
                      <a:pt x="57150" y="0"/>
                    </a:moveTo>
                    <a:lnTo>
                      <a:pt x="247650" y="0"/>
                    </a:lnTo>
                    <a:cubicBezTo>
                      <a:pt x="279213" y="0"/>
                      <a:pt x="304800" y="25587"/>
                      <a:pt x="304800" y="57150"/>
                    </a:cubicBezTo>
                    <a:lnTo>
                      <a:pt x="304800" y="342900"/>
                    </a:lnTo>
                    <a:cubicBezTo>
                      <a:pt x="304800" y="374463"/>
                      <a:pt x="279213" y="400050"/>
                      <a:pt x="247650" y="400050"/>
                    </a:cubicBezTo>
                    <a:lnTo>
                      <a:pt x="57150" y="400050"/>
                    </a:lnTo>
                    <a:cubicBezTo>
                      <a:pt x="25587" y="400050"/>
                      <a:pt x="0" y="374463"/>
                      <a:pt x="0" y="342900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rgbClr val="F5F7FA"/>
              </a:solidFill>
              <a:ln w="9525">
                <a:solidFill>
                  <a:srgbClr val="B3B8C0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639093" y="3544729"/>
                <a:ext cx="112464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111111"/>
                    </a:solidFill>
                    <a:latin typeface="Noto Sans CJK SC"/>
                    <a:ea typeface="Microsoft YaHei"/>
                    <a:cs typeface="Noto Sans CJK SC"/>
                  </a:rPr>
                  <a:t>1</a:t>
                </a:r>
              </a:p>
            </p:txBody>
          </p:sp>
          <p:sp>
            <p:nvSpPr>
              <p:cNvPr id="14" name="Freeform 14"/>
              <p:cNvSpPr/>
              <p:nvPr/>
            </p:nvSpPr>
            <p:spPr>
              <a:xfrm>
                <a:off x="914400" y="3448050"/>
                <a:ext cx="304800" cy="40005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400050">
                    <a:moveTo>
                      <a:pt x="57150" y="0"/>
                    </a:moveTo>
                    <a:lnTo>
                      <a:pt x="247650" y="0"/>
                    </a:lnTo>
                    <a:cubicBezTo>
                      <a:pt x="279213" y="0"/>
                      <a:pt x="304800" y="25587"/>
                      <a:pt x="304800" y="57150"/>
                    </a:cubicBezTo>
                    <a:lnTo>
                      <a:pt x="304800" y="342900"/>
                    </a:lnTo>
                    <a:cubicBezTo>
                      <a:pt x="304800" y="374463"/>
                      <a:pt x="279213" y="400050"/>
                      <a:pt x="247650" y="400050"/>
                    </a:cubicBezTo>
                    <a:lnTo>
                      <a:pt x="57150" y="400050"/>
                    </a:lnTo>
                    <a:cubicBezTo>
                      <a:pt x="25587" y="400050"/>
                      <a:pt x="0" y="374463"/>
                      <a:pt x="0" y="342900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rgbClr val="F5F7FA"/>
              </a:solidFill>
              <a:ln w="9525">
                <a:solidFill>
                  <a:srgbClr val="B3B8C0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980377" y="3544729"/>
                <a:ext cx="172847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111111"/>
                    </a:solidFill>
                    <a:latin typeface="Noto Sans CJK SC"/>
                    <a:ea typeface="Microsoft YaHei"/>
                    <a:cs typeface="Noto Sans CJK SC"/>
                  </a:rPr>
                  <a:t>x</a:t>
                </a:r>
              </a:p>
            </p:txBody>
          </p:sp>
          <p:sp>
            <p:nvSpPr>
              <p:cNvPr id="16" name="Freeform 16"/>
              <p:cNvSpPr/>
              <p:nvPr/>
            </p:nvSpPr>
            <p:spPr>
              <a:xfrm>
                <a:off x="1285875" y="3448050"/>
                <a:ext cx="304800" cy="40005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400050">
                    <a:moveTo>
                      <a:pt x="57150" y="0"/>
                    </a:moveTo>
                    <a:lnTo>
                      <a:pt x="247650" y="0"/>
                    </a:lnTo>
                    <a:cubicBezTo>
                      <a:pt x="279213" y="0"/>
                      <a:pt x="304800" y="25587"/>
                      <a:pt x="304800" y="57150"/>
                    </a:cubicBezTo>
                    <a:lnTo>
                      <a:pt x="304800" y="342900"/>
                    </a:lnTo>
                    <a:cubicBezTo>
                      <a:pt x="304800" y="374463"/>
                      <a:pt x="279213" y="400050"/>
                      <a:pt x="247650" y="400050"/>
                    </a:cubicBezTo>
                    <a:lnTo>
                      <a:pt x="57150" y="400050"/>
                    </a:lnTo>
                    <a:cubicBezTo>
                      <a:pt x="25587" y="400050"/>
                      <a:pt x="0" y="374463"/>
                      <a:pt x="0" y="342900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rgbClr val="F5F7FA"/>
              </a:solidFill>
              <a:ln w="9525">
                <a:solidFill>
                  <a:srgbClr val="B3B8C0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351852" y="3544729"/>
                <a:ext cx="172847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111111"/>
                    </a:solidFill>
                    <a:latin typeface="Noto Sans CJK SC"/>
                    <a:ea typeface="Microsoft YaHei"/>
                    <a:cs typeface="Noto Sans CJK SC"/>
                  </a:rPr>
                  <a:t>2</a:t>
                </a:r>
              </a:p>
            </p:txBody>
          </p:sp>
          <p:sp>
            <p:nvSpPr>
              <p:cNvPr id="18" name="Freeform 18"/>
              <p:cNvSpPr/>
              <p:nvPr/>
            </p:nvSpPr>
            <p:spPr>
              <a:xfrm>
                <a:off x="1657350" y="3448050"/>
                <a:ext cx="304800" cy="40005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400050">
                    <a:moveTo>
                      <a:pt x="57150" y="0"/>
                    </a:moveTo>
                    <a:lnTo>
                      <a:pt x="247650" y="0"/>
                    </a:lnTo>
                    <a:cubicBezTo>
                      <a:pt x="279213" y="0"/>
                      <a:pt x="304800" y="25587"/>
                      <a:pt x="304800" y="57150"/>
                    </a:cubicBezTo>
                    <a:lnTo>
                      <a:pt x="304800" y="342900"/>
                    </a:lnTo>
                    <a:cubicBezTo>
                      <a:pt x="304800" y="374463"/>
                      <a:pt x="279213" y="400050"/>
                      <a:pt x="247650" y="400050"/>
                    </a:cubicBezTo>
                    <a:lnTo>
                      <a:pt x="57150" y="400050"/>
                    </a:lnTo>
                    <a:cubicBezTo>
                      <a:pt x="25587" y="400050"/>
                      <a:pt x="0" y="374463"/>
                      <a:pt x="0" y="342900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rgbClr val="F5F7FA"/>
              </a:solidFill>
              <a:ln w="9525">
                <a:solidFill>
                  <a:srgbClr val="B3B8C0"/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723327" y="3544729"/>
                <a:ext cx="172847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111111"/>
                    </a:solidFill>
                    <a:latin typeface="Noto Sans CJK SC"/>
                    <a:ea typeface="Microsoft YaHei"/>
                    <a:cs typeface="Noto Sans CJK SC"/>
                  </a:rPr>
                  <a:t>(</a:t>
                </a:r>
              </a:p>
            </p:txBody>
          </p:sp>
          <p:sp>
            <p:nvSpPr>
              <p:cNvPr id="20" name="Freeform 20"/>
              <p:cNvSpPr/>
              <p:nvPr/>
            </p:nvSpPr>
            <p:spPr>
              <a:xfrm>
                <a:off x="2028825" y="3448050"/>
                <a:ext cx="304800" cy="40005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400050">
                    <a:moveTo>
                      <a:pt x="57150" y="0"/>
                    </a:moveTo>
                    <a:lnTo>
                      <a:pt x="247650" y="0"/>
                    </a:lnTo>
                    <a:cubicBezTo>
                      <a:pt x="279213" y="0"/>
                      <a:pt x="304800" y="25587"/>
                      <a:pt x="304800" y="57150"/>
                    </a:cubicBezTo>
                    <a:lnTo>
                      <a:pt x="304800" y="342900"/>
                    </a:lnTo>
                    <a:cubicBezTo>
                      <a:pt x="304800" y="374463"/>
                      <a:pt x="279213" y="400050"/>
                      <a:pt x="247650" y="400050"/>
                    </a:cubicBezTo>
                    <a:lnTo>
                      <a:pt x="57150" y="400050"/>
                    </a:lnTo>
                    <a:cubicBezTo>
                      <a:pt x="25587" y="400050"/>
                      <a:pt x="0" y="374463"/>
                      <a:pt x="0" y="342900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rgbClr val="F5F7FA"/>
              </a:solidFill>
              <a:ln w="9525">
                <a:solidFill>
                  <a:srgbClr val="B3B8C0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2094802" y="3544729"/>
                <a:ext cx="172847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111111"/>
                    </a:solidFill>
                    <a:latin typeface="Noto Sans CJK SC"/>
                    <a:ea typeface="Microsoft YaHei"/>
                    <a:cs typeface="Noto Sans CJK SC"/>
                  </a:rPr>
                  <a:t>7</a:t>
                </a:r>
              </a:p>
            </p:txBody>
          </p:sp>
          <p:sp>
            <p:nvSpPr>
              <p:cNvPr id="22" name="Freeform 22"/>
              <p:cNvSpPr/>
              <p:nvPr/>
            </p:nvSpPr>
            <p:spPr>
              <a:xfrm>
                <a:off x="2400300" y="3448050"/>
                <a:ext cx="304800" cy="40005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400050">
                    <a:moveTo>
                      <a:pt x="57150" y="0"/>
                    </a:moveTo>
                    <a:lnTo>
                      <a:pt x="247650" y="0"/>
                    </a:lnTo>
                    <a:cubicBezTo>
                      <a:pt x="279213" y="0"/>
                      <a:pt x="304800" y="25587"/>
                      <a:pt x="304800" y="57150"/>
                    </a:cubicBezTo>
                    <a:lnTo>
                      <a:pt x="304800" y="342900"/>
                    </a:lnTo>
                    <a:cubicBezTo>
                      <a:pt x="304800" y="374463"/>
                      <a:pt x="279213" y="400050"/>
                      <a:pt x="247650" y="400050"/>
                    </a:cubicBezTo>
                    <a:lnTo>
                      <a:pt x="57150" y="400050"/>
                    </a:lnTo>
                    <a:cubicBezTo>
                      <a:pt x="25587" y="400050"/>
                      <a:pt x="0" y="374463"/>
                      <a:pt x="0" y="342900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rgbClr val="F5F7FA"/>
              </a:solidFill>
              <a:ln w="9525">
                <a:solidFill>
                  <a:srgbClr val="B3B8C0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2466277" y="3544729"/>
                <a:ext cx="172847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111111"/>
                    </a:solidFill>
                    <a:latin typeface="Noto Sans CJK SC"/>
                    <a:ea typeface="Microsoft YaHei"/>
                    <a:cs typeface="Noto Sans CJK SC"/>
                  </a:rPr>
                  <a:t>,</a:t>
                </a:r>
              </a:p>
            </p:txBody>
          </p:sp>
          <p:sp>
            <p:nvSpPr>
              <p:cNvPr id="24" name="Freeform 24"/>
              <p:cNvSpPr/>
              <p:nvPr/>
            </p:nvSpPr>
            <p:spPr>
              <a:xfrm>
                <a:off x="2771775" y="3448050"/>
                <a:ext cx="304800" cy="40005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400050">
                    <a:moveTo>
                      <a:pt x="57150" y="0"/>
                    </a:moveTo>
                    <a:lnTo>
                      <a:pt x="247650" y="0"/>
                    </a:lnTo>
                    <a:cubicBezTo>
                      <a:pt x="279213" y="0"/>
                      <a:pt x="304800" y="25587"/>
                      <a:pt x="304800" y="57150"/>
                    </a:cubicBezTo>
                    <a:lnTo>
                      <a:pt x="304800" y="342900"/>
                    </a:lnTo>
                    <a:cubicBezTo>
                      <a:pt x="304800" y="374463"/>
                      <a:pt x="279213" y="400050"/>
                      <a:pt x="247650" y="400050"/>
                    </a:cubicBezTo>
                    <a:lnTo>
                      <a:pt x="57150" y="400050"/>
                    </a:lnTo>
                    <a:cubicBezTo>
                      <a:pt x="25587" y="400050"/>
                      <a:pt x="0" y="374463"/>
                      <a:pt x="0" y="342900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rgbClr val="F5F7FA"/>
              </a:solidFill>
              <a:ln w="9525">
                <a:solidFill>
                  <a:srgbClr val="B3B8C0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2837752" y="3544729"/>
                <a:ext cx="172847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111111"/>
                    </a:solidFill>
                    <a:latin typeface="Noto Sans CJK SC"/>
                    <a:ea typeface="Microsoft YaHei"/>
                    <a:cs typeface="Noto Sans CJK SC"/>
                  </a:rPr>
                  <a:t>4</a:t>
                </a:r>
              </a:p>
            </p:txBody>
          </p:sp>
          <p:sp>
            <p:nvSpPr>
              <p:cNvPr id="26" name="Freeform 26"/>
              <p:cNvSpPr/>
              <p:nvPr/>
            </p:nvSpPr>
            <p:spPr>
              <a:xfrm>
                <a:off x="3143250" y="3448050"/>
                <a:ext cx="304800" cy="40005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400050">
                    <a:moveTo>
                      <a:pt x="57150" y="0"/>
                    </a:moveTo>
                    <a:lnTo>
                      <a:pt x="247650" y="0"/>
                    </a:lnTo>
                    <a:cubicBezTo>
                      <a:pt x="279213" y="0"/>
                      <a:pt x="304800" y="25587"/>
                      <a:pt x="304800" y="57150"/>
                    </a:cubicBezTo>
                    <a:lnTo>
                      <a:pt x="304800" y="342900"/>
                    </a:lnTo>
                    <a:cubicBezTo>
                      <a:pt x="304800" y="374463"/>
                      <a:pt x="279213" y="400050"/>
                      <a:pt x="247650" y="400050"/>
                    </a:cubicBezTo>
                    <a:lnTo>
                      <a:pt x="57150" y="400050"/>
                    </a:lnTo>
                    <a:cubicBezTo>
                      <a:pt x="25587" y="400050"/>
                      <a:pt x="0" y="374463"/>
                      <a:pt x="0" y="342900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rgbClr val="F5F7FA"/>
              </a:solidFill>
              <a:ln w="9525">
                <a:solidFill>
                  <a:srgbClr val="B3B8C0"/>
                </a:solidFill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3209227" y="3544729"/>
                <a:ext cx="172847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111111"/>
                    </a:solidFill>
                    <a:latin typeface="Noto Sans CJK SC"/>
                    <a:ea typeface="Microsoft YaHei"/>
                    <a:cs typeface="Noto Sans CJK SC"/>
                  </a:rPr>
                  <a:t>,</a:t>
                </a:r>
              </a:p>
            </p:txBody>
          </p:sp>
          <p:sp>
            <p:nvSpPr>
              <p:cNvPr id="28" name="Freeform 28"/>
              <p:cNvSpPr/>
              <p:nvPr/>
            </p:nvSpPr>
            <p:spPr>
              <a:xfrm>
                <a:off x="3514725" y="3448050"/>
                <a:ext cx="304800" cy="40005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400050">
                    <a:moveTo>
                      <a:pt x="57150" y="0"/>
                    </a:moveTo>
                    <a:lnTo>
                      <a:pt x="247650" y="0"/>
                    </a:lnTo>
                    <a:cubicBezTo>
                      <a:pt x="279213" y="0"/>
                      <a:pt x="304800" y="25587"/>
                      <a:pt x="304800" y="57150"/>
                    </a:cubicBezTo>
                    <a:lnTo>
                      <a:pt x="304800" y="342900"/>
                    </a:lnTo>
                    <a:cubicBezTo>
                      <a:pt x="304800" y="374463"/>
                      <a:pt x="279213" y="400050"/>
                      <a:pt x="247650" y="400050"/>
                    </a:cubicBezTo>
                    <a:lnTo>
                      <a:pt x="57150" y="400050"/>
                    </a:lnTo>
                    <a:cubicBezTo>
                      <a:pt x="25587" y="400050"/>
                      <a:pt x="0" y="374463"/>
                      <a:pt x="0" y="342900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rgbClr val="F5F7FA"/>
              </a:solidFill>
              <a:ln w="9525">
                <a:solidFill>
                  <a:srgbClr val="B3B8C0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3580702" y="3544729"/>
                <a:ext cx="172847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111111"/>
                    </a:solidFill>
                    <a:latin typeface="Noto Sans CJK SC"/>
                    <a:ea typeface="Microsoft YaHei"/>
                    <a:cs typeface="Noto Sans CJK SC"/>
                  </a:rPr>
                  <a:t>0</a:t>
                </a:r>
              </a:p>
            </p:txBody>
          </p:sp>
          <p:sp>
            <p:nvSpPr>
              <p:cNvPr id="30" name="Freeform 30"/>
              <p:cNvSpPr/>
              <p:nvPr/>
            </p:nvSpPr>
            <p:spPr>
              <a:xfrm>
                <a:off x="3886200" y="3448050"/>
                <a:ext cx="304800" cy="40005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400050">
                    <a:moveTo>
                      <a:pt x="57150" y="0"/>
                    </a:moveTo>
                    <a:lnTo>
                      <a:pt x="247650" y="0"/>
                    </a:lnTo>
                    <a:cubicBezTo>
                      <a:pt x="279213" y="0"/>
                      <a:pt x="304800" y="25587"/>
                      <a:pt x="304800" y="57150"/>
                    </a:cubicBezTo>
                    <a:lnTo>
                      <a:pt x="304800" y="342900"/>
                    </a:lnTo>
                    <a:cubicBezTo>
                      <a:pt x="304800" y="374463"/>
                      <a:pt x="279213" y="400050"/>
                      <a:pt x="247650" y="400050"/>
                    </a:cubicBezTo>
                    <a:lnTo>
                      <a:pt x="57150" y="400050"/>
                    </a:lnTo>
                    <a:cubicBezTo>
                      <a:pt x="25587" y="400050"/>
                      <a:pt x="0" y="374463"/>
                      <a:pt x="0" y="342900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rgbClr val="F5F7FA"/>
              </a:solidFill>
              <a:ln w="9525">
                <a:solidFill>
                  <a:srgbClr val="B3B8C0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3952177" y="3544729"/>
                <a:ext cx="172847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111111"/>
                    </a:solidFill>
                    <a:latin typeface="Noto Sans CJK SC"/>
                    <a:ea typeface="Microsoft YaHei"/>
                    <a:cs typeface="Noto Sans CJK SC"/>
                  </a:rPr>
                  <a:t>)</a:t>
                </a:r>
              </a:p>
            </p:txBody>
          </p:sp>
        </p:grpSp>
        <p:sp>
          <p:nvSpPr>
            <p:cNvPr id="33" name="Line 33"/>
            <p:cNvSpPr/>
            <p:nvPr/>
          </p:nvSpPr>
          <p:spPr>
            <a:xfrm>
              <a:off x="514350" y="4143375"/>
              <a:ext cx="3371850" cy="9525"/>
            </a:xfrm>
            <a:custGeom>
              <a:avLst/>
              <a:gdLst/>
              <a:ahLst/>
              <a:cxnLst/>
              <a:rect l="l" t="t" r="r" b="b"/>
              <a:pathLst>
                <a:path w="3371850" h="9525">
                  <a:moveTo>
                    <a:pt x="0" y="0"/>
                  </a:moveTo>
                  <a:lnTo>
                    <a:pt x="3371850" y="0"/>
                  </a:lnTo>
                </a:path>
              </a:pathLst>
            </a:custGeom>
            <a:noFill/>
            <a:ln w="19050">
              <a:solidFill>
                <a:srgbClr val="8FA6C4"/>
              </a:solidFill>
              <a:prstDash val="dash"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52450" y="4324350"/>
              <a:ext cx="11882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60C9"/>
                  </a:solidFill>
                  <a:latin typeface="Noto Sans CJK SC"/>
                  <a:ea typeface="Microsoft YaHei"/>
                  <a:cs typeface="Noto Sans CJK SC"/>
                </a:rPr>
                <a:t>存在的问题</a:t>
              </a:r>
            </a:p>
          </p:txBody>
        </p:sp>
        <p:grpSp>
          <p:nvGrpSpPr>
            <p:cNvPr id="47" name="Group 47"/>
            <p:cNvGrpSpPr/>
            <p:nvPr/>
          </p:nvGrpSpPr>
          <p:grpSpPr>
            <a:xfrm>
              <a:off x="600075" y="4705350"/>
              <a:ext cx="3010853" cy="1426369"/>
              <a:chOff x="600075" y="4705350"/>
              <a:chExt cx="3010853" cy="1426369"/>
            </a:xfrm>
          </p:grpSpPr>
          <p:grpSp>
            <p:nvGrpSpPr>
              <p:cNvPr id="38" name="Group 38"/>
              <p:cNvGrpSpPr/>
              <p:nvPr/>
            </p:nvGrpSpPr>
            <p:grpSpPr>
              <a:xfrm>
                <a:off x="600075" y="4705350"/>
                <a:ext cx="2188774" cy="435769"/>
                <a:chOff x="600075" y="4705350"/>
                <a:chExt cx="2188774" cy="435769"/>
              </a:xfrm>
            </p:grpSpPr>
            <p:sp>
              <p:nvSpPr>
                <p:cNvPr id="35" name="Freeform 35"/>
                <p:cNvSpPr/>
                <p:nvPr/>
              </p:nvSpPr>
              <p:spPr>
                <a:xfrm>
                  <a:off x="600075" y="4705350"/>
                  <a:ext cx="323850" cy="314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3850" h="314325">
                      <a:moveTo>
                        <a:pt x="161925" y="0"/>
                      </a:moveTo>
                      <a:lnTo>
                        <a:pt x="323850" y="314325"/>
                      </a:lnTo>
                      <a:lnTo>
                        <a:pt x="0" y="314325"/>
                      </a:lnTo>
                      <a:close/>
                    </a:path>
                  </a:pathLst>
                </a:custGeom>
                <a:solidFill>
                  <a:srgbClr val="FFC928"/>
                </a:solidFill>
                <a:ln w="17145">
                  <a:solidFill>
                    <a:srgbClr val="AD7800"/>
                  </a:solidFill>
                </a:ln>
              </p:spPr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695057" y="4760119"/>
                  <a:ext cx="133886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875" b="1" dirty="0">
                      <a:solidFill>
                        <a:srgbClr val="111111"/>
                      </a:solidFill>
                      <a:latin typeface="Noto Sans CJK SC"/>
                      <a:ea typeface="Microsoft YaHei"/>
                      <a:cs typeface="Noto Sans CJK SC"/>
                    </a:rPr>
                    <a:t>!</a:t>
                  </a:r>
                </a:p>
              </p:txBody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1077278" y="4780121"/>
                  <a:ext cx="1711571" cy="2895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425" dirty="0">
                      <a:solidFill>
                        <a:srgbClr val="111111"/>
                      </a:solidFill>
                      <a:latin typeface="Noto Sans CJK SC"/>
                      <a:ea typeface="Microsoft YaHei"/>
                      <a:cs typeface="Noto Sans CJK SC"/>
                    </a:rPr>
                    <a:t>token 碎片化严重</a:t>
                  </a:r>
                </a:p>
              </p:txBody>
            </p:sp>
          </p:grpSp>
          <p:grpSp>
            <p:nvGrpSpPr>
              <p:cNvPr id="42" name="Group 42"/>
              <p:cNvGrpSpPr/>
              <p:nvPr/>
            </p:nvGrpSpPr>
            <p:grpSpPr>
              <a:xfrm>
                <a:off x="600075" y="5200650"/>
                <a:ext cx="2802732" cy="435769"/>
                <a:chOff x="600075" y="5200650"/>
                <a:chExt cx="2802732" cy="435769"/>
              </a:xfrm>
            </p:grpSpPr>
            <p:sp>
              <p:nvSpPr>
                <p:cNvPr id="39" name="Freeform 39"/>
                <p:cNvSpPr/>
                <p:nvPr/>
              </p:nvSpPr>
              <p:spPr>
                <a:xfrm>
                  <a:off x="600075" y="5200650"/>
                  <a:ext cx="323850" cy="314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3850" h="314325">
                      <a:moveTo>
                        <a:pt x="161925" y="0"/>
                      </a:moveTo>
                      <a:lnTo>
                        <a:pt x="323850" y="314325"/>
                      </a:lnTo>
                      <a:lnTo>
                        <a:pt x="0" y="314325"/>
                      </a:lnTo>
                      <a:close/>
                    </a:path>
                  </a:pathLst>
                </a:custGeom>
                <a:solidFill>
                  <a:srgbClr val="FFC928"/>
                </a:solidFill>
                <a:ln w="17145">
                  <a:solidFill>
                    <a:srgbClr val="AD7800"/>
                  </a:solidFill>
                </a:ln>
              </p:spPr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695057" y="5255419"/>
                  <a:ext cx="133886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875" b="1" dirty="0">
                      <a:solidFill>
                        <a:srgbClr val="111111"/>
                      </a:solidFill>
                      <a:latin typeface="Noto Sans CJK SC"/>
                      <a:ea typeface="Microsoft YaHei"/>
                      <a:cs typeface="Noto Sans CJK SC"/>
                    </a:rPr>
                    <a:t>!</a:t>
                  </a:r>
                </a:p>
              </p:txBody>
            </p:sp>
            <p:sp>
              <p:nvSpPr>
                <p:cNvPr id="41" name="TextBox 41"/>
                <p:cNvSpPr txBox="1"/>
                <p:nvPr/>
              </p:nvSpPr>
              <p:spPr>
                <a:xfrm>
                  <a:off x="1077278" y="5275421"/>
                  <a:ext cx="2325529" cy="2895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425" dirty="0">
                      <a:solidFill>
                        <a:srgbClr val="111111"/>
                      </a:solidFill>
                      <a:latin typeface="Noto Sans CJK SC"/>
                      <a:ea typeface="Microsoft YaHei"/>
                      <a:cs typeface="Noto Sans CJK SC"/>
                    </a:rPr>
                    <a:t>结构边界依赖符号与换行</a:t>
                  </a:r>
                </a:p>
              </p:txBody>
            </p:sp>
          </p:grpSp>
          <p:grpSp>
            <p:nvGrpSpPr>
              <p:cNvPr id="46" name="Group 46"/>
              <p:cNvGrpSpPr/>
              <p:nvPr/>
            </p:nvGrpSpPr>
            <p:grpSpPr>
              <a:xfrm>
                <a:off x="600075" y="5695950"/>
                <a:ext cx="3010853" cy="435769"/>
                <a:chOff x="600075" y="5695950"/>
                <a:chExt cx="3010853" cy="435769"/>
              </a:xfrm>
            </p:grpSpPr>
            <p:sp>
              <p:nvSpPr>
                <p:cNvPr id="43" name="Freeform 43"/>
                <p:cNvSpPr/>
                <p:nvPr/>
              </p:nvSpPr>
              <p:spPr>
                <a:xfrm>
                  <a:off x="600075" y="5695950"/>
                  <a:ext cx="323850" cy="314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3850" h="314325">
                      <a:moveTo>
                        <a:pt x="161925" y="0"/>
                      </a:moveTo>
                      <a:lnTo>
                        <a:pt x="323850" y="314325"/>
                      </a:lnTo>
                      <a:lnTo>
                        <a:pt x="0" y="314325"/>
                      </a:lnTo>
                      <a:close/>
                    </a:path>
                  </a:pathLst>
                </a:custGeom>
                <a:solidFill>
                  <a:srgbClr val="FFC928"/>
                </a:solidFill>
                <a:ln w="17145">
                  <a:solidFill>
                    <a:srgbClr val="AD7800"/>
                  </a:solidFill>
                </a:ln>
              </p:spPr>
            </p:sp>
            <p:sp>
              <p:nvSpPr>
                <p:cNvPr id="44" name="TextBox 44"/>
                <p:cNvSpPr txBox="1"/>
                <p:nvPr/>
              </p:nvSpPr>
              <p:spPr>
                <a:xfrm>
                  <a:off x="695057" y="5750719"/>
                  <a:ext cx="133886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875" b="1" dirty="0">
                      <a:solidFill>
                        <a:srgbClr val="111111"/>
                      </a:solidFill>
                      <a:latin typeface="Noto Sans CJK SC"/>
                      <a:ea typeface="Microsoft YaHei"/>
                      <a:cs typeface="Noto Sans CJK SC"/>
                    </a:rPr>
                    <a:t>!</a:t>
                  </a:r>
                </a:p>
              </p:txBody>
            </p:sp>
            <p:sp>
              <p:nvSpPr>
                <p:cNvPr id="45" name="TextBox 45"/>
                <p:cNvSpPr txBox="1"/>
                <p:nvPr/>
              </p:nvSpPr>
              <p:spPr>
                <a:xfrm>
                  <a:off x="1077278" y="5770721"/>
                  <a:ext cx="2533650" cy="2895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425" dirty="0">
                      <a:solidFill>
                        <a:srgbClr val="111111"/>
                      </a:solidFill>
                      <a:latin typeface="Noto Sans CJK SC"/>
                      <a:ea typeface="Microsoft YaHei"/>
                      <a:cs typeface="Noto Sans CJK SC"/>
                    </a:rPr>
                    <a:t>坐标之间的顺序关系不显式</a:t>
                  </a:r>
                </a:p>
              </p:txBody>
            </p:sp>
          </p:grpSp>
        </p:grpSp>
      </p:grpSp>
      <p:sp>
        <p:nvSpPr>
          <p:cNvPr id="49" name="Polygon 49"/>
          <p:cNvSpPr/>
          <p:nvPr/>
        </p:nvSpPr>
        <p:spPr>
          <a:xfrm>
            <a:off x="4105275" y="3038475"/>
            <a:ext cx="447675" cy="781050"/>
          </a:xfrm>
          <a:custGeom>
            <a:avLst/>
            <a:gdLst/>
            <a:ahLst/>
            <a:cxnLst/>
            <a:rect l="l" t="t" r="r" b="b"/>
            <a:pathLst>
              <a:path w="447675" h="781050">
                <a:moveTo>
                  <a:pt x="0" y="200025"/>
                </a:moveTo>
                <a:lnTo>
                  <a:pt x="238125" y="200025"/>
                </a:lnTo>
                <a:lnTo>
                  <a:pt x="238125" y="0"/>
                </a:lnTo>
                <a:lnTo>
                  <a:pt x="447675" y="390525"/>
                </a:lnTo>
                <a:lnTo>
                  <a:pt x="238125" y="781050"/>
                </a:lnTo>
                <a:lnTo>
                  <a:pt x="238125" y="571500"/>
                </a:lnTo>
                <a:lnTo>
                  <a:pt x="0" y="571500"/>
                </a:lnTo>
                <a:close/>
              </a:path>
            </a:pathLst>
          </a:custGeom>
          <a:solidFill>
            <a:srgbClr val="0060C9">
              <a:alpha val="95000"/>
            </a:srgbClr>
          </a:solidFill>
          <a:ln>
            <a:noFill/>
          </a:ln>
        </p:spPr>
      </p:sp>
      <p:grpSp>
        <p:nvGrpSpPr>
          <p:cNvPr id="117" name="Group 117"/>
          <p:cNvGrpSpPr/>
          <p:nvPr/>
        </p:nvGrpSpPr>
        <p:grpSpPr>
          <a:xfrm>
            <a:off x="4476750" y="1219200"/>
            <a:ext cx="5143500" cy="5181600"/>
            <a:chOff x="4476750" y="1219200"/>
            <a:chExt cx="5143500" cy="5181600"/>
          </a:xfrm>
        </p:grpSpPr>
        <p:sp>
          <p:nvSpPr>
            <p:cNvPr id="50" name="Freeform 50"/>
            <p:cNvSpPr/>
            <p:nvPr/>
          </p:nvSpPr>
          <p:spPr>
            <a:xfrm>
              <a:off x="4476750" y="1219200"/>
              <a:ext cx="5143500" cy="5181600"/>
            </a:xfrm>
            <a:custGeom>
              <a:avLst/>
              <a:gdLst/>
              <a:ahLst/>
              <a:cxnLst/>
              <a:rect l="l" t="t" r="r" b="b"/>
              <a:pathLst>
                <a:path w="5143500" h="5181600">
                  <a:moveTo>
                    <a:pt x="114300" y="0"/>
                  </a:moveTo>
                  <a:lnTo>
                    <a:pt x="5029200" y="0"/>
                  </a:lnTo>
                  <a:cubicBezTo>
                    <a:pt x="5092326" y="0"/>
                    <a:pt x="5143500" y="51174"/>
                    <a:pt x="5143500" y="114300"/>
                  </a:cubicBezTo>
                  <a:lnTo>
                    <a:pt x="5143500" y="5067300"/>
                  </a:lnTo>
                  <a:cubicBezTo>
                    <a:pt x="5143500" y="5130426"/>
                    <a:pt x="5092326" y="5181600"/>
                    <a:pt x="5029200" y="5181600"/>
                  </a:cubicBezTo>
                  <a:lnTo>
                    <a:pt x="114300" y="5181600"/>
                  </a:lnTo>
                  <a:cubicBezTo>
                    <a:pt x="51174" y="5181600"/>
                    <a:pt x="0" y="5130426"/>
                    <a:pt x="0" y="5067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 w="17145">
              <a:solidFill>
                <a:srgbClr val="0D67C5"/>
              </a:solidFill>
            </a:ln>
            <a:effectLst>
              <a:glow rad="76200">
                <a:srgbClr val="000000">
                  <a:alpha val="30000"/>
                </a:srgbClr>
              </a:glow>
            </a:effectLst>
          </p:spPr>
        </p:sp>
        <p:sp>
          <p:nvSpPr>
            <p:cNvPr id="51" name="Freeform 51"/>
            <p:cNvSpPr/>
            <p:nvPr/>
          </p:nvSpPr>
          <p:spPr>
            <a:xfrm>
              <a:off x="4476750" y="1219200"/>
              <a:ext cx="5143500" cy="504825"/>
            </a:xfrm>
            <a:custGeom>
              <a:avLst/>
              <a:gdLst/>
              <a:ahLst/>
              <a:cxnLst/>
              <a:rect l="l" t="t" r="r" b="b"/>
              <a:pathLst>
                <a:path w="5143500" h="504825">
                  <a:moveTo>
                    <a:pt x="114300" y="0"/>
                  </a:moveTo>
                  <a:lnTo>
                    <a:pt x="5029200" y="0"/>
                  </a:lnTo>
                  <a:cubicBezTo>
                    <a:pt x="5092326" y="0"/>
                    <a:pt x="5143500" y="51174"/>
                    <a:pt x="5143500" y="114300"/>
                  </a:cubicBezTo>
                  <a:lnTo>
                    <a:pt x="5143500" y="504825"/>
                  </a:lnTo>
                  <a:lnTo>
                    <a:pt x="0" y="504825"/>
                  </a:ln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gradFill>
              <a:gsLst>
                <a:gs pos="0">
                  <a:srgbClr val="065FC5"/>
                </a:gs>
                <a:gs pos="100000">
                  <a:srgbClr val="003366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459144" y="1348740"/>
              <a:ext cx="317871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本文的结构化 Token 设计</a:t>
              </a:r>
            </a:p>
          </p:txBody>
        </p:sp>
        <p:sp>
          <p:nvSpPr>
            <p:cNvPr id="53" name="Freeform 53"/>
            <p:cNvSpPr/>
            <p:nvPr/>
          </p:nvSpPr>
          <p:spPr>
            <a:xfrm>
              <a:off x="4610100" y="1819275"/>
              <a:ext cx="4876800" cy="1019175"/>
            </a:xfrm>
            <a:custGeom>
              <a:avLst/>
              <a:gdLst/>
              <a:ahLst/>
              <a:cxnLst/>
              <a:rect l="l" t="t" r="r" b="b"/>
              <a:pathLst>
                <a:path w="4876800" h="1019175">
                  <a:moveTo>
                    <a:pt x="123825" y="0"/>
                  </a:moveTo>
                  <a:lnTo>
                    <a:pt x="4752975" y="0"/>
                  </a:lnTo>
                  <a:cubicBezTo>
                    <a:pt x="4821362" y="0"/>
                    <a:pt x="4876800" y="55438"/>
                    <a:pt x="4876800" y="123825"/>
                  </a:cubicBezTo>
                  <a:lnTo>
                    <a:pt x="4876800" y="895350"/>
                  </a:lnTo>
                  <a:cubicBezTo>
                    <a:pt x="4876800" y="963737"/>
                    <a:pt x="4821362" y="1019175"/>
                    <a:pt x="4752975" y="1019175"/>
                  </a:cubicBezTo>
                  <a:lnTo>
                    <a:pt x="123825" y="1019175"/>
                  </a:lnTo>
                  <a:cubicBezTo>
                    <a:pt x="55438" y="1019175"/>
                    <a:pt x="0" y="963737"/>
                    <a:pt x="0" y="895350"/>
                  </a:cubicBezTo>
                  <a:lnTo>
                    <a:pt x="0" y="123825"/>
                  </a:lnTo>
                  <a:cubicBezTo>
                    <a:pt x="0" y="55438"/>
                    <a:pt x="55438" y="0"/>
                    <a:pt x="123825" y="0"/>
                  </a:cubicBezTo>
                  <a:close/>
                </a:path>
              </a:pathLst>
            </a:custGeom>
            <a:gradFill>
              <a:gsLst>
                <a:gs pos="0">
                  <a:srgbClr val="EEF6FF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4686300" y="1838325"/>
              <a:ext cx="342900" cy="342900"/>
            </a:xfrm>
            <a:prstGeom prst="ellipse">
              <a:avLst/>
            </a:prstGeom>
            <a:solidFill>
              <a:srgbClr val="075FC9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4767211" y="1907858"/>
              <a:ext cx="18107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A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124450" y="1895475"/>
              <a:ext cx="254541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60C9"/>
                  </a:solidFill>
                  <a:latin typeface="Noto Sans CJK SC"/>
                  <a:ea typeface="Microsoft YaHei"/>
                  <a:cs typeface="Noto Sans CJK SC"/>
                </a:rPr>
                <a:t>零件类型 Token（14个）</a:t>
              </a:r>
            </a:p>
          </p:txBody>
        </p:sp>
        <p:grpSp>
          <p:nvGrpSpPr>
            <p:cNvPr id="68" name="Group 68"/>
            <p:cNvGrpSpPr/>
            <p:nvPr/>
          </p:nvGrpSpPr>
          <p:grpSpPr>
            <a:xfrm>
              <a:off x="5127308" y="2209800"/>
              <a:ext cx="4289442" cy="683419"/>
              <a:chOff x="5127308" y="2209800"/>
              <a:chExt cx="4289442" cy="683419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5143500" y="2209800"/>
                <a:ext cx="838200" cy="295275"/>
              </a:xfrm>
              <a:custGeom>
                <a:avLst/>
                <a:gdLst/>
                <a:ahLst/>
                <a:cxnLst/>
                <a:rect l="l" t="t" r="r" b="b"/>
                <a:pathLst>
                  <a:path w="838200" h="295275">
                    <a:moveTo>
                      <a:pt x="47625" y="0"/>
                    </a:moveTo>
                    <a:lnTo>
                      <a:pt x="790575" y="0"/>
                    </a:lnTo>
                    <a:cubicBezTo>
                      <a:pt x="816878" y="0"/>
                      <a:pt x="838200" y="21322"/>
                      <a:pt x="838200" y="47625"/>
                    </a:cubicBezTo>
                    <a:lnTo>
                      <a:pt x="838200" y="247650"/>
                    </a:lnTo>
                    <a:cubicBezTo>
                      <a:pt x="838200" y="273953"/>
                      <a:pt x="816878" y="295275"/>
                      <a:pt x="790575" y="295275"/>
                    </a:cubicBezTo>
                    <a:lnTo>
                      <a:pt x="47625" y="295275"/>
                    </a:lnTo>
                    <a:cubicBezTo>
                      <a:pt x="21322" y="295275"/>
                      <a:pt x="0" y="273953"/>
                      <a:pt x="0" y="247650"/>
                    </a:cubicBez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close/>
                  </a:path>
                </a:pathLst>
              </a:custGeom>
              <a:solidFill>
                <a:srgbClr val="EEF5FF"/>
              </a:solidFill>
              <a:ln w="13335">
                <a:solidFill>
                  <a:srgbClr val="5595EF"/>
                </a:solidFill>
              </a:ln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5218904" y="2281714"/>
                <a:ext cx="68739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173C7A"/>
                    </a:solidFill>
                    <a:latin typeface="Noto Sans CJK SC"/>
                    <a:ea typeface="Microsoft YaHei"/>
                    <a:cs typeface="Noto Sans CJK SC"/>
                  </a:rPr>
                  <a:t>&lt;B_1x1&gt;</a:t>
                </a:r>
              </a:p>
            </p:txBody>
          </p:sp>
          <p:sp>
            <p:nvSpPr>
              <p:cNvPr id="59" name="Freeform 59"/>
              <p:cNvSpPr/>
              <p:nvPr/>
            </p:nvSpPr>
            <p:spPr>
              <a:xfrm>
                <a:off x="6124575" y="2209800"/>
                <a:ext cx="838200" cy="295275"/>
              </a:xfrm>
              <a:custGeom>
                <a:avLst/>
                <a:gdLst/>
                <a:ahLst/>
                <a:cxnLst/>
                <a:rect l="l" t="t" r="r" b="b"/>
                <a:pathLst>
                  <a:path w="838200" h="295275">
                    <a:moveTo>
                      <a:pt x="47625" y="0"/>
                    </a:moveTo>
                    <a:lnTo>
                      <a:pt x="790575" y="0"/>
                    </a:lnTo>
                    <a:cubicBezTo>
                      <a:pt x="816878" y="0"/>
                      <a:pt x="838200" y="21322"/>
                      <a:pt x="838200" y="47625"/>
                    </a:cubicBezTo>
                    <a:lnTo>
                      <a:pt x="838200" y="247650"/>
                    </a:lnTo>
                    <a:cubicBezTo>
                      <a:pt x="838200" y="273953"/>
                      <a:pt x="816878" y="295275"/>
                      <a:pt x="790575" y="295275"/>
                    </a:cubicBezTo>
                    <a:lnTo>
                      <a:pt x="47625" y="295275"/>
                    </a:lnTo>
                    <a:cubicBezTo>
                      <a:pt x="21322" y="295275"/>
                      <a:pt x="0" y="273953"/>
                      <a:pt x="0" y="247650"/>
                    </a:cubicBez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close/>
                  </a:path>
                </a:pathLst>
              </a:custGeom>
              <a:solidFill>
                <a:srgbClr val="EEF5FF"/>
              </a:solidFill>
              <a:ln w="13335">
                <a:solidFill>
                  <a:srgbClr val="5595EF"/>
                </a:solidFill>
              </a:ln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6175539" y="2281714"/>
                <a:ext cx="736273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173C7A"/>
                    </a:solidFill>
                    <a:latin typeface="Noto Sans CJK SC"/>
                    <a:ea typeface="Microsoft YaHei"/>
                    <a:cs typeface="Noto Sans CJK SC"/>
                  </a:rPr>
                  <a:t>&lt;B_1x2&gt;</a:t>
                </a:r>
              </a:p>
            </p:txBody>
          </p:sp>
          <p:sp>
            <p:nvSpPr>
              <p:cNvPr id="61" name="Freeform 61"/>
              <p:cNvSpPr/>
              <p:nvPr/>
            </p:nvSpPr>
            <p:spPr>
              <a:xfrm>
                <a:off x="7105650" y="2209800"/>
                <a:ext cx="838200" cy="295275"/>
              </a:xfrm>
              <a:custGeom>
                <a:avLst/>
                <a:gdLst/>
                <a:ahLst/>
                <a:cxnLst/>
                <a:rect l="l" t="t" r="r" b="b"/>
                <a:pathLst>
                  <a:path w="838200" h="295275">
                    <a:moveTo>
                      <a:pt x="47625" y="0"/>
                    </a:moveTo>
                    <a:lnTo>
                      <a:pt x="790575" y="0"/>
                    </a:lnTo>
                    <a:cubicBezTo>
                      <a:pt x="816878" y="0"/>
                      <a:pt x="838200" y="21322"/>
                      <a:pt x="838200" y="47625"/>
                    </a:cubicBezTo>
                    <a:lnTo>
                      <a:pt x="838200" y="247650"/>
                    </a:lnTo>
                    <a:cubicBezTo>
                      <a:pt x="838200" y="273953"/>
                      <a:pt x="816878" y="295275"/>
                      <a:pt x="790575" y="295275"/>
                    </a:cubicBezTo>
                    <a:lnTo>
                      <a:pt x="47625" y="295275"/>
                    </a:lnTo>
                    <a:cubicBezTo>
                      <a:pt x="21322" y="295275"/>
                      <a:pt x="0" y="273953"/>
                      <a:pt x="0" y="247650"/>
                    </a:cubicBez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close/>
                  </a:path>
                </a:pathLst>
              </a:custGeom>
              <a:solidFill>
                <a:srgbClr val="EEF5FF"/>
              </a:solidFill>
              <a:ln w="13335">
                <a:solidFill>
                  <a:srgbClr val="5595EF"/>
                </a:solidFill>
              </a:ln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7156614" y="2281714"/>
                <a:ext cx="736273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173C7A"/>
                    </a:solidFill>
                    <a:latin typeface="Noto Sans CJK SC"/>
                    <a:ea typeface="Microsoft YaHei"/>
                    <a:cs typeface="Noto Sans CJK SC"/>
                  </a:rPr>
                  <a:t>&lt;B_2x1&gt;</a:t>
                </a:r>
              </a:p>
            </p:txBody>
          </p:sp>
          <p:sp>
            <p:nvSpPr>
              <p:cNvPr id="63" name="Freeform 63"/>
              <p:cNvSpPr/>
              <p:nvPr/>
            </p:nvSpPr>
            <p:spPr>
              <a:xfrm>
                <a:off x="8086725" y="2209800"/>
                <a:ext cx="838200" cy="295275"/>
              </a:xfrm>
              <a:custGeom>
                <a:avLst/>
                <a:gdLst/>
                <a:ahLst/>
                <a:cxnLst/>
                <a:rect l="l" t="t" r="r" b="b"/>
                <a:pathLst>
                  <a:path w="838200" h="295275">
                    <a:moveTo>
                      <a:pt x="47625" y="0"/>
                    </a:moveTo>
                    <a:lnTo>
                      <a:pt x="790575" y="0"/>
                    </a:lnTo>
                    <a:cubicBezTo>
                      <a:pt x="816878" y="0"/>
                      <a:pt x="838200" y="21322"/>
                      <a:pt x="838200" y="47625"/>
                    </a:cubicBezTo>
                    <a:lnTo>
                      <a:pt x="838200" y="247650"/>
                    </a:lnTo>
                    <a:cubicBezTo>
                      <a:pt x="838200" y="273953"/>
                      <a:pt x="816878" y="295275"/>
                      <a:pt x="790575" y="295275"/>
                    </a:cubicBezTo>
                    <a:lnTo>
                      <a:pt x="47625" y="295275"/>
                    </a:lnTo>
                    <a:cubicBezTo>
                      <a:pt x="21322" y="295275"/>
                      <a:pt x="0" y="273953"/>
                      <a:pt x="0" y="247650"/>
                    </a:cubicBez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close/>
                  </a:path>
                </a:pathLst>
              </a:custGeom>
              <a:solidFill>
                <a:srgbClr val="EEF5FF"/>
              </a:solidFill>
              <a:ln w="13335">
                <a:solidFill>
                  <a:srgbClr val="5595EF"/>
                </a:solidFill>
              </a:ln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8113248" y="2281714"/>
                <a:ext cx="78515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173C7A"/>
                    </a:solidFill>
                    <a:latin typeface="Noto Sans CJK SC"/>
                    <a:ea typeface="Microsoft YaHei"/>
                    <a:cs typeface="Noto Sans CJK SC"/>
                  </a:rPr>
                  <a:t>&lt;B_2x4&gt;</a:t>
                </a:r>
              </a:p>
            </p:txBody>
          </p:sp>
          <p:sp>
            <p:nvSpPr>
              <p:cNvPr id="65" name="Freeform 65"/>
              <p:cNvSpPr/>
              <p:nvPr/>
            </p:nvSpPr>
            <p:spPr>
              <a:xfrm>
                <a:off x="9067800" y="2209800"/>
                <a:ext cx="342900" cy="295275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295275">
                    <a:moveTo>
                      <a:pt x="47625" y="0"/>
                    </a:moveTo>
                    <a:lnTo>
                      <a:pt x="295275" y="0"/>
                    </a:lnTo>
                    <a:cubicBezTo>
                      <a:pt x="321578" y="0"/>
                      <a:pt x="342900" y="21322"/>
                      <a:pt x="342900" y="47625"/>
                    </a:cubicBezTo>
                    <a:lnTo>
                      <a:pt x="342900" y="247650"/>
                    </a:lnTo>
                    <a:cubicBezTo>
                      <a:pt x="342900" y="273953"/>
                      <a:pt x="321578" y="295275"/>
                      <a:pt x="295275" y="295275"/>
                    </a:cubicBezTo>
                    <a:lnTo>
                      <a:pt x="47625" y="295275"/>
                    </a:lnTo>
                    <a:cubicBezTo>
                      <a:pt x="21322" y="295275"/>
                      <a:pt x="0" y="273953"/>
                      <a:pt x="0" y="247650"/>
                    </a:cubicBez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close/>
                  </a:path>
                </a:pathLst>
              </a:custGeom>
              <a:solidFill>
                <a:srgbClr val="EEF5FF"/>
              </a:solidFill>
              <a:ln w="13335">
                <a:solidFill>
                  <a:srgbClr val="5595EF"/>
                </a:solidFill>
              </a:ln>
            </p:spPr>
          </p:sp>
          <p:sp>
            <p:nvSpPr>
              <p:cNvPr id="66" name="TextBox 66"/>
              <p:cNvSpPr txBox="1"/>
              <p:nvPr/>
            </p:nvSpPr>
            <p:spPr>
              <a:xfrm>
                <a:off x="9061750" y="2281714"/>
                <a:ext cx="355000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173C7A"/>
                    </a:solidFill>
                    <a:latin typeface="Noto Sans CJK SC"/>
                    <a:ea typeface="Microsoft YaHei"/>
                    <a:cs typeface="Noto Sans CJK SC"/>
                  </a:rPr>
                  <a:t>...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5127308" y="2634139"/>
                <a:ext cx="3523893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2A2A2A"/>
                    </a:solidFill>
                    <a:latin typeface="Noto Sans CJK SC"/>
                    <a:ea typeface="Microsoft YaHei"/>
                    <a:cs typeface="Noto Sans CJK SC"/>
                  </a:rPr>
                  <a:t>1x2 与 2x1 视为不同 token，隐含旋转信息</a:t>
                </a:r>
              </a:p>
            </p:txBody>
          </p:sp>
        </p:grpSp>
        <p:sp>
          <p:nvSpPr>
            <p:cNvPr id="69" name="Freeform 69"/>
            <p:cNvSpPr/>
            <p:nvPr/>
          </p:nvSpPr>
          <p:spPr>
            <a:xfrm>
              <a:off x="4610100" y="2914650"/>
              <a:ext cx="4876800" cy="1438275"/>
            </a:xfrm>
            <a:custGeom>
              <a:avLst/>
              <a:gdLst/>
              <a:ahLst/>
              <a:cxnLst/>
              <a:rect l="l" t="t" r="r" b="b"/>
              <a:pathLst>
                <a:path w="4876800" h="1438275">
                  <a:moveTo>
                    <a:pt x="123825" y="0"/>
                  </a:moveTo>
                  <a:lnTo>
                    <a:pt x="4752975" y="0"/>
                  </a:lnTo>
                  <a:cubicBezTo>
                    <a:pt x="4821362" y="0"/>
                    <a:pt x="4876800" y="55438"/>
                    <a:pt x="4876800" y="123825"/>
                  </a:cubicBezTo>
                  <a:lnTo>
                    <a:pt x="4876800" y="1314450"/>
                  </a:lnTo>
                  <a:cubicBezTo>
                    <a:pt x="4876800" y="1382837"/>
                    <a:pt x="4821362" y="1438275"/>
                    <a:pt x="4752975" y="1438275"/>
                  </a:cubicBezTo>
                  <a:lnTo>
                    <a:pt x="123825" y="1438275"/>
                  </a:lnTo>
                  <a:cubicBezTo>
                    <a:pt x="55438" y="1438275"/>
                    <a:pt x="0" y="1382837"/>
                    <a:pt x="0" y="1314450"/>
                  </a:cubicBezTo>
                  <a:lnTo>
                    <a:pt x="0" y="123825"/>
                  </a:lnTo>
                  <a:cubicBezTo>
                    <a:pt x="0" y="55438"/>
                    <a:pt x="55438" y="0"/>
                    <a:pt x="123825" y="0"/>
                  </a:cubicBezTo>
                  <a:close/>
                </a:path>
              </a:pathLst>
            </a:custGeom>
            <a:gradFill>
              <a:gsLst>
                <a:gs pos="0">
                  <a:srgbClr val="EAFFFB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70" name="Ellipse 70"/>
            <p:cNvSpPr/>
            <p:nvPr/>
          </p:nvSpPr>
          <p:spPr>
            <a:xfrm>
              <a:off x="4686300" y="2962275"/>
              <a:ext cx="342900" cy="342900"/>
            </a:xfrm>
            <a:prstGeom prst="ellipse">
              <a:avLst/>
            </a:prstGeom>
            <a:solidFill>
              <a:srgbClr val="0C9DA0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4767211" y="3031808"/>
              <a:ext cx="18107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B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5124450" y="3009900"/>
              <a:ext cx="25684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A8B8E"/>
                  </a:solidFill>
                  <a:latin typeface="Noto Sans CJK SC"/>
                  <a:ea typeface="Microsoft YaHei"/>
                  <a:cs typeface="Noto Sans CJK SC"/>
                </a:rPr>
                <a:t>坐标 Token（X / Y / Z）</a:t>
              </a:r>
            </a:p>
          </p:txBody>
        </p:sp>
        <p:grpSp>
          <p:nvGrpSpPr>
            <p:cNvPr id="91" name="Group 91"/>
            <p:cNvGrpSpPr/>
            <p:nvPr/>
          </p:nvGrpSpPr>
          <p:grpSpPr>
            <a:xfrm>
              <a:off x="5125402" y="3324225"/>
              <a:ext cx="2980373" cy="1123950"/>
              <a:chOff x="5125402" y="3324225"/>
              <a:chExt cx="2980373" cy="1123950"/>
            </a:xfrm>
          </p:grpSpPr>
          <p:sp>
            <p:nvSpPr>
              <p:cNvPr id="73" name="TextBox 73"/>
              <p:cNvSpPr txBox="1"/>
              <p:nvPr/>
            </p:nvSpPr>
            <p:spPr>
              <a:xfrm>
                <a:off x="5125402" y="3379946"/>
                <a:ext cx="560661" cy="289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5" b="1" dirty="0">
                    <a:solidFill>
                      <a:srgbClr val="111111"/>
                    </a:solidFill>
                    <a:latin typeface="Noto Sans CJK SC"/>
                    <a:ea typeface="Microsoft YaHei"/>
                    <a:cs typeface="Noto Sans CJK SC"/>
                  </a:rPr>
                  <a:t>X 轴:</a:t>
                </a:r>
              </a:p>
            </p:txBody>
          </p:sp>
          <p:sp>
            <p:nvSpPr>
              <p:cNvPr id="74" name="Freeform 74"/>
              <p:cNvSpPr/>
              <p:nvPr/>
            </p:nvSpPr>
            <p:spPr>
              <a:xfrm>
                <a:off x="5838825" y="3324225"/>
                <a:ext cx="800100" cy="295275"/>
              </a:xfrm>
              <a:custGeom>
                <a:avLst/>
                <a:gdLst/>
                <a:ahLst/>
                <a:cxnLst/>
                <a:rect l="l" t="t" r="r" b="b"/>
                <a:pathLst>
                  <a:path w="800100" h="295275">
                    <a:moveTo>
                      <a:pt x="47625" y="0"/>
                    </a:moveTo>
                    <a:lnTo>
                      <a:pt x="752475" y="0"/>
                    </a:lnTo>
                    <a:cubicBezTo>
                      <a:pt x="778778" y="0"/>
                      <a:pt x="800100" y="21322"/>
                      <a:pt x="800100" y="47625"/>
                    </a:cubicBezTo>
                    <a:lnTo>
                      <a:pt x="800100" y="247650"/>
                    </a:lnTo>
                    <a:cubicBezTo>
                      <a:pt x="800100" y="273953"/>
                      <a:pt x="778778" y="295275"/>
                      <a:pt x="752475" y="295275"/>
                    </a:cubicBezTo>
                    <a:lnTo>
                      <a:pt x="47625" y="295275"/>
                    </a:lnTo>
                    <a:cubicBezTo>
                      <a:pt x="21322" y="295275"/>
                      <a:pt x="0" y="273953"/>
                      <a:pt x="0" y="247650"/>
                    </a:cubicBez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close/>
                  </a:path>
                </a:pathLst>
              </a:custGeom>
              <a:solidFill>
                <a:srgbClr val="EEF9EA"/>
              </a:solidFill>
              <a:ln w="9525">
                <a:solidFill>
                  <a:srgbClr val="77BD78"/>
                </a:solidFill>
              </a:ln>
            </p:spPr>
          </p:sp>
          <p:sp>
            <p:nvSpPr>
              <p:cNvPr id="75" name="TextBox 75"/>
              <p:cNvSpPr txBox="1"/>
              <p:nvPr/>
            </p:nvSpPr>
            <p:spPr>
              <a:xfrm>
                <a:off x="5953836" y="3396139"/>
                <a:ext cx="570077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1B5E20"/>
                    </a:solidFill>
                    <a:latin typeface="Noto Sans CJK SC"/>
                    <a:ea typeface="Microsoft YaHei"/>
                    <a:cs typeface="Noto Sans CJK SC"/>
                  </a:rPr>
                  <a:t>&lt;X_0&gt;</a:t>
                </a: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6816090" y="3339465"/>
                <a:ext cx="501177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000000"/>
                    </a:solidFill>
                    <a:latin typeface="Noto Sans CJK SC"/>
                    <a:ea typeface="Microsoft YaHei"/>
                    <a:cs typeface="Noto Sans CJK SC"/>
                  </a:rPr>
                  <a:t>...</a:t>
                </a:r>
              </a:p>
            </p:txBody>
          </p:sp>
          <p:sp>
            <p:nvSpPr>
              <p:cNvPr id="77" name="Freeform 77"/>
              <p:cNvSpPr/>
              <p:nvPr/>
            </p:nvSpPr>
            <p:spPr>
              <a:xfrm>
                <a:off x="7267575" y="3324225"/>
                <a:ext cx="838200" cy="295275"/>
              </a:xfrm>
              <a:custGeom>
                <a:avLst/>
                <a:gdLst/>
                <a:ahLst/>
                <a:cxnLst/>
                <a:rect l="l" t="t" r="r" b="b"/>
                <a:pathLst>
                  <a:path w="838200" h="295275">
                    <a:moveTo>
                      <a:pt x="47625" y="0"/>
                    </a:moveTo>
                    <a:lnTo>
                      <a:pt x="790575" y="0"/>
                    </a:lnTo>
                    <a:cubicBezTo>
                      <a:pt x="816878" y="0"/>
                      <a:pt x="838200" y="21322"/>
                      <a:pt x="838200" y="47625"/>
                    </a:cubicBezTo>
                    <a:lnTo>
                      <a:pt x="838200" y="247650"/>
                    </a:lnTo>
                    <a:cubicBezTo>
                      <a:pt x="838200" y="273953"/>
                      <a:pt x="816878" y="295275"/>
                      <a:pt x="790575" y="295275"/>
                    </a:cubicBezTo>
                    <a:lnTo>
                      <a:pt x="47625" y="295275"/>
                    </a:lnTo>
                    <a:cubicBezTo>
                      <a:pt x="21322" y="295275"/>
                      <a:pt x="0" y="273953"/>
                      <a:pt x="0" y="247650"/>
                    </a:cubicBez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close/>
                  </a:path>
                </a:pathLst>
              </a:custGeom>
              <a:solidFill>
                <a:srgbClr val="EEF9EA"/>
              </a:solidFill>
              <a:ln w="9525">
                <a:solidFill>
                  <a:srgbClr val="77BD78"/>
                </a:solidFill>
              </a:ln>
            </p:spPr>
          </p:sp>
          <p:sp>
            <p:nvSpPr>
              <p:cNvPr id="78" name="TextBox 78"/>
              <p:cNvSpPr txBox="1"/>
              <p:nvPr/>
            </p:nvSpPr>
            <p:spPr>
              <a:xfrm>
                <a:off x="7372308" y="3396139"/>
                <a:ext cx="628735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1B5E20"/>
                    </a:solidFill>
                    <a:latin typeface="Noto Sans CJK SC"/>
                    <a:ea typeface="Microsoft YaHei"/>
                    <a:cs typeface="Noto Sans CJK SC"/>
                  </a:rPr>
                  <a:t>&lt;X_19&gt;</a:t>
                </a:r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5125402" y="3751421"/>
                <a:ext cx="560661" cy="289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5" b="1" dirty="0">
                    <a:solidFill>
                      <a:srgbClr val="111111"/>
                    </a:solidFill>
                    <a:latin typeface="Noto Sans CJK SC"/>
                    <a:ea typeface="Microsoft YaHei"/>
                    <a:cs typeface="Noto Sans CJK SC"/>
                  </a:rPr>
                  <a:t>Y 轴:</a:t>
                </a:r>
              </a:p>
            </p:txBody>
          </p:sp>
          <p:sp>
            <p:nvSpPr>
              <p:cNvPr id="80" name="Freeform 80"/>
              <p:cNvSpPr/>
              <p:nvPr/>
            </p:nvSpPr>
            <p:spPr>
              <a:xfrm>
                <a:off x="5838825" y="3695700"/>
                <a:ext cx="800100" cy="295275"/>
              </a:xfrm>
              <a:custGeom>
                <a:avLst/>
                <a:gdLst/>
                <a:ahLst/>
                <a:cxnLst/>
                <a:rect l="l" t="t" r="r" b="b"/>
                <a:pathLst>
                  <a:path w="800100" h="295275">
                    <a:moveTo>
                      <a:pt x="47625" y="0"/>
                    </a:moveTo>
                    <a:lnTo>
                      <a:pt x="752475" y="0"/>
                    </a:lnTo>
                    <a:cubicBezTo>
                      <a:pt x="778778" y="0"/>
                      <a:pt x="800100" y="21322"/>
                      <a:pt x="800100" y="47625"/>
                    </a:cubicBezTo>
                    <a:lnTo>
                      <a:pt x="800100" y="247650"/>
                    </a:lnTo>
                    <a:cubicBezTo>
                      <a:pt x="800100" y="273953"/>
                      <a:pt x="778778" y="295275"/>
                      <a:pt x="752475" y="295275"/>
                    </a:cubicBezTo>
                    <a:lnTo>
                      <a:pt x="47625" y="295275"/>
                    </a:lnTo>
                    <a:cubicBezTo>
                      <a:pt x="21322" y="295275"/>
                      <a:pt x="0" y="273953"/>
                      <a:pt x="0" y="247650"/>
                    </a:cubicBez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close/>
                  </a:path>
                </a:pathLst>
              </a:custGeom>
              <a:solidFill>
                <a:srgbClr val="FFF7DD"/>
              </a:solidFill>
              <a:ln w="9525">
                <a:solidFill>
                  <a:srgbClr val="E6B336"/>
                </a:solidFill>
              </a:ln>
            </p:spPr>
          </p:sp>
          <p:sp>
            <p:nvSpPr>
              <p:cNvPr id="81" name="TextBox 81"/>
              <p:cNvSpPr txBox="1"/>
              <p:nvPr/>
            </p:nvSpPr>
            <p:spPr>
              <a:xfrm>
                <a:off x="5953836" y="3767614"/>
                <a:ext cx="570077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7C5A00"/>
                    </a:solidFill>
                    <a:latin typeface="Noto Sans CJK SC"/>
                    <a:ea typeface="Microsoft YaHei"/>
                    <a:cs typeface="Noto Sans CJK SC"/>
                  </a:rPr>
                  <a:t>&lt;Y_0&gt;</a:t>
                </a:r>
              </a:p>
            </p:txBody>
          </p:sp>
          <p:sp>
            <p:nvSpPr>
              <p:cNvPr id="82" name="TextBox 82"/>
              <p:cNvSpPr txBox="1"/>
              <p:nvPr/>
            </p:nvSpPr>
            <p:spPr>
              <a:xfrm>
                <a:off x="6816090" y="3710940"/>
                <a:ext cx="501177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000000"/>
                    </a:solidFill>
                    <a:latin typeface="Noto Sans CJK SC"/>
                    <a:ea typeface="Microsoft YaHei"/>
                    <a:cs typeface="Noto Sans CJK SC"/>
                  </a:rPr>
                  <a:t>...</a:t>
                </a:r>
              </a:p>
            </p:txBody>
          </p:sp>
          <p:sp>
            <p:nvSpPr>
              <p:cNvPr id="83" name="Freeform 83"/>
              <p:cNvSpPr/>
              <p:nvPr/>
            </p:nvSpPr>
            <p:spPr>
              <a:xfrm>
                <a:off x="7267575" y="3695700"/>
                <a:ext cx="838200" cy="295275"/>
              </a:xfrm>
              <a:custGeom>
                <a:avLst/>
                <a:gdLst/>
                <a:ahLst/>
                <a:cxnLst/>
                <a:rect l="l" t="t" r="r" b="b"/>
                <a:pathLst>
                  <a:path w="838200" h="295275">
                    <a:moveTo>
                      <a:pt x="47625" y="0"/>
                    </a:moveTo>
                    <a:lnTo>
                      <a:pt x="790575" y="0"/>
                    </a:lnTo>
                    <a:cubicBezTo>
                      <a:pt x="816878" y="0"/>
                      <a:pt x="838200" y="21322"/>
                      <a:pt x="838200" y="47625"/>
                    </a:cubicBezTo>
                    <a:lnTo>
                      <a:pt x="838200" y="247650"/>
                    </a:lnTo>
                    <a:cubicBezTo>
                      <a:pt x="838200" y="273953"/>
                      <a:pt x="816878" y="295275"/>
                      <a:pt x="790575" y="295275"/>
                    </a:cubicBezTo>
                    <a:lnTo>
                      <a:pt x="47625" y="295275"/>
                    </a:lnTo>
                    <a:cubicBezTo>
                      <a:pt x="21322" y="295275"/>
                      <a:pt x="0" y="273953"/>
                      <a:pt x="0" y="247650"/>
                    </a:cubicBez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close/>
                  </a:path>
                </a:pathLst>
              </a:custGeom>
              <a:solidFill>
                <a:srgbClr val="FFF7DD"/>
              </a:solidFill>
              <a:ln w="9525">
                <a:solidFill>
                  <a:srgbClr val="E6B336"/>
                </a:solidFill>
              </a:ln>
            </p:spPr>
          </p:sp>
          <p:sp>
            <p:nvSpPr>
              <p:cNvPr id="84" name="TextBox 84"/>
              <p:cNvSpPr txBox="1"/>
              <p:nvPr/>
            </p:nvSpPr>
            <p:spPr>
              <a:xfrm>
                <a:off x="7372308" y="3767614"/>
                <a:ext cx="628735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7C5A00"/>
                    </a:solidFill>
                    <a:latin typeface="Noto Sans CJK SC"/>
                    <a:ea typeface="Microsoft YaHei"/>
                    <a:cs typeface="Noto Sans CJK SC"/>
                  </a:rPr>
                  <a:t>&lt;Y_19&gt;</a:t>
                </a:r>
              </a:p>
            </p:txBody>
          </p:sp>
          <p:sp>
            <p:nvSpPr>
              <p:cNvPr id="85" name="TextBox 85"/>
              <p:cNvSpPr txBox="1"/>
              <p:nvPr/>
            </p:nvSpPr>
            <p:spPr>
              <a:xfrm>
                <a:off x="5125402" y="4122896"/>
                <a:ext cx="560661" cy="289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5" b="1" dirty="0">
                    <a:solidFill>
                      <a:srgbClr val="111111"/>
                    </a:solidFill>
                    <a:latin typeface="Noto Sans CJK SC"/>
                    <a:ea typeface="Microsoft YaHei"/>
                    <a:cs typeface="Noto Sans CJK SC"/>
                  </a:rPr>
                  <a:t>Z 轴:</a:t>
                </a:r>
              </a:p>
            </p:txBody>
          </p:sp>
          <p:sp>
            <p:nvSpPr>
              <p:cNvPr id="86" name="Freeform 86"/>
              <p:cNvSpPr/>
              <p:nvPr/>
            </p:nvSpPr>
            <p:spPr>
              <a:xfrm>
                <a:off x="5838825" y="4067175"/>
                <a:ext cx="800100" cy="295275"/>
              </a:xfrm>
              <a:custGeom>
                <a:avLst/>
                <a:gdLst/>
                <a:ahLst/>
                <a:cxnLst/>
                <a:rect l="l" t="t" r="r" b="b"/>
                <a:pathLst>
                  <a:path w="800100" h="295275">
                    <a:moveTo>
                      <a:pt x="47625" y="0"/>
                    </a:moveTo>
                    <a:lnTo>
                      <a:pt x="752475" y="0"/>
                    </a:lnTo>
                    <a:cubicBezTo>
                      <a:pt x="778778" y="0"/>
                      <a:pt x="800100" y="21322"/>
                      <a:pt x="800100" y="47625"/>
                    </a:cubicBezTo>
                    <a:lnTo>
                      <a:pt x="800100" y="247650"/>
                    </a:lnTo>
                    <a:cubicBezTo>
                      <a:pt x="800100" y="273953"/>
                      <a:pt x="778778" y="295275"/>
                      <a:pt x="752475" y="295275"/>
                    </a:cubicBezTo>
                    <a:lnTo>
                      <a:pt x="47625" y="295275"/>
                    </a:lnTo>
                    <a:cubicBezTo>
                      <a:pt x="21322" y="295275"/>
                      <a:pt x="0" y="273953"/>
                      <a:pt x="0" y="247650"/>
                    </a:cubicBez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close/>
                  </a:path>
                </a:pathLst>
              </a:custGeom>
              <a:solidFill>
                <a:srgbClr val="F2EAFD"/>
              </a:solidFill>
              <a:ln w="9525">
                <a:solidFill>
                  <a:srgbClr val="A67CDD"/>
                </a:solidFill>
              </a:ln>
            </p:spPr>
          </p:sp>
          <p:sp>
            <p:nvSpPr>
              <p:cNvPr id="87" name="TextBox 87"/>
              <p:cNvSpPr txBox="1"/>
              <p:nvPr/>
            </p:nvSpPr>
            <p:spPr>
              <a:xfrm>
                <a:off x="5953836" y="4139089"/>
                <a:ext cx="570077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5B2AA0"/>
                    </a:solidFill>
                    <a:latin typeface="Noto Sans CJK SC"/>
                    <a:ea typeface="Microsoft YaHei"/>
                    <a:cs typeface="Noto Sans CJK SC"/>
                  </a:rPr>
                  <a:t>&lt;Z_0&gt;</a:t>
                </a:r>
              </a:p>
            </p:txBody>
          </p:sp>
          <p:sp>
            <p:nvSpPr>
              <p:cNvPr id="88" name="TextBox 88"/>
              <p:cNvSpPr txBox="1"/>
              <p:nvPr/>
            </p:nvSpPr>
            <p:spPr>
              <a:xfrm>
                <a:off x="6816090" y="4082415"/>
                <a:ext cx="501177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000000"/>
                    </a:solidFill>
                    <a:latin typeface="Noto Sans CJK SC"/>
                    <a:ea typeface="Microsoft YaHei"/>
                    <a:cs typeface="Noto Sans CJK SC"/>
                  </a:rPr>
                  <a:t>...</a:t>
                </a:r>
              </a:p>
            </p:txBody>
          </p:sp>
          <p:sp>
            <p:nvSpPr>
              <p:cNvPr id="89" name="Freeform 89"/>
              <p:cNvSpPr/>
              <p:nvPr/>
            </p:nvSpPr>
            <p:spPr>
              <a:xfrm>
                <a:off x="7267575" y="4067175"/>
                <a:ext cx="838200" cy="295275"/>
              </a:xfrm>
              <a:custGeom>
                <a:avLst/>
                <a:gdLst/>
                <a:ahLst/>
                <a:cxnLst/>
                <a:rect l="l" t="t" r="r" b="b"/>
                <a:pathLst>
                  <a:path w="838200" h="295275">
                    <a:moveTo>
                      <a:pt x="47625" y="0"/>
                    </a:moveTo>
                    <a:lnTo>
                      <a:pt x="790575" y="0"/>
                    </a:lnTo>
                    <a:cubicBezTo>
                      <a:pt x="816878" y="0"/>
                      <a:pt x="838200" y="21322"/>
                      <a:pt x="838200" y="47625"/>
                    </a:cubicBezTo>
                    <a:lnTo>
                      <a:pt x="838200" y="247650"/>
                    </a:lnTo>
                    <a:cubicBezTo>
                      <a:pt x="838200" y="273953"/>
                      <a:pt x="816878" y="295275"/>
                      <a:pt x="790575" y="295275"/>
                    </a:cubicBezTo>
                    <a:lnTo>
                      <a:pt x="47625" y="295275"/>
                    </a:lnTo>
                    <a:cubicBezTo>
                      <a:pt x="21322" y="295275"/>
                      <a:pt x="0" y="273953"/>
                      <a:pt x="0" y="247650"/>
                    </a:cubicBez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close/>
                  </a:path>
                </a:pathLst>
              </a:custGeom>
              <a:solidFill>
                <a:srgbClr val="F2EAFD"/>
              </a:solidFill>
              <a:ln w="9525">
                <a:solidFill>
                  <a:srgbClr val="A67CDD"/>
                </a:solidFill>
              </a:ln>
            </p:spPr>
          </p:sp>
          <p:sp>
            <p:nvSpPr>
              <p:cNvPr id="90" name="TextBox 90"/>
              <p:cNvSpPr txBox="1"/>
              <p:nvPr/>
            </p:nvSpPr>
            <p:spPr>
              <a:xfrm>
                <a:off x="7372308" y="4139089"/>
                <a:ext cx="628735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5B2AA0"/>
                    </a:solidFill>
                    <a:latin typeface="Noto Sans CJK SC"/>
                    <a:ea typeface="Microsoft YaHei"/>
                    <a:cs typeface="Noto Sans CJK SC"/>
                  </a:rPr>
                  <a:t>&lt;Z_19&gt;</a:t>
                </a:r>
              </a:p>
            </p:txBody>
          </p:sp>
        </p:grpSp>
        <p:sp>
          <p:nvSpPr>
            <p:cNvPr id="92" name="Freeform 92"/>
            <p:cNvSpPr/>
            <p:nvPr/>
          </p:nvSpPr>
          <p:spPr>
            <a:xfrm>
              <a:off x="4610100" y="4438650"/>
              <a:ext cx="4876800" cy="990600"/>
            </a:xfrm>
            <a:custGeom>
              <a:avLst/>
              <a:gdLst/>
              <a:ahLst/>
              <a:cxnLst/>
              <a:rect l="l" t="t" r="r" b="b"/>
              <a:pathLst>
                <a:path w="4876800" h="990600">
                  <a:moveTo>
                    <a:pt x="123825" y="0"/>
                  </a:moveTo>
                  <a:lnTo>
                    <a:pt x="4752975" y="0"/>
                  </a:lnTo>
                  <a:cubicBezTo>
                    <a:pt x="4821362" y="0"/>
                    <a:pt x="4876800" y="55438"/>
                    <a:pt x="4876800" y="123825"/>
                  </a:cubicBezTo>
                  <a:lnTo>
                    <a:pt x="4876800" y="866775"/>
                  </a:lnTo>
                  <a:cubicBezTo>
                    <a:pt x="4876800" y="935162"/>
                    <a:pt x="4821362" y="990600"/>
                    <a:pt x="4752975" y="990600"/>
                  </a:cubicBezTo>
                  <a:lnTo>
                    <a:pt x="123825" y="990600"/>
                  </a:lnTo>
                  <a:cubicBezTo>
                    <a:pt x="55438" y="990600"/>
                    <a:pt x="0" y="935162"/>
                    <a:pt x="0" y="866775"/>
                  </a:cubicBezTo>
                  <a:lnTo>
                    <a:pt x="0" y="123825"/>
                  </a:lnTo>
                  <a:cubicBezTo>
                    <a:pt x="0" y="55438"/>
                    <a:pt x="55438" y="0"/>
                    <a:pt x="123825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</p:sp>
        <p:sp>
          <p:nvSpPr>
            <p:cNvPr id="93" name="Ellipse 93"/>
            <p:cNvSpPr/>
            <p:nvPr/>
          </p:nvSpPr>
          <p:spPr>
            <a:xfrm>
              <a:off x="4686300" y="4486275"/>
              <a:ext cx="342900" cy="342900"/>
            </a:xfrm>
            <a:prstGeom prst="ellipse">
              <a:avLst/>
            </a:prstGeom>
            <a:solidFill>
              <a:srgbClr val="075FC9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4767211" y="4555808"/>
              <a:ext cx="18107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C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5124450" y="4533900"/>
              <a:ext cx="165980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60C9"/>
                  </a:solidFill>
                  <a:latin typeface="Noto Sans CJK SC"/>
                  <a:ea typeface="Microsoft YaHei"/>
                  <a:cs typeface="Noto Sans CJK SC"/>
                </a:rPr>
                <a:t>结构控制 Token</a:t>
              </a:r>
            </a:p>
          </p:txBody>
        </p:sp>
        <p:grpSp>
          <p:nvGrpSpPr>
            <p:cNvPr id="103" name="Group 103"/>
            <p:cNvGrpSpPr/>
            <p:nvPr/>
          </p:nvGrpSpPr>
          <p:grpSpPr>
            <a:xfrm>
              <a:off x="5127308" y="4800600"/>
              <a:ext cx="3570446" cy="673894"/>
              <a:chOff x="5127308" y="4800600"/>
              <a:chExt cx="3570446" cy="673894"/>
            </a:xfrm>
          </p:grpSpPr>
          <p:sp>
            <p:nvSpPr>
              <p:cNvPr id="96" name="Freeform 96"/>
              <p:cNvSpPr/>
              <p:nvPr/>
            </p:nvSpPr>
            <p:spPr>
              <a:xfrm>
                <a:off x="5238750" y="4800600"/>
                <a:ext cx="76200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762000" h="304800">
                    <a:moveTo>
                      <a:pt x="47625" y="0"/>
                    </a:moveTo>
                    <a:lnTo>
                      <a:pt x="714375" y="0"/>
                    </a:lnTo>
                    <a:cubicBezTo>
                      <a:pt x="740678" y="0"/>
                      <a:pt x="762000" y="21322"/>
                      <a:pt x="762000" y="47625"/>
                    </a:cubicBezTo>
                    <a:lnTo>
                      <a:pt x="762000" y="257175"/>
                    </a:lnTo>
                    <a:cubicBezTo>
                      <a:pt x="762000" y="283478"/>
                      <a:pt x="740678" y="304800"/>
                      <a:pt x="714375" y="304800"/>
                    </a:cubicBezTo>
                    <a:lnTo>
                      <a:pt x="47625" y="304800"/>
                    </a:lnTo>
                    <a:cubicBezTo>
                      <a:pt x="21322" y="304800"/>
                      <a:pt x="0" y="283478"/>
                      <a:pt x="0" y="257175"/>
                    </a:cubicBez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close/>
                  </a:path>
                </a:pathLst>
              </a:custGeom>
              <a:solidFill>
                <a:srgbClr val="FFF1F1"/>
              </a:solidFill>
              <a:ln w="9525">
                <a:solidFill>
                  <a:srgbClr val="FF7C7C"/>
                </a:solidFill>
              </a:ln>
            </p:spPr>
          </p:sp>
          <p:sp>
            <p:nvSpPr>
              <p:cNvPr id="97" name="TextBox 97"/>
              <p:cNvSpPr txBox="1"/>
              <p:nvPr/>
            </p:nvSpPr>
            <p:spPr>
              <a:xfrm>
                <a:off x="5315159" y="4872514"/>
                <a:ext cx="60918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333333"/>
                    </a:solidFill>
                    <a:latin typeface="Noto Sans CJK SC"/>
                    <a:ea typeface="Microsoft YaHei"/>
                    <a:cs typeface="Noto Sans CJK SC"/>
                  </a:rPr>
                  <a:t>&lt;EOC&gt;</a:t>
                </a:r>
              </a:p>
            </p:txBody>
          </p:sp>
          <p:sp>
            <p:nvSpPr>
              <p:cNvPr id="98" name="Freeform 98"/>
              <p:cNvSpPr/>
              <p:nvPr/>
            </p:nvSpPr>
            <p:spPr>
              <a:xfrm>
                <a:off x="6257925" y="4800600"/>
                <a:ext cx="76200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762000" h="304800">
                    <a:moveTo>
                      <a:pt x="47625" y="0"/>
                    </a:moveTo>
                    <a:lnTo>
                      <a:pt x="714375" y="0"/>
                    </a:lnTo>
                    <a:cubicBezTo>
                      <a:pt x="740678" y="0"/>
                      <a:pt x="762000" y="21322"/>
                      <a:pt x="762000" y="47625"/>
                    </a:cubicBezTo>
                    <a:lnTo>
                      <a:pt x="762000" y="257175"/>
                    </a:lnTo>
                    <a:cubicBezTo>
                      <a:pt x="762000" y="283478"/>
                      <a:pt x="740678" y="304800"/>
                      <a:pt x="714375" y="304800"/>
                    </a:cubicBezTo>
                    <a:lnTo>
                      <a:pt x="47625" y="304800"/>
                    </a:lnTo>
                    <a:cubicBezTo>
                      <a:pt x="21322" y="304800"/>
                      <a:pt x="0" y="283478"/>
                      <a:pt x="0" y="257175"/>
                    </a:cubicBez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close/>
                  </a:path>
                </a:pathLst>
              </a:custGeom>
              <a:solidFill>
                <a:srgbClr val="FFF1F1"/>
              </a:solidFill>
              <a:ln w="9525">
                <a:solidFill>
                  <a:srgbClr val="FF7C7C"/>
                </a:solidFill>
              </a:ln>
            </p:spPr>
          </p:sp>
          <p:sp>
            <p:nvSpPr>
              <p:cNvPr id="99" name="TextBox 99"/>
              <p:cNvSpPr txBox="1"/>
              <p:nvPr/>
            </p:nvSpPr>
            <p:spPr>
              <a:xfrm>
                <a:off x="6334334" y="4872514"/>
                <a:ext cx="60918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333333"/>
                    </a:solidFill>
                    <a:latin typeface="Noto Sans CJK SC"/>
                    <a:ea typeface="Microsoft YaHei"/>
                    <a:cs typeface="Noto Sans CJK SC"/>
                  </a:rPr>
                  <a:t>&lt;EOR&gt;</a:t>
                </a:r>
              </a:p>
            </p:txBody>
          </p:sp>
          <p:sp>
            <p:nvSpPr>
              <p:cNvPr id="100" name="Freeform 100"/>
              <p:cNvSpPr/>
              <p:nvPr/>
            </p:nvSpPr>
            <p:spPr>
              <a:xfrm>
                <a:off x="7277100" y="4800600"/>
                <a:ext cx="76200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762000" h="304800">
                    <a:moveTo>
                      <a:pt x="47625" y="0"/>
                    </a:moveTo>
                    <a:lnTo>
                      <a:pt x="714375" y="0"/>
                    </a:lnTo>
                    <a:cubicBezTo>
                      <a:pt x="740678" y="0"/>
                      <a:pt x="762000" y="21322"/>
                      <a:pt x="762000" y="47625"/>
                    </a:cubicBezTo>
                    <a:lnTo>
                      <a:pt x="762000" y="257175"/>
                    </a:lnTo>
                    <a:cubicBezTo>
                      <a:pt x="762000" y="283478"/>
                      <a:pt x="740678" y="304800"/>
                      <a:pt x="714375" y="304800"/>
                    </a:cubicBezTo>
                    <a:lnTo>
                      <a:pt x="47625" y="304800"/>
                    </a:lnTo>
                    <a:cubicBezTo>
                      <a:pt x="21322" y="304800"/>
                      <a:pt x="0" y="283478"/>
                      <a:pt x="0" y="257175"/>
                    </a:cubicBez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close/>
                  </a:path>
                </a:pathLst>
              </a:custGeom>
              <a:solidFill>
                <a:srgbClr val="FFF1F1"/>
              </a:solidFill>
              <a:ln w="9525">
                <a:solidFill>
                  <a:srgbClr val="FF7C7C"/>
                </a:solidFill>
              </a:ln>
            </p:spPr>
          </p:sp>
          <p:sp>
            <p:nvSpPr>
              <p:cNvPr id="101" name="TextBox 101"/>
              <p:cNvSpPr txBox="1"/>
              <p:nvPr/>
            </p:nvSpPr>
            <p:spPr>
              <a:xfrm>
                <a:off x="7353509" y="4872514"/>
                <a:ext cx="60918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333333"/>
                    </a:solidFill>
                    <a:latin typeface="Noto Sans CJK SC"/>
                    <a:ea typeface="Microsoft YaHei"/>
                    <a:cs typeface="Noto Sans CJK SC"/>
                  </a:rPr>
                  <a:t>&lt;EOS&gt;</a:t>
                </a:r>
              </a:p>
            </p:txBody>
          </p:sp>
          <p:sp>
            <p:nvSpPr>
              <p:cNvPr id="102" name="TextBox 102"/>
              <p:cNvSpPr txBox="1"/>
              <p:nvPr/>
            </p:nvSpPr>
            <p:spPr>
              <a:xfrm>
                <a:off x="5127308" y="5215414"/>
                <a:ext cx="3570446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2A2A2A"/>
                    </a:solidFill>
                    <a:latin typeface="Noto Sans CJK SC"/>
                    <a:ea typeface="Microsoft YaHei"/>
                    <a:cs typeface="Noto Sans CJK SC"/>
                  </a:rPr>
                  <a:t>分别表示单个砖块结束、行结束、序列结束</a:t>
                </a:r>
              </a:p>
            </p:txBody>
          </p:sp>
        </p:grpSp>
        <p:sp>
          <p:nvSpPr>
            <p:cNvPr id="104" name="Freeform 104"/>
            <p:cNvSpPr/>
            <p:nvPr/>
          </p:nvSpPr>
          <p:spPr>
            <a:xfrm>
              <a:off x="4610100" y="5505450"/>
              <a:ext cx="4876800" cy="742950"/>
            </a:xfrm>
            <a:custGeom>
              <a:avLst/>
              <a:gdLst/>
              <a:ahLst/>
              <a:cxnLst/>
              <a:rect l="l" t="t" r="r" b="b"/>
              <a:pathLst>
                <a:path w="4876800" h="742950">
                  <a:moveTo>
                    <a:pt x="123825" y="0"/>
                  </a:moveTo>
                  <a:lnTo>
                    <a:pt x="4752975" y="0"/>
                  </a:lnTo>
                  <a:cubicBezTo>
                    <a:pt x="4821362" y="0"/>
                    <a:pt x="4876800" y="55438"/>
                    <a:pt x="4876800" y="123825"/>
                  </a:cubicBezTo>
                  <a:lnTo>
                    <a:pt x="4876800" y="619125"/>
                  </a:lnTo>
                  <a:cubicBezTo>
                    <a:pt x="4876800" y="687512"/>
                    <a:pt x="4821362" y="742950"/>
                    <a:pt x="4752975" y="742950"/>
                  </a:cubicBezTo>
                  <a:lnTo>
                    <a:pt x="123825" y="742950"/>
                  </a:lnTo>
                  <a:cubicBezTo>
                    <a:pt x="55438" y="742950"/>
                    <a:pt x="0" y="687512"/>
                    <a:pt x="0" y="619125"/>
                  </a:cubicBezTo>
                  <a:lnTo>
                    <a:pt x="0" y="123825"/>
                  </a:lnTo>
                  <a:cubicBezTo>
                    <a:pt x="0" y="55438"/>
                    <a:pt x="55438" y="0"/>
                    <a:pt x="123825" y="0"/>
                  </a:cubicBezTo>
                  <a:close/>
                </a:path>
              </a:pathLst>
            </a:custGeom>
            <a:solidFill>
              <a:srgbClr val="F7FBFF"/>
            </a:solidFill>
            <a:ln>
              <a:noFill/>
            </a:ln>
          </p:spPr>
        </p:sp>
        <p:sp>
          <p:nvSpPr>
            <p:cNvPr id="105" name="Ellipse 105"/>
            <p:cNvSpPr/>
            <p:nvPr/>
          </p:nvSpPr>
          <p:spPr>
            <a:xfrm>
              <a:off x="4686300" y="5534025"/>
              <a:ext cx="342900" cy="342900"/>
            </a:xfrm>
            <a:prstGeom prst="ellipse">
              <a:avLst/>
            </a:prstGeom>
            <a:solidFill>
              <a:srgbClr val="075FC9"/>
            </a:solidFill>
            <a:ln>
              <a:noFill/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4767211" y="5603558"/>
              <a:ext cx="18107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D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5124450" y="5572125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60C9"/>
                  </a:solidFill>
                  <a:latin typeface="Noto Sans CJK SC"/>
                  <a:ea typeface="Microsoft YaHei"/>
                  <a:cs typeface="Noto Sans CJK SC"/>
                </a:rPr>
                <a:t>层级组织方式</a:t>
              </a:r>
            </a:p>
          </p:txBody>
        </p:sp>
        <p:grpSp>
          <p:nvGrpSpPr>
            <p:cNvPr id="116" name="Group 116"/>
            <p:cNvGrpSpPr/>
            <p:nvPr/>
          </p:nvGrpSpPr>
          <p:grpSpPr>
            <a:xfrm>
              <a:off x="5276850" y="5838825"/>
              <a:ext cx="4015025" cy="409575"/>
              <a:chOff x="5276850" y="5838825"/>
              <a:chExt cx="4015025" cy="409575"/>
            </a:xfrm>
          </p:grpSpPr>
          <p:sp>
            <p:nvSpPr>
              <p:cNvPr id="108" name="Freeform 108"/>
              <p:cNvSpPr/>
              <p:nvPr/>
            </p:nvSpPr>
            <p:spPr>
              <a:xfrm>
                <a:off x="5276850" y="5838825"/>
                <a:ext cx="762000" cy="400050"/>
              </a:xfrm>
              <a:custGeom>
                <a:avLst/>
                <a:gdLst/>
                <a:ahLst/>
                <a:cxnLst/>
                <a:rect l="l" t="t" r="r" b="b"/>
                <a:pathLst>
                  <a:path w="762000" h="400050">
                    <a:moveTo>
                      <a:pt x="57150" y="0"/>
                    </a:moveTo>
                    <a:lnTo>
                      <a:pt x="704850" y="0"/>
                    </a:lnTo>
                    <a:cubicBezTo>
                      <a:pt x="736413" y="0"/>
                      <a:pt x="762000" y="25587"/>
                      <a:pt x="762000" y="57150"/>
                    </a:cubicBezTo>
                    <a:lnTo>
                      <a:pt x="762000" y="342900"/>
                    </a:lnTo>
                    <a:cubicBezTo>
                      <a:pt x="762000" y="374463"/>
                      <a:pt x="736413" y="400050"/>
                      <a:pt x="704850" y="400050"/>
                    </a:cubicBezTo>
                    <a:lnTo>
                      <a:pt x="57150" y="400050"/>
                    </a:lnTo>
                    <a:cubicBezTo>
                      <a:pt x="25587" y="400050"/>
                      <a:pt x="0" y="374463"/>
                      <a:pt x="0" y="342900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rgbClr val="E8F2FF"/>
              </a:solidFill>
              <a:ln w="14288">
                <a:solidFill>
                  <a:srgbClr val="4C92E8"/>
                </a:solidFill>
              </a:ln>
            </p:spPr>
          </p:sp>
          <p:sp>
            <p:nvSpPr>
              <p:cNvPr id="109" name="TextBox 109"/>
              <p:cNvSpPr txBox="1"/>
              <p:nvPr/>
            </p:nvSpPr>
            <p:spPr>
              <a:xfrm>
                <a:off x="5426023" y="5943600"/>
                <a:ext cx="463653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000000"/>
                    </a:solidFill>
                    <a:latin typeface="Noto Sans CJK SC"/>
                    <a:ea typeface="Microsoft YaHei"/>
                    <a:cs typeface="Noto Sans CJK SC"/>
                  </a:rPr>
                  <a:t>层 Z</a:t>
                </a:r>
              </a:p>
            </p:txBody>
          </p:sp>
          <p:sp>
            <p:nvSpPr>
              <p:cNvPr id="110" name="Line 110"/>
              <p:cNvSpPr/>
              <p:nvPr/>
            </p:nvSpPr>
            <p:spPr>
              <a:xfrm>
                <a:off x="6134100" y="6038850"/>
                <a:ext cx="3238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23850" h="9525">
                    <a:moveTo>
                      <a:pt x="0" y="0"/>
                    </a:moveTo>
                    <a:lnTo>
                      <a:pt x="323850" y="0"/>
                    </a:lnTo>
                  </a:path>
                </a:pathLst>
              </a:custGeom>
              <a:noFill/>
              <a:ln w="28575">
                <a:solidFill>
                  <a:srgbClr val="111111"/>
                </a:solidFill>
              </a:ln>
            </p:spPr>
          </p:sp>
          <p:sp>
            <p:nvSpPr>
              <p:cNvPr id="111" name="Freeform 111"/>
              <p:cNvSpPr/>
              <p:nvPr/>
            </p:nvSpPr>
            <p:spPr>
              <a:xfrm>
                <a:off x="6515100" y="5838825"/>
                <a:ext cx="762000" cy="400050"/>
              </a:xfrm>
              <a:custGeom>
                <a:avLst/>
                <a:gdLst/>
                <a:ahLst/>
                <a:cxnLst/>
                <a:rect l="l" t="t" r="r" b="b"/>
                <a:pathLst>
                  <a:path w="762000" h="400050">
                    <a:moveTo>
                      <a:pt x="57150" y="0"/>
                    </a:moveTo>
                    <a:lnTo>
                      <a:pt x="704850" y="0"/>
                    </a:lnTo>
                    <a:cubicBezTo>
                      <a:pt x="736413" y="0"/>
                      <a:pt x="762000" y="25587"/>
                      <a:pt x="762000" y="57150"/>
                    </a:cubicBezTo>
                    <a:lnTo>
                      <a:pt x="762000" y="342900"/>
                    </a:lnTo>
                    <a:cubicBezTo>
                      <a:pt x="762000" y="374463"/>
                      <a:pt x="736413" y="400050"/>
                      <a:pt x="704850" y="400050"/>
                    </a:cubicBezTo>
                    <a:lnTo>
                      <a:pt x="57150" y="400050"/>
                    </a:lnTo>
                    <a:cubicBezTo>
                      <a:pt x="25587" y="400050"/>
                      <a:pt x="0" y="374463"/>
                      <a:pt x="0" y="342900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rgbClr val="FFF5D9"/>
              </a:solidFill>
              <a:ln w="14288">
                <a:solidFill>
                  <a:srgbClr val="E0A412"/>
                </a:solidFill>
              </a:ln>
            </p:spPr>
          </p:sp>
          <p:sp>
            <p:nvSpPr>
              <p:cNvPr id="112" name="TextBox 112"/>
              <p:cNvSpPr txBox="1"/>
              <p:nvPr/>
            </p:nvSpPr>
            <p:spPr>
              <a:xfrm>
                <a:off x="6664273" y="5943600"/>
                <a:ext cx="463653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000000"/>
                    </a:solidFill>
                    <a:latin typeface="Noto Sans CJK SC"/>
                    <a:ea typeface="Microsoft YaHei"/>
                    <a:cs typeface="Noto Sans CJK SC"/>
                  </a:rPr>
                  <a:t>行 Y</a:t>
                </a:r>
              </a:p>
            </p:txBody>
          </p:sp>
          <p:sp>
            <p:nvSpPr>
              <p:cNvPr id="113" name="Line 113"/>
              <p:cNvSpPr/>
              <p:nvPr/>
            </p:nvSpPr>
            <p:spPr>
              <a:xfrm>
                <a:off x="7372350" y="6038850"/>
                <a:ext cx="3238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23850" h="9525">
                    <a:moveTo>
                      <a:pt x="0" y="0"/>
                    </a:moveTo>
                    <a:lnTo>
                      <a:pt x="323850" y="0"/>
                    </a:lnTo>
                  </a:path>
                </a:pathLst>
              </a:custGeom>
              <a:noFill/>
              <a:ln w="28575">
                <a:solidFill>
                  <a:srgbClr val="111111"/>
                </a:solidFill>
              </a:ln>
            </p:spPr>
          </p:sp>
          <p:sp>
            <p:nvSpPr>
              <p:cNvPr id="114" name="Freeform 114"/>
              <p:cNvSpPr/>
              <p:nvPr/>
            </p:nvSpPr>
            <p:spPr>
              <a:xfrm>
                <a:off x="7753350" y="5838825"/>
                <a:ext cx="1428750" cy="400050"/>
              </a:xfrm>
              <a:custGeom>
                <a:avLst/>
                <a:gdLst/>
                <a:ahLst/>
                <a:cxnLst/>
                <a:rect l="l" t="t" r="r" b="b"/>
                <a:pathLst>
                  <a:path w="1428750" h="400050">
                    <a:moveTo>
                      <a:pt x="57150" y="0"/>
                    </a:moveTo>
                    <a:lnTo>
                      <a:pt x="1371600" y="0"/>
                    </a:lnTo>
                    <a:cubicBezTo>
                      <a:pt x="1403163" y="0"/>
                      <a:pt x="1428750" y="25587"/>
                      <a:pt x="1428750" y="57150"/>
                    </a:cubicBezTo>
                    <a:lnTo>
                      <a:pt x="1428750" y="342900"/>
                    </a:lnTo>
                    <a:cubicBezTo>
                      <a:pt x="1428750" y="374463"/>
                      <a:pt x="1403163" y="400050"/>
                      <a:pt x="1371600" y="400050"/>
                    </a:cubicBezTo>
                    <a:lnTo>
                      <a:pt x="57150" y="400050"/>
                    </a:lnTo>
                    <a:cubicBezTo>
                      <a:pt x="25587" y="400050"/>
                      <a:pt x="0" y="374463"/>
                      <a:pt x="0" y="342900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rgbClr val="EAF8E8"/>
              </a:solidFill>
              <a:ln w="14288">
                <a:solidFill>
                  <a:srgbClr val="6ABF69"/>
                </a:solidFill>
              </a:ln>
            </p:spPr>
          </p:sp>
          <p:sp>
            <p:nvSpPr>
              <p:cNvPr id="115" name="TextBox 115"/>
              <p:cNvSpPr txBox="1"/>
              <p:nvPr/>
            </p:nvSpPr>
            <p:spPr>
              <a:xfrm>
                <a:off x="7643574" y="5943600"/>
                <a:ext cx="164830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000000"/>
                    </a:solidFill>
                    <a:latin typeface="Noto Sans CJK SC"/>
                    <a:ea typeface="Microsoft YaHei"/>
                    <a:cs typeface="Noto Sans CJK SC"/>
                  </a:rPr>
                  <a:t>列 X + 砖块类型</a:t>
                </a:r>
              </a:p>
            </p:txBody>
          </p:sp>
        </p:grpSp>
      </p:grpSp>
      <p:sp>
        <p:nvSpPr>
          <p:cNvPr id="118" name="Polygon 118"/>
          <p:cNvSpPr/>
          <p:nvPr/>
        </p:nvSpPr>
        <p:spPr>
          <a:xfrm>
            <a:off x="9667875" y="3038475"/>
            <a:ext cx="447675" cy="781050"/>
          </a:xfrm>
          <a:custGeom>
            <a:avLst/>
            <a:gdLst/>
            <a:ahLst/>
            <a:cxnLst/>
            <a:rect l="l" t="t" r="r" b="b"/>
            <a:pathLst>
              <a:path w="447675" h="781050">
                <a:moveTo>
                  <a:pt x="0" y="200025"/>
                </a:moveTo>
                <a:lnTo>
                  <a:pt x="238125" y="200025"/>
                </a:lnTo>
                <a:lnTo>
                  <a:pt x="238125" y="0"/>
                </a:lnTo>
                <a:lnTo>
                  <a:pt x="447675" y="390525"/>
                </a:lnTo>
                <a:lnTo>
                  <a:pt x="238125" y="781050"/>
                </a:lnTo>
                <a:lnTo>
                  <a:pt x="238125" y="571500"/>
                </a:lnTo>
                <a:lnTo>
                  <a:pt x="0" y="571500"/>
                </a:lnTo>
                <a:close/>
              </a:path>
            </a:pathLst>
          </a:custGeom>
          <a:solidFill>
            <a:srgbClr val="0060C9">
              <a:alpha val="95000"/>
            </a:srgbClr>
          </a:solidFill>
          <a:ln>
            <a:noFill/>
          </a:ln>
        </p:spPr>
      </p:sp>
      <p:grpSp>
        <p:nvGrpSpPr>
          <p:cNvPr id="189" name="Group 189"/>
          <p:cNvGrpSpPr/>
          <p:nvPr/>
        </p:nvGrpSpPr>
        <p:grpSpPr>
          <a:xfrm>
            <a:off x="10001250" y="1219200"/>
            <a:ext cx="5773293" cy="5219700"/>
            <a:chOff x="10001250" y="1219200"/>
            <a:chExt cx="5773293" cy="5219700"/>
          </a:xfrm>
        </p:grpSpPr>
        <p:sp>
          <p:nvSpPr>
            <p:cNvPr id="119" name="Freeform 119"/>
            <p:cNvSpPr/>
            <p:nvPr/>
          </p:nvSpPr>
          <p:spPr>
            <a:xfrm>
              <a:off x="10001250" y="1219200"/>
              <a:ext cx="4953000" cy="5219700"/>
            </a:xfrm>
            <a:custGeom>
              <a:avLst/>
              <a:gdLst/>
              <a:ahLst/>
              <a:cxnLst/>
              <a:rect l="l" t="t" r="r" b="b"/>
              <a:pathLst>
                <a:path w="4953000" h="5219700">
                  <a:moveTo>
                    <a:pt x="114300" y="0"/>
                  </a:moveTo>
                  <a:lnTo>
                    <a:pt x="4838700" y="0"/>
                  </a:lnTo>
                  <a:cubicBezTo>
                    <a:pt x="4901826" y="0"/>
                    <a:pt x="4953000" y="51174"/>
                    <a:pt x="4953000" y="114300"/>
                  </a:cubicBezTo>
                  <a:lnTo>
                    <a:pt x="4953000" y="5105400"/>
                  </a:lnTo>
                  <a:cubicBezTo>
                    <a:pt x="4953000" y="5168526"/>
                    <a:pt x="4901826" y="5219700"/>
                    <a:pt x="4838700" y="5219700"/>
                  </a:cubicBezTo>
                  <a:lnTo>
                    <a:pt x="114300" y="5219700"/>
                  </a:lnTo>
                  <a:cubicBezTo>
                    <a:pt x="51174" y="5219700"/>
                    <a:pt x="0" y="5168526"/>
                    <a:pt x="0" y="51054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 w="17145">
              <a:solidFill>
                <a:srgbClr val="0D67C5"/>
              </a:solidFill>
            </a:ln>
            <a:effectLst>
              <a:glow rad="76200">
                <a:srgbClr val="000000">
                  <a:alpha val="30000"/>
                </a:srgbClr>
              </a:glow>
            </a:effectLst>
          </p:spPr>
        </p:sp>
        <p:sp>
          <p:nvSpPr>
            <p:cNvPr id="120" name="Freeform 120"/>
            <p:cNvSpPr/>
            <p:nvPr/>
          </p:nvSpPr>
          <p:spPr>
            <a:xfrm>
              <a:off x="10001250" y="1219200"/>
              <a:ext cx="4953000" cy="504825"/>
            </a:xfrm>
            <a:custGeom>
              <a:avLst/>
              <a:gdLst/>
              <a:ahLst/>
              <a:cxnLst/>
              <a:rect l="l" t="t" r="r" b="b"/>
              <a:pathLst>
                <a:path w="4953000" h="504825">
                  <a:moveTo>
                    <a:pt x="114300" y="0"/>
                  </a:moveTo>
                  <a:lnTo>
                    <a:pt x="4838700" y="0"/>
                  </a:lnTo>
                  <a:cubicBezTo>
                    <a:pt x="4901826" y="0"/>
                    <a:pt x="4953000" y="51174"/>
                    <a:pt x="4953000" y="114300"/>
                  </a:cubicBezTo>
                  <a:lnTo>
                    <a:pt x="4953000" y="504825"/>
                  </a:lnTo>
                  <a:lnTo>
                    <a:pt x="0" y="504825"/>
                  </a:ln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gradFill>
              <a:gsLst>
                <a:gs pos="0">
                  <a:srgbClr val="065FC5"/>
                </a:gs>
                <a:gs pos="100000">
                  <a:srgbClr val="003366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21" name="TextBox 121"/>
            <p:cNvSpPr txBox="1"/>
            <p:nvPr/>
          </p:nvSpPr>
          <p:spPr>
            <a:xfrm>
              <a:off x="11626786" y="1348740"/>
              <a:ext cx="170192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输出序列示例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10172700" y="1933575"/>
              <a:ext cx="195884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60C9"/>
                  </a:solidFill>
                  <a:latin typeface="Noto Sans CJK SC"/>
                  <a:ea typeface="Microsoft YaHei"/>
                  <a:cs typeface="Noto Sans CJK SC"/>
                </a:rPr>
                <a:t>结构化 Token 序列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12792075" y="1933575"/>
              <a:ext cx="298246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60C9"/>
                  </a:solidFill>
                  <a:latin typeface="Noto Sans CJK SC"/>
                  <a:ea typeface="Microsoft YaHei"/>
                  <a:cs typeface="Noto Sans CJK SC"/>
                </a:rPr>
                <a:t>对应的第 0 层（Z=0）示意图</a:t>
              </a:r>
            </a:p>
          </p:txBody>
        </p:sp>
        <p:sp>
          <p:nvSpPr>
            <p:cNvPr id="124" name="Freeform 124"/>
            <p:cNvSpPr/>
            <p:nvPr/>
          </p:nvSpPr>
          <p:spPr>
            <a:xfrm>
              <a:off x="10172700" y="2228850"/>
              <a:ext cx="2171700" cy="2971800"/>
            </a:xfrm>
            <a:custGeom>
              <a:avLst/>
              <a:gdLst/>
              <a:ahLst/>
              <a:cxnLst/>
              <a:rect l="l" t="t" r="r" b="b"/>
              <a:pathLst>
                <a:path w="2171700" h="2971800">
                  <a:moveTo>
                    <a:pt x="66675" y="0"/>
                  </a:moveTo>
                  <a:lnTo>
                    <a:pt x="2105025" y="0"/>
                  </a:lnTo>
                  <a:cubicBezTo>
                    <a:pt x="2141849" y="0"/>
                    <a:pt x="2171700" y="29851"/>
                    <a:pt x="2171700" y="66675"/>
                  </a:cubicBezTo>
                  <a:lnTo>
                    <a:pt x="2171700" y="2905125"/>
                  </a:lnTo>
                  <a:cubicBezTo>
                    <a:pt x="2171700" y="2941949"/>
                    <a:pt x="2141849" y="2971800"/>
                    <a:pt x="2105025" y="2971800"/>
                  </a:cubicBezTo>
                  <a:lnTo>
                    <a:pt x="66675" y="2971800"/>
                  </a:lnTo>
                  <a:cubicBezTo>
                    <a:pt x="29851" y="2971800"/>
                    <a:pt x="0" y="2941949"/>
                    <a:pt x="0" y="2905125"/>
                  </a:cubicBezTo>
                  <a:lnTo>
                    <a:pt x="0" y="66675"/>
                  </a:lnTo>
                  <a:cubicBezTo>
                    <a:pt x="0" y="29851"/>
                    <a:pt x="29851" y="0"/>
                    <a:pt x="66675" y="0"/>
                  </a:cubicBez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8AA0B9"/>
              </a:solidFill>
            </a:ln>
          </p:spPr>
        </p:sp>
        <p:grpSp>
          <p:nvGrpSpPr>
            <p:cNvPr id="145" name="Group 145"/>
            <p:cNvGrpSpPr/>
            <p:nvPr/>
          </p:nvGrpSpPr>
          <p:grpSpPr>
            <a:xfrm>
              <a:off x="10267950" y="2381250"/>
              <a:ext cx="2066716" cy="2578894"/>
              <a:chOff x="10267950" y="2381250"/>
              <a:chExt cx="2066716" cy="2578894"/>
            </a:xfrm>
          </p:grpSpPr>
          <p:sp>
            <p:nvSpPr>
              <p:cNvPr id="125" name="Freeform 125"/>
              <p:cNvSpPr/>
              <p:nvPr/>
            </p:nvSpPr>
            <p:spPr>
              <a:xfrm>
                <a:off x="10267950" y="2381250"/>
                <a:ext cx="647700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647700" h="323850">
                    <a:moveTo>
                      <a:pt x="47625" y="0"/>
                    </a:moveTo>
                    <a:lnTo>
                      <a:pt x="600075" y="0"/>
                    </a:lnTo>
                    <a:cubicBezTo>
                      <a:pt x="626378" y="0"/>
                      <a:pt x="647700" y="21322"/>
                      <a:pt x="647700" y="47625"/>
                    </a:cubicBezTo>
                    <a:lnTo>
                      <a:pt x="647700" y="276225"/>
                    </a:lnTo>
                    <a:cubicBezTo>
                      <a:pt x="647700" y="302528"/>
                      <a:pt x="626378" y="323850"/>
                      <a:pt x="600075" y="323850"/>
                    </a:cubicBezTo>
                    <a:lnTo>
                      <a:pt x="47625" y="323850"/>
                    </a:lnTo>
                    <a:cubicBezTo>
                      <a:pt x="21322" y="323850"/>
                      <a:pt x="0" y="302528"/>
                      <a:pt x="0" y="276225"/>
                    </a:cubicBez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close/>
                  </a:path>
                </a:pathLst>
              </a:custGeom>
              <a:solidFill>
                <a:srgbClr val="F2EAFD"/>
              </a:solidFill>
              <a:ln w="9525">
                <a:solidFill>
                  <a:srgbClr val="A67CDD"/>
                </a:solidFill>
              </a:ln>
            </p:spPr>
          </p:sp>
          <p:sp>
            <p:nvSpPr>
              <p:cNvPr id="126" name="TextBox 126"/>
              <p:cNvSpPr txBox="1"/>
              <p:nvPr/>
            </p:nvSpPr>
            <p:spPr>
              <a:xfrm>
                <a:off x="10306761" y="2462689"/>
                <a:ext cx="570077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5B2AA0"/>
                    </a:solidFill>
                    <a:latin typeface="Noto Sans CJK SC"/>
                    <a:ea typeface="Microsoft YaHei"/>
                    <a:cs typeface="Noto Sans CJK SC"/>
                  </a:rPr>
                  <a:t>&lt;Z_0&gt;</a:t>
                </a:r>
              </a:p>
            </p:txBody>
          </p:sp>
          <p:sp>
            <p:nvSpPr>
              <p:cNvPr id="127" name="Freeform 127"/>
              <p:cNvSpPr/>
              <p:nvPr/>
            </p:nvSpPr>
            <p:spPr>
              <a:xfrm>
                <a:off x="10267950" y="2828925"/>
                <a:ext cx="647700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647700" h="323850">
                    <a:moveTo>
                      <a:pt x="47625" y="0"/>
                    </a:moveTo>
                    <a:lnTo>
                      <a:pt x="600075" y="0"/>
                    </a:lnTo>
                    <a:cubicBezTo>
                      <a:pt x="626378" y="0"/>
                      <a:pt x="647700" y="21322"/>
                      <a:pt x="647700" y="47625"/>
                    </a:cubicBezTo>
                    <a:lnTo>
                      <a:pt x="647700" y="276225"/>
                    </a:lnTo>
                    <a:cubicBezTo>
                      <a:pt x="647700" y="302528"/>
                      <a:pt x="626378" y="323850"/>
                      <a:pt x="600075" y="323850"/>
                    </a:cubicBezTo>
                    <a:lnTo>
                      <a:pt x="47625" y="323850"/>
                    </a:lnTo>
                    <a:cubicBezTo>
                      <a:pt x="21322" y="323850"/>
                      <a:pt x="0" y="302528"/>
                      <a:pt x="0" y="276225"/>
                    </a:cubicBez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close/>
                  </a:path>
                </a:pathLst>
              </a:custGeom>
              <a:solidFill>
                <a:srgbClr val="FFF7DD"/>
              </a:solidFill>
              <a:ln w="9525">
                <a:solidFill>
                  <a:srgbClr val="E6B336"/>
                </a:solidFill>
              </a:ln>
            </p:spPr>
          </p:sp>
          <p:sp>
            <p:nvSpPr>
              <p:cNvPr id="128" name="TextBox 128"/>
              <p:cNvSpPr txBox="1"/>
              <p:nvPr/>
            </p:nvSpPr>
            <p:spPr>
              <a:xfrm>
                <a:off x="10306761" y="2910364"/>
                <a:ext cx="570077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7C5A00"/>
                    </a:solidFill>
                    <a:latin typeface="Noto Sans CJK SC"/>
                    <a:ea typeface="Microsoft YaHei"/>
                    <a:cs typeface="Noto Sans CJK SC"/>
                  </a:rPr>
                  <a:t>&lt;Y_4&gt;</a:t>
                </a:r>
              </a:p>
            </p:txBody>
          </p:sp>
          <p:sp>
            <p:nvSpPr>
              <p:cNvPr id="129" name="Freeform 129"/>
              <p:cNvSpPr/>
              <p:nvPr/>
            </p:nvSpPr>
            <p:spPr>
              <a:xfrm>
                <a:off x="10267950" y="3276600"/>
                <a:ext cx="647700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647700" h="323850">
                    <a:moveTo>
                      <a:pt x="47625" y="0"/>
                    </a:moveTo>
                    <a:lnTo>
                      <a:pt x="600075" y="0"/>
                    </a:lnTo>
                    <a:cubicBezTo>
                      <a:pt x="626378" y="0"/>
                      <a:pt x="647700" y="21322"/>
                      <a:pt x="647700" y="47625"/>
                    </a:cubicBezTo>
                    <a:lnTo>
                      <a:pt x="647700" y="276225"/>
                    </a:lnTo>
                    <a:cubicBezTo>
                      <a:pt x="647700" y="302528"/>
                      <a:pt x="626378" y="323850"/>
                      <a:pt x="600075" y="323850"/>
                    </a:cubicBezTo>
                    <a:lnTo>
                      <a:pt x="47625" y="323850"/>
                    </a:lnTo>
                    <a:cubicBezTo>
                      <a:pt x="21322" y="323850"/>
                      <a:pt x="0" y="302528"/>
                      <a:pt x="0" y="276225"/>
                    </a:cubicBez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close/>
                  </a:path>
                </a:pathLst>
              </a:custGeom>
              <a:solidFill>
                <a:srgbClr val="EEF9EA"/>
              </a:solidFill>
              <a:ln w="9525">
                <a:solidFill>
                  <a:srgbClr val="77BD78"/>
                </a:solidFill>
              </a:ln>
            </p:spPr>
          </p:sp>
          <p:sp>
            <p:nvSpPr>
              <p:cNvPr id="130" name="TextBox 130"/>
              <p:cNvSpPr txBox="1"/>
              <p:nvPr/>
            </p:nvSpPr>
            <p:spPr>
              <a:xfrm>
                <a:off x="10306761" y="3358039"/>
                <a:ext cx="570077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1B5E20"/>
                    </a:solidFill>
                    <a:latin typeface="Noto Sans CJK SC"/>
                    <a:ea typeface="Microsoft YaHei"/>
                    <a:cs typeface="Noto Sans CJK SC"/>
                  </a:rPr>
                  <a:t>&lt;X_7&gt;</a:t>
                </a:r>
              </a:p>
            </p:txBody>
          </p:sp>
          <p:sp>
            <p:nvSpPr>
              <p:cNvPr id="131" name="Freeform 131"/>
              <p:cNvSpPr/>
              <p:nvPr/>
            </p:nvSpPr>
            <p:spPr>
              <a:xfrm>
                <a:off x="11001375" y="3276600"/>
                <a:ext cx="685800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685800" h="323850">
                    <a:moveTo>
                      <a:pt x="47625" y="0"/>
                    </a:moveTo>
                    <a:lnTo>
                      <a:pt x="638175" y="0"/>
                    </a:lnTo>
                    <a:cubicBezTo>
                      <a:pt x="664478" y="0"/>
                      <a:pt x="685800" y="21322"/>
                      <a:pt x="685800" y="47625"/>
                    </a:cubicBezTo>
                    <a:lnTo>
                      <a:pt x="685800" y="276225"/>
                    </a:lnTo>
                    <a:cubicBezTo>
                      <a:pt x="685800" y="302528"/>
                      <a:pt x="664478" y="323850"/>
                      <a:pt x="638175" y="323850"/>
                    </a:cubicBezTo>
                    <a:lnTo>
                      <a:pt x="47625" y="323850"/>
                    </a:lnTo>
                    <a:cubicBezTo>
                      <a:pt x="21322" y="323850"/>
                      <a:pt x="0" y="302528"/>
                      <a:pt x="0" y="276225"/>
                    </a:cubicBez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close/>
                  </a:path>
                </a:pathLst>
              </a:custGeom>
              <a:solidFill>
                <a:srgbClr val="EEF5FF"/>
              </a:solidFill>
              <a:ln w="13335">
                <a:solidFill>
                  <a:srgbClr val="5595EF"/>
                </a:solidFill>
              </a:ln>
            </p:spPr>
          </p:sp>
          <p:sp>
            <p:nvSpPr>
              <p:cNvPr id="132" name="TextBox 132"/>
              <p:cNvSpPr txBox="1"/>
              <p:nvPr/>
            </p:nvSpPr>
            <p:spPr>
              <a:xfrm>
                <a:off x="10976139" y="3358039"/>
                <a:ext cx="736273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173C7A"/>
                    </a:solidFill>
                    <a:latin typeface="Noto Sans CJK SC"/>
                    <a:ea typeface="Microsoft YaHei"/>
                    <a:cs typeface="Noto Sans CJK SC"/>
                  </a:rPr>
                  <a:t>&lt;B_1x2&gt;</a:t>
                </a:r>
              </a:p>
            </p:txBody>
          </p:sp>
          <p:sp>
            <p:nvSpPr>
              <p:cNvPr id="133" name="Freeform 133"/>
              <p:cNvSpPr/>
              <p:nvPr/>
            </p:nvSpPr>
            <p:spPr>
              <a:xfrm>
                <a:off x="11772900" y="3276600"/>
                <a:ext cx="514350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514350" h="323850">
                    <a:moveTo>
                      <a:pt x="47625" y="0"/>
                    </a:moveTo>
                    <a:lnTo>
                      <a:pt x="466725" y="0"/>
                    </a:lnTo>
                    <a:cubicBezTo>
                      <a:pt x="493028" y="0"/>
                      <a:pt x="514350" y="21322"/>
                      <a:pt x="514350" y="47625"/>
                    </a:cubicBezTo>
                    <a:lnTo>
                      <a:pt x="514350" y="276225"/>
                    </a:lnTo>
                    <a:cubicBezTo>
                      <a:pt x="514350" y="302528"/>
                      <a:pt x="493028" y="323850"/>
                      <a:pt x="466725" y="323850"/>
                    </a:cubicBezTo>
                    <a:lnTo>
                      <a:pt x="47625" y="323850"/>
                    </a:lnTo>
                    <a:cubicBezTo>
                      <a:pt x="21322" y="323850"/>
                      <a:pt x="0" y="302528"/>
                      <a:pt x="0" y="276225"/>
                    </a:cubicBez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close/>
                  </a:path>
                </a:pathLst>
              </a:custGeom>
              <a:solidFill>
                <a:srgbClr val="FFF1F1"/>
              </a:solidFill>
              <a:ln w="9525">
                <a:solidFill>
                  <a:srgbClr val="FF7C7C"/>
                </a:solidFill>
              </a:ln>
            </p:spPr>
          </p:sp>
          <p:sp>
            <p:nvSpPr>
              <p:cNvPr id="134" name="TextBox 134"/>
              <p:cNvSpPr txBox="1"/>
              <p:nvPr/>
            </p:nvSpPr>
            <p:spPr>
              <a:xfrm>
                <a:off x="11725484" y="3358039"/>
                <a:ext cx="60918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333333"/>
                    </a:solidFill>
                    <a:latin typeface="Noto Sans CJK SC"/>
                    <a:ea typeface="Microsoft YaHei"/>
                    <a:cs typeface="Noto Sans CJK SC"/>
                  </a:rPr>
                  <a:t>&lt;EOC&gt;</a:t>
                </a:r>
              </a:p>
            </p:txBody>
          </p:sp>
          <p:sp>
            <p:nvSpPr>
              <p:cNvPr id="135" name="Freeform 135"/>
              <p:cNvSpPr/>
              <p:nvPr/>
            </p:nvSpPr>
            <p:spPr>
              <a:xfrm>
                <a:off x="10267950" y="3724275"/>
                <a:ext cx="647700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647700" h="323850">
                    <a:moveTo>
                      <a:pt x="47625" y="0"/>
                    </a:moveTo>
                    <a:lnTo>
                      <a:pt x="600075" y="0"/>
                    </a:lnTo>
                    <a:cubicBezTo>
                      <a:pt x="626378" y="0"/>
                      <a:pt x="647700" y="21322"/>
                      <a:pt x="647700" y="47625"/>
                    </a:cubicBezTo>
                    <a:lnTo>
                      <a:pt x="647700" y="276225"/>
                    </a:lnTo>
                    <a:cubicBezTo>
                      <a:pt x="647700" y="302528"/>
                      <a:pt x="626378" y="323850"/>
                      <a:pt x="600075" y="323850"/>
                    </a:cubicBezTo>
                    <a:lnTo>
                      <a:pt x="47625" y="323850"/>
                    </a:lnTo>
                    <a:cubicBezTo>
                      <a:pt x="21322" y="323850"/>
                      <a:pt x="0" y="302528"/>
                      <a:pt x="0" y="276225"/>
                    </a:cubicBez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close/>
                  </a:path>
                </a:pathLst>
              </a:custGeom>
              <a:solidFill>
                <a:srgbClr val="EEF9EA"/>
              </a:solidFill>
              <a:ln w="9525">
                <a:solidFill>
                  <a:srgbClr val="77BD78"/>
                </a:solidFill>
              </a:ln>
            </p:spPr>
          </p:sp>
          <p:sp>
            <p:nvSpPr>
              <p:cNvPr id="136" name="TextBox 136"/>
              <p:cNvSpPr txBox="1"/>
              <p:nvPr/>
            </p:nvSpPr>
            <p:spPr>
              <a:xfrm>
                <a:off x="10306761" y="3805714"/>
                <a:ext cx="570077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1B5E20"/>
                    </a:solidFill>
                    <a:latin typeface="Noto Sans CJK SC"/>
                    <a:ea typeface="Microsoft YaHei"/>
                    <a:cs typeface="Noto Sans CJK SC"/>
                  </a:rPr>
                  <a:t>&lt;X_9&gt;</a:t>
                </a:r>
              </a:p>
            </p:txBody>
          </p:sp>
          <p:sp>
            <p:nvSpPr>
              <p:cNvPr id="137" name="Freeform 137"/>
              <p:cNvSpPr/>
              <p:nvPr/>
            </p:nvSpPr>
            <p:spPr>
              <a:xfrm>
                <a:off x="11001375" y="3724275"/>
                <a:ext cx="685800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685800" h="323850">
                    <a:moveTo>
                      <a:pt x="47625" y="0"/>
                    </a:moveTo>
                    <a:lnTo>
                      <a:pt x="638175" y="0"/>
                    </a:lnTo>
                    <a:cubicBezTo>
                      <a:pt x="664478" y="0"/>
                      <a:pt x="685800" y="21322"/>
                      <a:pt x="685800" y="47625"/>
                    </a:cubicBezTo>
                    <a:lnTo>
                      <a:pt x="685800" y="276225"/>
                    </a:lnTo>
                    <a:cubicBezTo>
                      <a:pt x="685800" y="302528"/>
                      <a:pt x="664478" y="323850"/>
                      <a:pt x="638175" y="323850"/>
                    </a:cubicBezTo>
                    <a:lnTo>
                      <a:pt x="47625" y="323850"/>
                    </a:lnTo>
                    <a:cubicBezTo>
                      <a:pt x="21322" y="323850"/>
                      <a:pt x="0" y="302528"/>
                      <a:pt x="0" y="276225"/>
                    </a:cubicBez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close/>
                  </a:path>
                </a:pathLst>
              </a:custGeom>
              <a:solidFill>
                <a:srgbClr val="EEF5FF"/>
              </a:solidFill>
              <a:ln w="13335">
                <a:solidFill>
                  <a:srgbClr val="5595EF"/>
                </a:solidFill>
              </a:ln>
            </p:spPr>
          </p:sp>
          <p:sp>
            <p:nvSpPr>
              <p:cNvPr id="138" name="TextBox 138"/>
              <p:cNvSpPr txBox="1"/>
              <p:nvPr/>
            </p:nvSpPr>
            <p:spPr>
              <a:xfrm>
                <a:off x="10951698" y="3805714"/>
                <a:ext cx="78515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173C7A"/>
                    </a:solidFill>
                    <a:latin typeface="Noto Sans CJK SC"/>
                    <a:ea typeface="Microsoft YaHei"/>
                    <a:cs typeface="Noto Sans CJK SC"/>
                  </a:rPr>
                  <a:t>&lt;B_2x2&gt;</a:t>
                </a:r>
              </a:p>
            </p:txBody>
          </p:sp>
          <p:sp>
            <p:nvSpPr>
              <p:cNvPr id="139" name="Freeform 139"/>
              <p:cNvSpPr/>
              <p:nvPr/>
            </p:nvSpPr>
            <p:spPr>
              <a:xfrm>
                <a:off x="11772900" y="3724275"/>
                <a:ext cx="514350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514350" h="323850">
                    <a:moveTo>
                      <a:pt x="47625" y="0"/>
                    </a:moveTo>
                    <a:lnTo>
                      <a:pt x="466725" y="0"/>
                    </a:lnTo>
                    <a:cubicBezTo>
                      <a:pt x="493028" y="0"/>
                      <a:pt x="514350" y="21322"/>
                      <a:pt x="514350" y="47625"/>
                    </a:cubicBezTo>
                    <a:lnTo>
                      <a:pt x="514350" y="276225"/>
                    </a:lnTo>
                    <a:cubicBezTo>
                      <a:pt x="514350" y="302528"/>
                      <a:pt x="493028" y="323850"/>
                      <a:pt x="466725" y="323850"/>
                    </a:cubicBezTo>
                    <a:lnTo>
                      <a:pt x="47625" y="323850"/>
                    </a:lnTo>
                    <a:cubicBezTo>
                      <a:pt x="21322" y="323850"/>
                      <a:pt x="0" y="302528"/>
                      <a:pt x="0" y="276225"/>
                    </a:cubicBez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close/>
                  </a:path>
                </a:pathLst>
              </a:custGeom>
              <a:solidFill>
                <a:srgbClr val="FFF1F1"/>
              </a:solidFill>
              <a:ln w="9525">
                <a:solidFill>
                  <a:srgbClr val="FF7C7C"/>
                </a:solidFill>
              </a:ln>
            </p:spPr>
          </p:sp>
          <p:sp>
            <p:nvSpPr>
              <p:cNvPr id="140" name="TextBox 140"/>
              <p:cNvSpPr txBox="1"/>
              <p:nvPr/>
            </p:nvSpPr>
            <p:spPr>
              <a:xfrm>
                <a:off x="11725484" y="3805714"/>
                <a:ext cx="60918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333333"/>
                    </a:solidFill>
                    <a:latin typeface="Noto Sans CJK SC"/>
                    <a:ea typeface="Microsoft YaHei"/>
                    <a:cs typeface="Noto Sans CJK SC"/>
                  </a:rPr>
                  <a:t>&lt;EOC&gt;</a:t>
                </a:r>
              </a:p>
            </p:txBody>
          </p:sp>
          <p:sp>
            <p:nvSpPr>
              <p:cNvPr id="141" name="Freeform 141"/>
              <p:cNvSpPr/>
              <p:nvPr/>
            </p:nvSpPr>
            <p:spPr>
              <a:xfrm>
                <a:off x="10267950" y="4171950"/>
                <a:ext cx="647700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647700" h="323850">
                    <a:moveTo>
                      <a:pt x="47625" y="0"/>
                    </a:moveTo>
                    <a:lnTo>
                      <a:pt x="600075" y="0"/>
                    </a:lnTo>
                    <a:cubicBezTo>
                      <a:pt x="626378" y="0"/>
                      <a:pt x="647700" y="21322"/>
                      <a:pt x="647700" y="47625"/>
                    </a:cubicBezTo>
                    <a:lnTo>
                      <a:pt x="647700" y="276225"/>
                    </a:lnTo>
                    <a:cubicBezTo>
                      <a:pt x="647700" y="302528"/>
                      <a:pt x="626378" y="323850"/>
                      <a:pt x="600075" y="323850"/>
                    </a:cubicBezTo>
                    <a:lnTo>
                      <a:pt x="47625" y="323850"/>
                    </a:lnTo>
                    <a:cubicBezTo>
                      <a:pt x="21322" y="323850"/>
                      <a:pt x="0" y="302528"/>
                      <a:pt x="0" y="276225"/>
                    </a:cubicBez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close/>
                  </a:path>
                </a:pathLst>
              </a:custGeom>
              <a:solidFill>
                <a:srgbClr val="FFF1F1"/>
              </a:solidFill>
              <a:ln w="9525">
                <a:solidFill>
                  <a:srgbClr val="FF7C7C"/>
                </a:solidFill>
              </a:ln>
            </p:spPr>
          </p:sp>
          <p:sp>
            <p:nvSpPr>
              <p:cNvPr id="142" name="TextBox 142"/>
              <p:cNvSpPr txBox="1"/>
              <p:nvPr/>
            </p:nvSpPr>
            <p:spPr>
              <a:xfrm>
                <a:off x="10287209" y="4253389"/>
                <a:ext cx="60918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333333"/>
                    </a:solidFill>
                    <a:latin typeface="Noto Sans CJK SC"/>
                    <a:ea typeface="Microsoft YaHei"/>
                    <a:cs typeface="Noto Sans CJK SC"/>
                  </a:rPr>
                  <a:t>&lt;EOR&gt;</a:t>
                </a:r>
              </a:p>
            </p:txBody>
          </p:sp>
          <p:sp>
            <p:nvSpPr>
              <p:cNvPr id="143" name="Freeform 143"/>
              <p:cNvSpPr/>
              <p:nvPr/>
            </p:nvSpPr>
            <p:spPr>
              <a:xfrm>
                <a:off x="10267950" y="4619625"/>
                <a:ext cx="647700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647700" h="323850">
                    <a:moveTo>
                      <a:pt x="47625" y="0"/>
                    </a:moveTo>
                    <a:lnTo>
                      <a:pt x="600075" y="0"/>
                    </a:lnTo>
                    <a:cubicBezTo>
                      <a:pt x="626378" y="0"/>
                      <a:pt x="647700" y="21322"/>
                      <a:pt x="647700" y="47625"/>
                    </a:cubicBezTo>
                    <a:lnTo>
                      <a:pt x="647700" y="276225"/>
                    </a:lnTo>
                    <a:cubicBezTo>
                      <a:pt x="647700" y="302528"/>
                      <a:pt x="626378" y="323850"/>
                      <a:pt x="600075" y="323850"/>
                    </a:cubicBezTo>
                    <a:lnTo>
                      <a:pt x="47625" y="323850"/>
                    </a:lnTo>
                    <a:cubicBezTo>
                      <a:pt x="21322" y="323850"/>
                      <a:pt x="0" y="302528"/>
                      <a:pt x="0" y="276225"/>
                    </a:cubicBez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close/>
                  </a:path>
                </a:pathLst>
              </a:custGeom>
              <a:solidFill>
                <a:srgbClr val="FFF1F1"/>
              </a:solidFill>
              <a:ln w="9525">
                <a:solidFill>
                  <a:srgbClr val="FF7C7C"/>
                </a:solidFill>
              </a:ln>
            </p:spPr>
          </p:sp>
          <p:sp>
            <p:nvSpPr>
              <p:cNvPr id="144" name="TextBox 144"/>
              <p:cNvSpPr txBox="1"/>
              <p:nvPr/>
            </p:nvSpPr>
            <p:spPr>
              <a:xfrm>
                <a:off x="10287209" y="4701064"/>
                <a:ext cx="60918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333333"/>
                    </a:solidFill>
                    <a:latin typeface="Noto Sans CJK SC"/>
                    <a:ea typeface="Microsoft YaHei"/>
                    <a:cs typeface="Noto Sans CJK SC"/>
                  </a:rPr>
                  <a:t>&lt;EOS&gt;</a:t>
                </a:r>
              </a:p>
            </p:txBody>
          </p:sp>
        </p:grpSp>
        <p:grpSp>
          <p:nvGrpSpPr>
            <p:cNvPr id="178" name="Group 178"/>
            <p:cNvGrpSpPr/>
            <p:nvPr/>
          </p:nvGrpSpPr>
          <p:grpSpPr>
            <a:xfrm>
              <a:off x="12253996" y="2375535"/>
              <a:ext cx="2890754" cy="2167890"/>
              <a:chOff x="12253996" y="2375535"/>
              <a:chExt cx="2890754" cy="2167890"/>
            </a:xfrm>
          </p:grpSpPr>
          <p:sp>
            <p:nvSpPr>
              <p:cNvPr id="146" name="TextBox 146"/>
              <p:cNvSpPr txBox="1"/>
              <p:nvPr/>
            </p:nvSpPr>
            <p:spPr>
              <a:xfrm>
                <a:off x="13574144" y="2375535"/>
                <a:ext cx="68376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000000"/>
                    </a:solidFill>
                    <a:latin typeface="Noto Sans CJK SC"/>
                    <a:ea typeface="Microsoft YaHei"/>
                    <a:cs typeface="Noto Sans CJK SC"/>
                  </a:rPr>
                  <a:t>X（列）</a:t>
                </a:r>
              </a:p>
            </p:txBody>
          </p:sp>
          <p:sp>
            <p:nvSpPr>
              <p:cNvPr id="147" name="TextBox 147"/>
              <p:cNvSpPr txBox="1"/>
              <p:nvPr/>
            </p:nvSpPr>
            <p:spPr>
              <a:xfrm>
                <a:off x="12493513" y="3177064"/>
                <a:ext cx="139923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000000"/>
                    </a:solidFill>
                    <a:latin typeface="Noto Sans CJK SC"/>
                    <a:ea typeface="Microsoft YaHei"/>
                    <a:cs typeface="Noto Sans CJK SC"/>
                  </a:rPr>
                  <a:t>Y</a:t>
                </a:r>
              </a:p>
            </p:txBody>
          </p:sp>
          <p:sp>
            <p:nvSpPr>
              <p:cNvPr id="148" name="TextBox 148"/>
              <p:cNvSpPr txBox="1"/>
              <p:nvPr/>
            </p:nvSpPr>
            <p:spPr>
              <a:xfrm>
                <a:off x="12253996" y="3386614"/>
                <a:ext cx="618958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000000"/>
                    </a:solidFill>
                    <a:latin typeface="Noto Sans CJK SC"/>
                    <a:ea typeface="Microsoft YaHei"/>
                    <a:cs typeface="Noto Sans CJK SC"/>
                  </a:rPr>
                  <a:t>（行）</a:t>
                </a:r>
              </a:p>
            </p:txBody>
          </p:sp>
          <p:grpSp>
            <p:nvGrpSpPr>
              <p:cNvPr id="161" name="Group 161"/>
              <p:cNvGrpSpPr/>
              <p:nvPr/>
            </p:nvGrpSpPr>
            <p:grpSpPr>
              <a:xfrm>
                <a:off x="12833985" y="2613660"/>
                <a:ext cx="2297811" cy="1891665"/>
                <a:chOff x="12833985" y="2613660"/>
                <a:chExt cx="2297811" cy="1891665"/>
              </a:xfrm>
            </p:grpSpPr>
            <p:sp>
              <p:nvSpPr>
                <p:cNvPr id="149" name="TextBox 149"/>
                <p:cNvSpPr txBox="1"/>
                <p:nvPr/>
              </p:nvSpPr>
              <p:spPr>
                <a:xfrm>
                  <a:off x="13167360" y="2613660"/>
                  <a:ext cx="126873" cy="2438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rgbClr val="111111"/>
                      </a:solidFill>
                      <a:latin typeface="Noto Sans CJK SC"/>
                      <a:ea typeface="Microsoft YaHei"/>
                      <a:cs typeface="Noto Sans CJK SC"/>
                    </a:rPr>
                    <a:t>5</a:t>
                  </a:r>
                </a:p>
              </p:txBody>
            </p:sp>
            <p:sp>
              <p:nvSpPr>
                <p:cNvPr id="150" name="TextBox 150"/>
                <p:cNvSpPr txBox="1"/>
                <p:nvPr/>
              </p:nvSpPr>
              <p:spPr>
                <a:xfrm>
                  <a:off x="13472160" y="2613660"/>
                  <a:ext cx="126873" cy="2438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rgbClr val="111111"/>
                      </a:solidFill>
                      <a:latin typeface="Noto Sans CJK SC"/>
                      <a:ea typeface="Microsoft YaHei"/>
                      <a:cs typeface="Noto Sans CJK SC"/>
                    </a:rPr>
                    <a:t>6</a:t>
                  </a:r>
                </a:p>
              </p:txBody>
            </p:sp>
            <p:sp>
              <p:nvSpPr>
                <p:cNvPr id="151" name="TextBox 151"/>
                <p:cNvSpPr txBox="1"/>
                <p:nvPr/>
              </p:nvSpPr>
              <p:spPr>
                <a:xfrm>
                  <a:off x="13776960" y="2613660"/>
                  <a:ext cx="126873" cy="2438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rgbClr val="111111"/>
                      </a:solidFill>
                      <a:latin typeface="Noto Sans CJK SC"/>
                      <a:ea typeface="Microsoft YaHei"/>
                      <a:cs typeface="Noto Sans CJK SC"/>
                    </a:rPr>
                    <a:t>7</a:t>
                  </a:r>
                </a:p>
              </p:txBody>
            </p:sp>
            <p:sp>
              <p:nvSpPr>
                <p:cNvPr id="152" name="TextBox 152"/>
                <p:cNvSpPr txBox="1"/>
                <p:nvPr/>
              </p:nvSpPr>
              <p:spPr>
                <a:xfrm>
                  <a:off x="14081760" y="2613660"/>
                  <a:ext cx="126873" cy="2438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rgbClr val="111111"/>
                      </a:solidFill>
                      <a:latin typeface="Noto Sans CJK SC"/>
                      <a:ea typeface="Microsoft YaHei"/>
                      <a:cs typeface="Noto Sans CJK SC"/>
                    </a:rPr>
                    <a:t>8</a:t>
                  </a:r>
                </a:p>
              </p:txBody>
            </p:sp>
            <p:sp>
              <p:nvSpPr>
                <p:cNvPr id="153" name="TextBox 153"/>
                <p:cNvSpPr txBox="1"/>
                <p:nvPr/>
              </p:nvSpPr>
              <p:spPr>
                <a:xfrm>
                  <a:off x="14386560" y="2613660"/>
                  <a:ext cx="126873" cy="2438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rgbClr val="111111"/>
                      </a:solidFill>
                      <a:latin typeface="Noto Sans CJK SC"/>
                      <a:ea typeface="Microsoft YaHei"/>
                      <a:cs typeface="Noto Sans CJK SC"/>
                    </a:rPr>
                    <a:t>9</a:t>
                  </a:r>
                </a:p>
              </p:txBody>
            </p:sp>
            <p:sp>
              <p:nvSpPr>
                <p:cNvPr id="154" name="TextBox 154"/>
                <p:cNvSpPr txBox="1"/>
                <p:nvPr/>
              </p:nvSpPr>
              <p:spPr>
                <a:xfrm>
                  <a:off x="14643735" y="2613660"/>
                  <a:ext cx="179451" cy="2438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rgbClr val="111111"/>
                      </a:solidFill>
                      <a:latin typeface="Noto Sans CJK SC"/>
                      <a:ea typeface="Microsoft YaHei"/>
                      <a:cs typeface="Noto Sans CJK SC"/>
                    </a:rPr>
                    <a:t>10</a:t>
                  </a:r>
                </a:p>
              </p:txBody>
            </p:sp>
            <p:sp>
              <p:nvSpPr>
                <p:cNvPr id="155" name="TextBox 155"/>
                <p:cNvSpPr txBox="1"/>
                <p:nvPr/>
              </p:nvSpPr>
              <p:spPr>
                <a:xfrm>
                  <a:off x="14996160" y="2613660"/>
                  <a:ext cx="135636" cy="2438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rgbClr val="111111"/>
                      </a:solidFill>
                      <a:latin typeface="Noto Sans CJK SC"/>
                      <a:ea typeface="Microsoft YaHei"/>
                      <a:cs typeface="Noto Sans CJK SC"/>
                    </a:rPr>
                    <a:t>11</a:t>
                  </a:r>
                </a:p>
              </p:txBody>
            </p:sp>
            <p:sp>
              <p:nvSpPr>
                <p:cNvPr id="156" name="TextBox 156"/>
                <p:cNvSpPr txBox="1"/>
                <p:nvPr/>
              </p:nvSpPr>
              <p:spPr>
                <a:xfrm>
                  <a:off x="12833985" y="2889885"/>
                  <a:ext cx="126873" cy="2438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rgbClr val="111111"/>
                      </a:solidFill>
                      <a:latin typeface="Noto Sans CJK SC"/>
                      <a:ea typeface="Microsoft YaHei"/>
                      <a:cs typeface="Noto Sans CJK SC"/>
                    </a:rPr>
                    <a:t>6</a:t>
                  </a:r>
                </a:p>
              </p:txBody>
            </p:sp>
            <p:sp>
              <p:nvSpPr>
                <p:cNvPr id="157" name="TextBox 157"/>
                <p:cNvSpPr txBox="1"/>
                <p:nvPr/>
              </p:nvSpPr>
              <p:spPr>
                <a:xfrm>
                  <a:off x="12833985" y="3232785"/>
                  <a:ext cx="126873" cy="2438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rgbClr val="111111"/>
                      </a:solidFill>
                      <a:latin typeface="Noto Sans CJK SC"/>
                      <a:ea typeface="Microsoft YaHei"/>
                      <a:cs typeface="Noto Sans CJK SC"/>
                    </a:rPr>
                    <a:t>5</a:t>
                  </a:r>
                </a:p>
              </p:txBody>
            </p:sp>
            <p:sp>
              <p:nvSpPr>
                <p:cNvPr id="158" name="TextBox 158"/>
                <p:cNvSpPr txBox="1"/>
                <p:nvPr/>
              </p:nvSpPr>
              <p:spPr>
                <a:xfrm>
                  <a:off x="12833985" y="3575685"/>
                  <a:ext cx="131693" cy="2438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b="1" dirty="0">
                      <a:solidFill>
                        <a:srgbClr val="075FC9"/>
                      </a:solidFill>
                      <a:latin typeface="Noto Sans CJK SC"/>
                      <a:ea typeface="Microsoft YaHei"/>
                      <a:cs typeface="Noto Sans CJK SC"/>
                    </a:rPr>
                    <a:t>4</a:t>
                  </a:r>
                </a:p>
              </p:txBody>
            </p:sp>
            <p:sp>
              <p:nvSpPr>
                <p:cNvPr id="159" name="TextBox 159"/>
                <p:cNvSpPr txBox="1"/>
                <p:nvPr/>
              </p:nvSpPr>
              <p:spPr>
                <a:xfrm>
                  <a:off x="12833985" y="3918585"/>
                  <a:ext cx="126873" cy="2438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rgbClr val="111111"/>
                      </a:solidFill>
                      <a:latin typeface="Noto Sans CJK SC"/>
                      <a:ea typeface="Microsoft YaHei"/>
                      <a:cs typeface="Noto Sans CJK SC"/>
                    </a:rPr>
                    <a:t>3</a:t>
                  </a:r>
                </a:p>
              </p:txBody>
            </p:sp>
            <p:sp>
              <p:nvSpPr>
                <p:cNvPr id="160" name="TextBox 160"/>
                <p:cNvSpPr txBox="1"/>
                <p:nvPr/>
              </p:nvSpPr>
              <p:spPr>
                <a:xfrm>
                  <a:off x="12833985" y="4261485"/>
                  <a:ext cx="126873" cy="2438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rgbClr val="111111"/>
                      </a:solidFill>
                      <a:latin typeface="Noto Sans CJK SC"/>
                      <a:ea typeface="Microsoft YaHei"/>
                      <a:cs typeface="Noto Sans CJK SC"/>
                    </a:rPr>
                    <a:t>2</a:t>
                  </a:r>
                </a:p>
              </p:txBody>
            </p:sp>
          </p:grpSp>
          <p:sp>
            <p:nvSpPr>
              <p:cNvPr id="162" name="Rectangle 162"/>
              <p:cNvSpPr/>
              <p:nvPr/>
            </p:nvSpPr>
            <p:spPr>
              <a:xfrm>
                <a:off x="13087350" y="2828925"/>
                <a:ext cx="2057400" cy="1714500"/>
              </a:xfrm>
              <a:prstGeom prst="rect">
                <a:avLst/>
              </a:prstGeom>
              <a:solidFill>
                <a:srgbClr val="FFFFFF"/>
              </a:solidFill>
              <a:ln w="12382">
                <a:solidFill>
                  <a:srgbClr val="9DA6B1"/>
                </a:solidFill>
              </a:ln>
            </p:spPr>
          </p:sp>
          <p:grpSp>
            <p:nvGrpSpPr>
              <p:cNvPr id="172" name="Group 172"/>
              <p:cNvGrpSpPr/>
              <p:nvPr/>
            </p:nvGrpSpPr>
            <p:grpSpPr>
              <a:xfrm>
                <a:off x="13087350" y="2828925"/>
                <a:ext cx="2057400" cy="1714500"/>
                <a:chOff x="13087350" y="2828925"/>
                <a:chExt cx="2057400" cy="1714500"/>
              </a:xfrm>
            </p:grpSpPr>
            <p:sp>
              <p:nvSpPr>
                <p:cNvPr id="163" name="Line 163"/>
                <p:cNvSpPr/>
                <p:nvPr/>
              </p:nvSpPr>
              <p:spPr>
                <a:xfrm>
                  <a:off x="13430250" y="2828925"/>
                  <a:ext cx="9525" cy="171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714500">
                      <a:moveTo>
                        <a:pt x="0" y="0"/>
                      </a:moveTo>
                      <a:lnTo>
                        <a:pt x="0" y="1714500"/>
                      </a:lnTo>
                    </a:path>
                  </a:pathLst>
                </a:custGeom>
                <a:noFill/>
                <a:ln w="9525">
                  <a:solidFill>
                    <a:srgbClr val="D6DBE2"/>
                  </a:solidFill>
                </a:ln>
              </p:spPr>
            </p:sp>
            <p:sp>
              <p:nvSpPr>
                <p:cNvPr id="164" name="Line 164"/>
                <p:cNvSpPr/>
                <p:nvPr/>
              </p:nvSpPr>
              <p:spPr>
                <a:xfrm>
                  <a:off x="13773150" y="2828925"/>
                  <a:ext cx="9525" cy="171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714500">
                      <a:moveTo>
                        <a:pt x="0" y="0"/>
                      </a:moveTo>
                      <a:lnTo>
                        <a:pt x="0" y="1714500"/>
                      </a:lnTo>
                    </a:path>
                  </a:pathLst>
                </a:custGeom>
                <a:noFill/>
                <a:ln w="9525">
                  <a:solidFill>
                    <a:srgbClr val="D6DBE2"/>
                  </a:solidFill>
                </a:ln>
              </p:spPr>
            </p:sp>
            <p:sp>
              <p:nvSpPr>
                <p:cNvPr id="165" name="Line 165"/>
                <p:cNvSpPr/>
                <p:nvPr/>
              </p:nvSpPr>
              <p:spPr>
                <a:xfrm>
                  <a:off x="14116050" y="2828925"/>
                  <a:ext cx="9525" cy="171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714500">
                      <a:moveTo>
                        <a:pt x="0" y="0"/>
                      </a:moveTo>
                      <a:lnTo>
                        <a:pt x="0" y="1714500"/>
                      </a:lnTo>
                    </a:path>
                  </a:pathLst>
                </a:custGeom>
                <a:noFill/>
                <a:ln w="9525">
                  <a:solidFill>
                    <a:srgbClr val="D6DBE2"/>
                  </a:solidFill>
                </a:ln>
              </p:spPr>
            </p:sp>
            <p:sp>
              <p:nvSpPr>
                <p:cNvPr id="166" name="Line 166"/>
                <p:cNvSpPr/>
                <p:nvPr/>
              </p:nvSpPr>
              <p:spPr>
                <a:xfrm>
                  <a:off x="14458950" y="2828925"/>
                  <a:ext cx="9525" cy="171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714500">
                      <a:moveTo>
                        <a:pt x="0" y="0"/>
                      </a:moveTo>
                      <a:lnTo>
                        <a:pt x="0" y="1714500"/>
                      </a:lnTo>
                    </a:path>
                  </a:pathLst>
                </a:custGeom>
                <a:noFill/>
                <a:ln w="9525">
                  <a:solidFill>
                    <a:srgbClr val="D6DBE2"/>
                  </a:solidFill>
                </a:ln>
              </p:spPr>
            </p:sp>
            <p:sp>
              <p:nvSpPr>
                <p:cNvPr id="167" name="Line 167"/>
                <p:cNvSpPr/>
                <p:nvPr/>
              </p:nvSpPr>
              <p:spPr>
                <a:xfrm>
                  <a:off x="14801850" y="2828925"/>
                  <a:ext cx="9525" cy="171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714500">
                      <a:moveTo>
                        <a:pt x="0" y="0"/>
                      </a:moveTo>
                      <a:lnTo>
                        <a:pt x="0" y="1714500"/>
                      </a:lnTo>
                    </a:path>
                  </a:pathLst>
                </a:custGeom>
                <a:noFill/>
                <a:ln w="9525">
                  <a:solidFill>
                    <a:srgbClr val="D6DBE2"/>
                  </a:solidFill>
                </a:ln>
              </p:spPr>
            </p:sp>
            <p:sp>
              <p:nvSpPr>
                <p:cNvPr id="168" name="Line 168"/>
                <p:cNvSpPr/>
                <p:nvPr/>
              </p:nvSpPr>
              <p:spPr>
                <a:xfrm>
                  <a:off x="13087350" y="3171825"/>
                  <a:ext cx="20574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7400" h="9525">
                      <a:moveTo>
                        <a:pt x="0" y="0"/>
                      </a:moveTo>
                      <a:lnTo>
                        <a:pt x="2057400" y="0"/>
                      </a:lnTo>
                    </a:path>
                  </a:pathLst>
                </a:custGeom>
                <a:noFill/>
                <a:ln w="9525">
                  <a:solidFill>
                    <a:srgbClr val="D6DBE2"/>
                  </a:solidFill>
                </a:ln>
              </p:spPr>
            </p:sp>
            <p:sp>
              <p:nvSpPr>
                <p:cNvPr id="169" name="Line 169"/>
                <p:cNvSpPr/>
                <p:nvPr/>
              </p:nvSpPr>
              <p:spPr>
                <a:xfrm>
                  <a:off x="13087350" y="3514725"/>
                  <a:ext cx="20574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7400" h="9525">
                      <a:moveTo>
                        <a:pt x="0" y="0"/>
                      </a:moveTo>
                      <a:lnTo>
                        <a:pt x="2057400" y="0"/>
                      </a:lnTo>
                    </a:path>
                  </a:pathLst>
                </a:custGeom>
                <a:noFill/>
                <a:ln w="9525">
                  <a:solidFill>
                    <a:srgbClr val="D6DBE2"/>
                  </a:solidFill>
                </a:ln>
              </p:spPr>
            </p:sp>
            <p:sp>
              <p:nvSpPr>
                <p:cNvPr id="170" name="Line 170"/>
                <p:cNvSpPr/>
                <p:nvPr/>
              </p:nvSpPr>
              <p:spPr>
                <a:xfrm>
                  <a:off x="13087350" y="3857625"/>
                  <a:ext cx="20574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7400" h="9525">
                      <a:moveTo>
                        <a:pt x="0" y="0"/>
                      </a:moveTo>
                      <a:lnTo>
                        <a:pt x="2057400" y="0"/>
                      </a:lnTo>
                    </a:path>
                  </a:pathLst>
                </a:custGeom>
                <a:noFill/>
                <a:ln w="9525">
                  <a:solidFill>
                    <a:srgbClr val="D6DBE2"/>
                  </a:solidFill>
                </a:ln>
              </p:spPr>
            </p:sp>
            <p:sp>
              <p:nvSpPr>
                <p:cNvPr id="171" name="Line 171"/>
                <p:cNvSpPr/>
                <p:nvPr/>
              </p:nvSpPr>
              <p:spPr>
                <a:xfrm>
                  <a:off x="13087350" y="4200525"/>
                  <a:ext cx="20574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7400" h="9525">
                      <a:moveTo>
                        <a:pt x="0" y="0"/>
                      </a:moveTo>
                      <a:lnTo>
                        <a:pt x="2057400" y="0"/>
                      </a:lnTo>
                    </a:path>
                  </a:pathLst>
                </a:custGeom>
                <a:noFill/>
                <a:ln w="9525">
                  <a:solidFill>
                    <a:srgbClr val="D6DBE2"/>
                  </a:solidFill>
                </a:ln>
              </p:spPr>
            </p:sp>
          </p:grpSp>
          <p:sp>
            <p:nvSpPr>
              <p:cNvPr id="173" name="Line 173"/>
              <p:cNvSpPr/>
              <p:nvPr/>
            </p:nvSpPr>
            <p:spPr>
              <a:xfrm>
                <a:off x="13087350" y="3686175"/>
                <a:ext cx="2057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57400" h="9525">
                    <a:moveTo>
                      <a:pt x="0" y="0"/>
                    </a:moveTo>
                    <a:lnTo>
                      <a:pt x="2057400" y="0"/>
                    </a:lnTo>
                  </a:path>
                </a:pathLst>
              </a:custGeom>
              <a:noFill/>
              <a:ln w="19050">
                <a:solidFill>
                  <a:srgbClr val="2D7DE1"/>
                </a:solidFill>
                <a:prstDash val="dash"/>
              </a:ln>
            </p:spPr>
          </p:sp>
          <p:sp>
            <p:nvSpPr>
              <p:cNvPr id="174" name="Rectangle 174"/>
              <p:cNvSpPr/>
              <p:nvPr/>
            </p:nvSpPr>
            <p:spPr>
              <a:xfrm>
                <a:off x="13582650" y="3524250"/>
                <a:ext cx="590550" cy="323850"/>
              </a:xfrm>
              <a:prstGeom prst="rect">
                <a:avLst/>
              </a:prstGeom>
              <a:solidFill>
                <a:srgbClr val="5CA4FF"/>
              </a:solidFill>
              <a:ln w="19050">
                <a:solidFill>
                  <a:srgbClr val="1167C7"/>
                </a:solidFill>
              </a:ln>
            </p:spPr>
          </p:sp>
          <p:sp>
            <p:nvSpPr>
              <p:cNvPr id="175" name="TextBox 175"/>
              <p:cNvSpPr txBox="1"/>
              <p:nvPr/>
            </p:nvSpPr>
            <p:spPr>
              <a:xfrm>
                <a:off x="13715862" y="3597592"/>
                <a:ext cx="32412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071B3D"/>
                    </a:solidFill>
                    <a:latin typeface="Noto Sans CJK SC"/>
                    <a:ea typeface="Microsoft YaHei"/>
                    <a:cs typeface="Noto Sans CJK SC"/>
                  </a:rPr>
                  <a:t>1x2</a:t>
                </a:r>
              </a:p>
            </p:txBody>
          </p:sp>
          <p:sp>
            <p:nvSpPr>
              <p:cNvPr id="176" name="Rectangle 176"/>
              <p:cNvSpPr/>
              <p:nvPr/>
            </p:nvSpPr>
            <p:spPr>
              <a:xfrm>
                <a:off x="14306550" y="3457575"/>
                <a:ext cx="476250" cy="476250"/>
              </a:xfrm>
              <a:prstGeom prst="rect">
                <a:avLst/>
              </a:prstGeom>
              <a:solidFill>
                <a:srgbClr val="5CA4FF"/>
              </a:solidFill>
              <a:ln w="19050">
                <a:solidFill>
                  <a:srgbClr val="1167C7"/>
                </a:solidFill>
              </a:ln>
            </p:spPr>
          </p:sp>
          <p:sp>
            <p:nvSpPr>
              <p:cNvPr id="177" name="TextBox 177"/>
              <p:cNvSpPr txBox="1"/>
              <p:nvPr/>
            </p:nvSpPr>
            <p:spPr>
              <a:xfrm>
                <a:off x="14356734" y="3607118"/>
                <a:ext cx="37588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071B3D"/>
                    </a:solidFill>
                    <a:latin typeface="Noto Sans CJK SC"/>
                    <a:ea typeface="Microsoft YaHei"/>
                    <a:cs typeface="Noto Sans CJK SC"/>
                  </a:rPr>
                  <a:t>2x2</a:t>
                </a:r>
              </a:p>
            </p:txBody>
          </p:sp>
        </p:grpSp>
        <p:grpSp>
          <p:nvGrpSpPr>
            <p:cNvPr id="188" name="Group 188"/>
            <p:cNvGrpSpPr/>
            <p:nvPr/>
          </p:nvGrpSpPr>
          <p:grpSpPr>
            <a:xfrm>
              <a:off x="10325100" y="5407342"/>
              <a:ext cx="4020384" cy="960120"/>
              <a:chOff x="10325100" y="5407342"/>
              <a:chExt cx="4020384" cy="960120"/>
            </a:xfrm>
          </p:grpSpPr>
          <p:sp>
            <p:nvSpPr>
              <p:cNvPr id="179" name="Line 179"/>
              <p:cNvSpPr/>
              <p:nvPr/>
            </p:nvSpPr>
            <p:spPr>
              <a:xfrm>
                <a:off x="10325100" y="5495925"/>
                <a:ext cx="523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23875" h="9525">
                    <a:moveTo>
                      <a:pt x="0" y="0"/>
                    </a:moveTo>
                    <a:lnTo>
                      <a:pt x="523875" y="0"/>
                    </a:lnTo>
                  </a:path>
                </a:pathLst>
              </a:custGeom>
              <a:noFill/>
              <a:ln w="28575">
                <a:solidFill>
                  <a:srgbClr val="6A3FB0"/>
                </a:solidFill>
              </a:ln>
            </p:spPr>
          </p:sp>
          <p:sp>
            <p:nvSpPr>
              <p:cNvPr id="180" name="TextBox 180"/>
              <p:cNvSpPr txBox="1"/>
              <p:nvPr/>
            </p:nvSpPr>
            <p:spPr>
              <a:xfrm>
                <a:off x="10955655" y="5407342"/>
                <a:ext cx="603611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5B2AA0"/>
                    </a:solidFill>
                    <a:latin typeface="Noto Sans CJK SC"/>
                    <a:ea typeface="Microsoft YaHei"/>
                    <a:cs typeface="Noto Sans CJK SC"/>
                  </a:rPr>
                  <a:t>&lt;Z_0&gt;</a:t>
                </a:r>
              </a:p>
            </p:txBody>
          </p:sp>
          <p:sp>
            <p:nvSpPr>
              <p:cNvPr id="181" name="TextBox 181"/>
              <p:cNvSpPr txBox="1"/>
              <p:nvPr/>
            </p:nvSpPr>
            <p:spPr>
              <a:xfrm>
                <a:off x="11661458" y="5415439"/>
                <a:ext cx="1736241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222222"/>
                    </a:solidFill>
                    <a:latin typeface="Noto Sans CJK SC"/>
                    <a:ea typeface="Microsoft YaHei"/>
                    <a:cs typeface="Noto Sans CJK SC"/>
                  </a:rPr>
                  <a:t>：当前位置于第 0 层</a:t>
                </a:r>
              </a:p>
            </p:txBody>
          </p:sp>
          <p:sp>
            <p:nvSpPr>
              <p:cNvPr id="182" name="Line 182"/>
              <p:cNvSpPr/>
              <p:nvPr/>
            </p:nvSpPr>
            <p:spPr>
              <a:xfrm>
                <a:off x="10325100" y="5838825"/>
                <a:ext cx="523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23875" h="9525">
                    <a:moveTo>
                      <a:pt x="0" y="0"/>
                    </a:moveTo>
                    <a:lnTo>
                      <a:pt x="523875" y="0"/>
                    </a:lnTo>
                  </a:path>
                </a:pathLst>
              </a:custGeom>
              <a:noFill/>
              <a:ln w="28575">
                <a:solidFill>
                  <a:srgbClr val="D99A00"/>
                </a:solidFill>
              </a:ln>
            </p:spPr>
          </p:sp>
          <p:sp>
            <p:nvSpPr>
              <p:cNvPr id="183" name="TextBox 183"/>
              <p:cNvSpPr txBox="1"/>
              <p:nvPr/>
            </p:nvSpPr>
            <p:spPr>
              <a:xfrm>
                <a:off x="10955655" y="5750242"/>
                <a:ext cx="603611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B57D00"/>
                    </a:solidFill>
                    <a:latin typeface="Noto Sans CJK SC"/>
                    <a:ea typeface="Microsoft YaHei"/>
                    <a:cs typeface="Noto Sans CJK SC"/>
                  </a:rPr>
                  <a:t>&lt;Y_4&gt;</a:t>
                </a:r>
              </a:p>
            </p:txBody>
          </p:sp>
          <p:sp>
            <p:nvSpPr>
              <p:cNvPr id="184" name="TextBox 184"/>
              <p:cNvSpPr txBox="1"/>
              <p:nvPr/>
            </p:nvSpPr>
            <p:spPr>
              <a:xfrm>
                <a:off x="11661458" y="5758339"/>
                <a:ext cx="1736241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222222"/>
                    </a:solidFill>
                    <a:latin typeface="Noto Sans CJK SC"/>
                    <a:ea typeface="Microsoft YaHei"/>
                    <a:cs typeface="Noto Sans CJK SC"/>
                  </a:rPr>
                  <a:t>：当前位置于第 4 行</a:t>
                </a:r>
              </a:p>
            </p:txBody>
          </p:sp>
          <p:sp>
            <p:nvSpPr>
              <p:cNvPr id="185" name="Line 185"/>
              <p:cNvSpPr/>
              <p:nvPr/>
            </p:nvSpPr>
            <p:spPr>
              <a:xfrm>
                <a:off x="10325100" y="6181725"/>
                <a:ext cx="523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23875" h="9525">
                    <a:moveTo>
                      <a:pt x="0" y="0"/>
                    </a:moveTo>
                    <a:lnTo>
                      <a:pt x="523875" y="0"/>
                    </a:lnTo>
                  </a:path>
                </a:pathLst>
              </a:custGeom>
              <a:noFill/>
              <a:ln w="28575">
                <a:solidFill>
                  <a:srgbClr val="2C8A2C"/>
                </a:solidFill>
              </a:ln>
            </p:spPr>
          </p:sp>
          <p:sp>
            <p:nvSpPr>
              <p:cNvPr id="186" name="TextBox 186"/>
              <p:cNvSpPr txBox="1"/>
              <p:nvPr/>
            </p:nvSpPr>
            <p:spPr>
              <a:xfrm>
                <a:off x="10955655" y="6093142"/>
                <a:ext cx="141101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2C8A2C"/>
                    </a:solidFill>
                    <a:latin typeface="Noto Sans CJK SC"/>
                    <a:ea typeface="Microsoft YaHei"/>
                    <a:cs typeface="Noto Sans CJK SC"/>
                  </a:rPr>
                  <a:t>&lt;X_7&gt; &lt;B_1x2&gt;</a:t>
                </a:r>
              </a:p>
            </p:txBody>
          </p:sp>
          <p:sp>
            <p:nvSpPr>
              <p:cNvPr id="187" name="TextBox 187"/>
              <p:cNvSpPr txBox="1"/>
              <p:nvPr/>
            </p:nvSpPr>
            <p:spPr>
              <a:xfrm>
                <a:off x="12404408" y="6101239"/>
                <a:ext cx="1941076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222222"/>
                    </a:solidFill>
                    <a:latin typeface="Noto Sans CJK SC"/>
                    <a:ea typeface="Microsoft YaHei"/>
                    <a:cs typeface="Noto Sans CJK SC"/>
                  </a:rPr>
                  <a:t>：在 X=7 放置 1x2 砖块</a:t>
                </a:r>
              </a:p>
            </p:txBody>
          </p:sp>
        </p:grpSp>
      </p:grpSp>
      <p:grpSp>
        <p:nvGrpSpPr>
          <p:cNvPr id="246" name="Group 246"/>
          <p:cNvGrpSpPr/>
          <p:nvPr/>
        </p:nvGrpSpPr>
        <p:grpSpPr>
          <a:xfrm>
            <a:off x="323850" y="6572250"/>
            <a:ext cx="15450502" cy="1857375"/>
            <a:chOff x="323850" y="6572250"/>
            <a:chExt cx="15450502" cy="1857375"/>
          </a:xfrm>
        </p:grpSpPr>
        <p:sp>
          <p:nvSpPr>
            <p:cNvPr id="190" name="Freeform 190"/>
            <p:cNvSpPr/>
            <p:nvPr/>
          </p:nvSpPr>
          <p:spPr>
            <a:xfrm>
              <a:off x="323850" y="6572250"/>
              <a:ext cx="571500" cy="542925"/>
            </a:xfrm>
            <a:custGeom>
              <a:avLst/>
              <a:gdLst/>
              <a:ahLst/>
              <a:cxnLst/>
              <a:rect l="l" t="t" r="r" b="b"/>
              <a:pathLst>
                <a:path w="571500" h="542925">
                  <a:moveTo>
                    <a:pt x="285750" y="0"/>
                  </a:moveTo>
                  <a:lnTo>
                    <a:pt x="371475" y="190500"/>
                  </a:lnTo>
                  <a:lnTo>
                    <a:pt x="571500" y="209550"/>
                  </a:lnTo>
                  <a:lnTo>
                    <a:pt x="419100" y="342900"/>
                  </a:lnTo>
                  <a:lnTo>
                    <a:pt x="466725" y="542925"/>
                  </a:lnTo>
                  <a:lnTo>
                    <a:pt x="285750" y="438150"/>
                  </a:lnTo>
                  <a:lnTo>
                    <a:pt x="104775" y="542925"/>
                  </a:lnTo>
                  <a:lnTo>
                    <a:pt x="152400" y="342900"/>
                  </a:lnTo>
                  <a:lnTo>
                    <a:pt x="0" y="209550"/>
                  </a:lnTo>
                  <a:lnTo>
                    <a:pt x="200025" y="190500"/>
                  </a:lnTo>
                  <a:close/>
                </a:path>
              </a:pathLst>
            </a:custGeom>
            <a:solidFill>
              <a:srgbClr val="075FC9"/>
            </a:solidFill>
            <a:ln>
              <a:noFill/>
            </a:ln>
          </p:spPr>
        </p:sp>
        <p:sp>
          <p:nvSpPr>
            <p:cNvPr id="191" name="TextBox 191"/>
            <p:cNvSpPr txBox="1"/>
            <p:nvPr/>
          </p:nvSpPr>
          <p:spPr>
            <a:xfrm>
              <a:off x="923925" y="6634162"/>
              <a:ext cx="143732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03366"/>
                  </a:solidFill>
                  <a:latin typeface="Noto Sans CJK SC"/>
                  <a:ea typeface="Microsoft YaHei"/>
                  <a:cs typeface="Noto Sans CJK SC"/>
                </a:rPr>
                <a:t>设计优势</a:t>
              </a:r>
            </a:p>
          </p:txBody>
        </p:sp>
        <p:sp>
          <p:nvSpPr>
            <p:cNvPr id="192" name="Line 192"/>
            <p:cNvSpPr/>
            <p:nvPr/>
          </p:nvSpPr>
          <p:spPr>
            <a:xfrm>
              <a:off x="2238375" y="6781800"/>
              <a:ext cx="7810500" cy="9525"/>
            </a:xfrm>
            <a:custGeom>
              <a:avLst/>
              <a:gdLst/>
              <a:ahLst/>
              <a:cxnLst/>
              <a:rect l="l" t="t" r="r" b="b"/>
              <a:pathLst>
                <a:path w="7810500" h="9525">
                  <a:moveTo>
                    <a:pt x="0" y="0"/>
                  </a:moveTo>
                  <a:lnTo>
                    <a:pt x="7810500" y="0"/>
                  </a:lnTo>
                </a:path>
              </a:pathLst>
            </a:custGeom>
            <a:noFill/>
            <a:ln w="19050">
              <a:solidFill>
                <a:srgbClr val="075FC9"/>
              </a:solidFill>
            </a:ln>
          </p:spPr>
        </p:sp>
        <p:grpSp>
          <p:nvGrpSpPr>
            <p:cNvPr id="202" name="Group 202"/>
            <p:cNvGrpSpPr/>
            <p:nvPr/>
          </p:nvGrpSpPr>
          <p:grpSpPr>
            <a:xfrm>
              <a:off x="342900" y="7048500"/>
              <a:ext cx="2617327" cy="1314450"/>
              <a:chOff x="342900" y="7048500"/>
              <a:chExt cx="2617327" cy="1314450"/>
            </a:xfrm>
          </p:grpSpPr>
          <p:sp>
            <p:nvSpPr>
              <p:cNvPr id="193" name="Freeform 193"/>
              <p:cNvSpPr/>
              <p:nvPr/>
            </p:nvSpPr>
            <p:spPr>
              <a:xfrm>
                <a:off x="342900" y="7048500"/>
                <a:ext cx="2533650" cy="1314450"/>
              </a:xfrm>
              <a:custGeom>
                <a:avLst/>
                <a:gdLst/>
                <a:ahLst/>
                <a:cxnLst/>
                <a:rect l="l" t="t" r="r" b="b"/>
                <a:pathLst>
                  <a:path w="2533650" h="1314450">
                    <a:moveTo>
                      <a:pt x="76200" y="0"/>
                    </a:moveTo>
                    <a:lnTo>
                      <a:pt x="2457450" y="0"/>
                    </a:lnTo>
                    <a:cubicBezTo>
                      <a:pt x="2499534" y="0"/>
                      <a:pt x="2533650" y="34116"/>
                      <a:pt x="2533650" y="76200"/>
                    </a:cubicBezTo>
                    <a:lnTo>
                      <a:pt x="2533650" y="1238250"/>
                    </a:lnTo>
                    <a:cubicBezTo>
                      <a:pt x="2533650" y="1280334"/>
                      <a:pt x="2499534" y="1314450"/>
                      <a:pt x="2457450" y="1314450"/>
                    </a:cubicBezTo>
                    <a:lnTo>
                      <a:pt x="76200" y="1314450"/>
                    </a:lnTo>
                    <a:cubicBezTo>
                      <a:pt x="34116" y="1314450"/>
                      <a:pt x="0" y="1280334"/>
                      <a:pt x="0" y="123825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EF6FF"/>
                  </a:gs>
                  <a:gs pos="100000">
                    <a:srgbClr val="FFFFFF"/>
                  </a:gs>
                </a:gsLst>
                <a:lin ang="2700000" scaled="1"/>
              </a:gradFill>
              <a:ln w="14288">
                <a:solidFill>
                  <a:srgbClr val="73A8E8"/>
                </a:solidFill>
              </a:ln>
            </p:spPr>
          </p:sp>
          <p:grpSp>
            <p:nvGrpSpPr>
              <p:cNvPr id="198" name="Group 198"/>
              <p:cNvGrpSpPr/>
              <p:nvPr/>
            </p:nvGrpSpPr>
            <p:grpSpPr>
              <a:xfrm>
                <a:off x="457200" y="7600950"/>
                <a:ext cx="723900" cy="228600"/>
                <a:chOff x="457200" y="7600950"/>
                <a:chExt cx="723900" cy="228600"/>
              </a:xfrm>
            </p:grpSpPr>
            <p:sp>
              <p:nvSpPr>
                <p:cNvPr id="194" name="Ellipse 194"/>
                <p:cNvSpPr/>
                <p:nvPr/>
              </p:nvSpPr>
              <p:spPr>
                <a:xfrm>
                  <a:off x="457200" y="7600950"/>
                  <a:ext cx="723900" cy="228600"/>
                </a:xfrm>
                <a:prstGeom prst="ellipse">
                  <a:avLst/>
                </a:prstGeom>
                <a:noFill/>
                <a:ln w="38100">
                  <a:solidFill>
                    <a:srgbClr val="075FC9"/>
                  </a:solidFill>
                </a:ln>
              </p:spPr>
            </p:sp>
            <p:sp>
              <p:nvSpPr>
                <p:cNvPr id="195" name="Ellipse 195"/>
                <p:cNvSpPr/>
                <p:nvPr/>
              </p:nvSpPr>
              <p:spPr>
                <a:xfrm rot="3600000">
                  <a:off x="457200" y="7600950"/>
                  <a:ext cx="723900" cy="228600"/>
                </a:xfrm>
                <a:prstGeom prst="ellipse">
                  <a:avLst/>
                </a:prstGeom>
                <a:noFill/>
                <a:ln w="38100">
                  <a:solidFill>
                    <a:srgbClr val="075FC9"/>
                  </a:solidFill>
                </a:ln>
              </p:spPr>
            </p:sp>
            <p:sp>
              <p:nvSpPr>
                <p:cNvPr id="196" name="Ellipse 196"/>
                <p:cNvSpPr/>
                <p:nvPr/>
              </p:nvSpPr>
              <p:spPr>
                <a:xfrm rot="7200000">
                  <a:off x="457200" y="7600950"/>
                  <a:ext cx="723900" cy="228600"/>
                </a:xfrm>
                <a:prstGeom prst="ellipse">
                  <a:avLst/>
                </a:prstGeom>
                <a:noFill/>
                <a:ln w="38100">
                  <a:solidFill>
                    <a:srgbClr val="075FC9"/>
                  </a:solidFill>
                </a:ln>
              </p:spPr>
            </p:sp>
            <p:sp>
              <p:nvSpPr>
                <p:cNvPr id="197" name="Ellipse 197"/>
                <p:cNvSpPr/>
                <p:nvPr/>
              </p:nvSpPr>
              <p:spPr>
                <a:xfrm>
                  <a:off x="771525" y="7667625"/>
                  <a:ext cx="95250" cy="95250"/>
                </a:xfrm>
                <a:prstGeom prst="ellipse">
                  <a:avLst/>
                </a:prstGeom>
                <a:solidFill>
                  <a:srgbClr val="075FC9"/>
                </a:solidFill>
                <a:ln>
                  <a:noFill/>
                </a:ln>
              </p:spPr>
            </p:sp>
          </p:grpSp>
          <p:sp>
            <p:nvSpPr>
              <p:cNvPr id="199" name="TextBox 199"/>
              <p:cNvSpPr txBox="1"/>
              <p:nvPr/>
            </p:nvSpPr>
            <p:spPr>
              <a:xfrm>
                <a:off x="1238250" y="7324725"/>
                <a:ext cx="1579293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003366"/>
                    </a:solidFill>
                    <a:latin typeface="Noto Sans CJK SC"/>
                    <a:ea typeface="Microsoft YaHei"/>
                    <a:cs typeface="Noto Sans CJK SC"/>
                  </a:rPr>
                  <a:t>1. 原子化表示:</a:t>
                </a:r>
              </a:p>
            </p:txBody>
          </p:sp>
          <p:sp>
            <p:nvSpPr>
              <p:cNvPr id="200" name="TextBox 200"/>
              <p:cNvSpPr txBox="1"/>
              <p:nvPr/>
            </p:nvSpPr>
            <p:spPr>
              <a:xfrm>
                <a:off x="1240155" y="7645718"/>
                <a:ext cx="172007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A2C42"/>
                    </a:solidFill>
                    <a:latin typeface="Noto Sans CJK SC"/>
                    <a:ea typeface="Microsoft YaHei"/>
                    <a:cs typeface="Noto Sans CJK SC"/>
                  </a:rPr>
                  <a:t>减少无关字符学习,</a:t>
                </a:r>
              </a:p>
            </p:txBody>
          </p:sp>
          <p:sp>
            <p:nvSpPr>
              <p:cNvPr id="201" name="TextBox 201"/>
              <p:cNvSpPr txBox="1"/>
              <p:nvPr/>
            </p:nvSpPr>
            <p:spPr>
              <a:xfrm>
                <a:off x="1240155" y="7902892"/>
                <a:ext cx="141446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A2C42"/>
                    </a:solidFill>
                    <a:latin typeface="Noto Sans CJK SC"/>
                    <a:ea typeface="Microsoft YaHei"/>
                    <a:cs typeface="Noto Sans CJK SC"/>
                  </a:rPr>
                  <a:t>提升解析稳定性</a:t>
                </a:r>
              </a:p>
            </p:txBody>
          </p:sp>
        </p:grpSp>
        <p:grpSp>
          <p:nvGrpSpPr>
            <p:cNvPr id="211" name="Group 211"/>
            <p:cNvGrpSpPr/>
            <p:nvPr/>
          </p:nvGrpSpPr>
          <p:grpSpPr>
            <a:xfrm>
              <a:off x="3076575" y="7048500"/>
              <a:ext cx="2762179" cy="1314450"/>
              <a:chOff x="3076575" y="7048500"/>
              <a:chExt cx="2762179" cy="1314450"/>
            </a:xfrm>
          </p:grpSpPr>
          <p:sp>
            <p:nvSpPr>
              <p:cNvPr id="203" name="Freeform 203"/>
              <p:cNvSpPr/>
              <p:nvPr/>
            </p:nvSpPr>
            <p:spPr>
              <a:xfrm>
                <a:off x="3076575" y="7048500"/>
                <a:ext cx="2590800" cy="1314450"/>
              </a:xfrm>
              <a:custGeom>
                <a:avLst/>
                <a:gdLst/>
                <a:ahLst/>
                <a:cxnLst/>
                <a:rect l="l" t="t" r="r" b="b"/>
                <a:pathLst>
                  <a:path w="2590800" h="1314450">
                    <a:moveTo>
                      <a:pt x="76200" y="0"/>
                    </a:moveTo>
                    <a:lnTo>
                      <a:pt x="2514600" y="0"/>
                    </a:lnTo>
                    <a:cubicBezTo>
                      <a:pt x="2556684" y="0"/>
                      <a:pt x="2590800" y="34116"/>
                      <a:pt x="2590800" y="76200"/>
                    </a:cubicBezTo>
                    <a:lnTo>
                      <a:pt x="2590800" y="1238250"/>
                    </a:lnTo>
                    <a:cubicBezTo>
                      <a:pt x="2590800" y="1280334"/>
                      <a:pt x="2556684" y="1314450"/>
                      <a:pt x="2514600" y="1314450"/>
                    </a:cubicBezTo>
                    <a:lnTo>
                      <a:pt x="76200" y="1314450"/>
                    </a:lnTo>
                    <a:cubicBezTo>
                      <a:pt x="34116" y="1314450"/>
                      <a:pt x="0" y="1280334"/>
                      <a:pt x="0" y="123825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AFFFB"/>
                  </a:gs>
                  <a:gs pos="100000">
                    <a:srgbClr val="FFFFFF"/>
                  </a:gs>
                </a:gsLst>
                <a:lin ang="2700000" scaled="1"/>
              </a:gradFill>
              <a:ln w="14288">
                <a:solidFill>
                  <a:srgbClr val="64B9BF"/>
                </a:solidFill>
              </a:ln>
            </p:spPr>
          </p:sp>
          <p:grpSp>
            <p:nvGrpSpPr>
              <p:cNvPr id="207" name="Group 207"/>
              <p:cNvGrpSpPr/>
              <p:nvPr/>
            </p:nvGrpSpPr>
            <p:grpSpPr>
              <a:xfrm>
                <a:off x="3543300" y="7400925"/>
                <a:ext cx="857250" cy="933450"/>
                <a:chOff x="3543300" y="7400925"/>
                <a:chExt cx="857250" cy="933450"/>
              </a:xfrm>
            </p:grpSpPr>
            <p:sp>
              <p:nvSpPr>
                <p:cNvPr id="204" name="Polygon 204"/>
                <p:cNvSpPr/>
                <p:nvPr/>
              </p:nvSpPr>
              <p:spPr>
                <a:xfrm>
                  <a:off x="3543300" y="7400925"/>
                  <a:ext cx="857250" cy="361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0" h="361950">
                      <a:moveTo>
                        <a:pt x="0" y="171450"/>
                      </a:moveTo>
                      <a:lnTo>
                        <a:pt x="428625" y="0"/>
                      </a:lnTo>
                      <a:lnTo>
                        <a:pt x="857250" y="171450"/>
                      </a:lnTo>
                      <a:lnTo>
                        <a:pt x="428625" y="361950"/>
                      </a:lnTo>
                      <a:close/>
                    </a:path>
                  </a:pathLst>
                </a:custGeom>
                <a:solidFill>
                  <a:srgbClr val="0B9B9F"/>
                </a:solidFill>
                <a:ln>
                  <a:noFill/>
                </a:ln>
              </p:spPr>
            </p:sp>
            <p:sp>
              <p:nvSpPr>
                <p:cNvPr id="205" name="Polygon 205"/>
                <p:cNvSpPr/>
                <p:nvPr/>
              </p:nvSpPr>
              <p:spPr>
                <a:xfrm>
                  <a:off x="3543300" y="7686675"/>
                  <a:ext cx="857250" cy="361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0" h="361950">
                      <a:moveTo>
                        <a:pt x="0" y="171450"/>
                      </a:moveTo>
                      <a:lnTo>
                        <a:pt x="428625" y="0"/>
                      </a:lnTo>
                      <a:lnTo>
                        <a:pt x="857250" y="171450"/>
                      </a:lnTo>
                      <a:lnTo>
                        <a:pt x="428625" y="361950"/>
                      </a:lnTo>
                      <a:close/>
                    </a:path>
                  </a:pathLst>
                </a:custGeom>
                <a:solidFill>
                  <a:srgbClr val="0B9B9F">
                    <a:alpha val="95000"/>
                  </a:srgbClr>
                </a:solidFill>
                <a:ln>
                  <a:noFill/>
                </a:ln>
              </p:spPr>
            </p:sp>
            <p:sp>
              <p:nvSpPr>
                <p:cNvPr id="206" name="Polygon 206"/>
                <p:cNvSpPr/>
                <p:nvPr/>
              </p:nvSpPr>
              <p:spPr>
                <a:xfrm>
                  <a:off x="3543300" y="7972425"/>
                  <a:ext cx="857250" cy="361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0" h="361950">
                      <a:moveTo>
                        <a:pt x="0" y="171450"/>
                      </a:moveTo>
                      <a:lnTo>
                        <a:pt x="428625" y="0"/>
                      </a:lnTo>
                      <a:lnTo>
                        <a:pt x="857250" y="171450"/>
                      </a:lnTo>
                      <a:lnTo>
                        <a:pt x="428625" y="361950"/>
                      </a:lnTo>
                      <a:close/>
                    </a:path>
                  </a:pathLst>
                </a:custGeom>
                <a:solidFill>
                  <a:srgbClr val="0B9B9F">
                    <a:alpha val="90000"/>
                  </a:srgbClr>
                </a:solidFill>
                <a:ln>
                  <a:noFill/>
                </a:ln>
              </p:spPr>
            </p:sp>
          </p:grpSp>
          <p:sp>
            <p:nvSpPr>
              <p:cNvPr id="208" name="TextBox 208"/>
              <p:cNvSpPr txBox="1"/>
              <p:nvPr/>
            </p:nvSpPr>
            <p:spPr>
              <a:xfrm>
                <a:off x="3971925" y="7324725"/>
                <a:ext cx="1866829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087F83"/>
                    </a:solidFill>
                    <a:latin typeface="Noto Sans CJK SC"/>
                    <a:ea typeface="Microsoft YaHei"/>
                    <a:cs typeface="Noto Sans CJK SC"/>
                  </a:rPr>
                  <a:t>2. 显式层级结构:</a:t>
                </a:r>
              </a:p>
            </p:txBody>
          </p:sp>
          <p:sp>
            <p:nvSpPr>
              <p:cNvPr id="209" name="TextBox 209"/>
              <p:cNvSpPr txBox="1"/>
              <p:nvPr/>
            </p:nvSpPr>
            <p:spPr>
              <a:xfrm>
                <a:off x="3973830" y="7645718"/>
                <a:ext cx="161163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A2C42"/>
                    </a:solidFill>
                    <a:latin typeface="Noto Sans CJK SC"/>
                    <a:ea typeface="Microsoft YaHei"/>
                    <a:cs typeface="Noto Sans CJK SC"/>
                  </a:rPr>
                  <a:t>让模型更容易感知</a:t>
                </a:r>
              </a:p>
            </p:txBody>
          </p:sp>
          <p:sp>
            <p:nvSpPr>
              <p:cNvPr id="210" name="TextBox 210"/>
              <p:cNvSpPr txBox="1"/>
              <p:nvPr/>
            </p:nvSpPr>
            <p:spPr>
              <a:xfrm>
                <a:off x="3973830" y="7902892"/>
                <a:ext cx="141446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A2C42"/>
                    </a:solidFill>
                    <a:latin typeface="Noto Sans CJK SC"/>
                    <a:ea typeface="Microsoft YaHei"/>
                    <a:cs typeface="Noto Sans CJK SC"/>
                  </a:rPr>
                  <a:t>层、行、列关系</a:t>
                </a:r>
              </a:p>
            </p:txBody>
          </p:sp>
        </p:grpSp>
        <p:grpSp>
          <p:nvGrpSpPr>
            <p:cNvPr id="221" name="Group 221"/>
            <p:cNvGrpSpPr/>
            <p:nvPr/>
          </p:nvGrpSpPr>
          <p:grpSpPr>
            <a:xfrm>
              <a:off x="5886450" y="7048500"/>
              <a:ext cx="2695504" cy="1314450"/>
              <a:chOff x="5886450" y="7048500"/>
              <a:chExt cx="2695504" cy="1314450"/>
            </a:xfrm>
          </p:grpSpPr>
          <p:sp>
            <p:nvSpPr>
              <p:cNvPr id="212" name="Freeform 212"/>
              <p:cNvSpPr/>
              <p:nvPr/>
            </p:nvSpPr>
            <p:spPr>
              <a:xfrm>
                <a:off x="5886450" y="7048500"/>
                <a:ext cx="2552700" cy="1314450"/>
              </a:xfrm>
              <a:custGeom>
                <a:avLst/>
                <a:gdLst/>
                <a:ahLst/>
                <a:cxnLst/>
                <a:rect l="l" t="t" r="r" b="b"/>
                <a:pathLst>
                  <a:path w="2552700" h="1314450">
                    <a:moveTo>
                      <a:pt x="76200" y="0"/>
                    </a:moveTo>
                    <a:lnTo>
                      <a:pt x="2476500" y="0"/>
                    </a:lnTo>
                    <a:cubicBezTo>
                      <a:pt x="2518584" y="0"/>
                      <a:pt x="2552700" y="34116"/>
                      <a:pt x="2552700" y="76200"/>
                    </a:cubicBezTo>
                    <a:lnTo>
                      <a:pt x="2552700" y="1238250"/>
                    </a:lnTo>
                    <a:cubicBezTo>
                      <a:pt x="2552700" y="1280334"/>
                      <a:pt x="2518584" y="1314450"/>
                      <a:pt x="2476500" y="1314450"/>
                    </a:cubicBezTo>
                    <a:lnTo>
                      <a:pt x="76200" y="1314450"/>
                    </a:lnTo>
                    <a:cubicBezTo>
                      <a:pt x="34116" y="1314450"/>
                      <a:pt x="0" y="1280334"/>
                      <a:pt x="0" y="123825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8E9"/>
                  </a:gs>
                  <a:gs pos="100000">
                    <a:srgbClr val="FFFFFF"/>
                  </a:gs>
                </a:gsLst>
                <a:lin ang="2700000" scaled="1"/>
              </a:gradFill>
              <a:ln w="14288">
                <a:solidFill>
                  <a:srgbClr val="E4AD2B"/>
                </a:solidFill>
              </a:ln>
            </p:spPr>
          </p:sp>
          <p:grpSp>
            <p:nvGrpSpPr>
              <p:cNvPr id="217" name="Group 217"/>
              <p:cNvGrpSpPr/>
              <p:nvPr/>
            </p:nvGrpSpPr>
            <p:grpSpPr>
              <a:xfrm>
                <a:off x="6229350" y="7334250"/>
                <a:ext cx="419100" cy="790575"/>
                <a:chOff x="6229350" y="7334250"/>
                <a:chExt cx="419100" cy="790575"/>
              </a:xfrm>
            </p:grpSpPr>
            <p:sp>
              <p:nvSpPr>
                <p:cNvPr id="213" name="Freeform 213"/>
                <p:cNvSpPr/>
                <p:nvPr/>
              </p:nvSpPr>
              <p:spPr>
                <a:xfrm>
                  <a:off x="6248400" y="7411752"/>
                  <a:ext cx="400050" cy="2558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050" h="255873">
                      <a:moveTo>
                        <a:pt x="0" y="255873"/>
                      </a:moveTo>
                      <a:cubicBezTo>
                        <a:pt x="13009" y="167200"/>
                        <a:pt x="66866" y="89767"/>
                        <a:pt x="145474" y="46720"/>
                      </a:cubicBezTo>
                      <a:cubicBezTo>
                        <a:pt x="224081" y="3673"/>
                        <a:pt x="318331" y="0"/>
                        <a:pt x="400050" y="36798"/>
                      </a:cubicBezTo>
                    </a:path>
                  </a:pathLst>
                </a:custGeom>
                <a:noFill/>
                <a:ln w="76200" cap="rnd">
                  <a:solidFill>
                    <a:srgbClr val="D99A00"/>
                  </a:solidFill>
                </a:ln>
              </p:spPr>
            </p:sp>
            <p:sp>
              <p:nvSpPr>
                <p:cNvPr id="214" name="Freeform 214"/>
                <p:cNvSpPr/>
                <p:nvPr/>
              </p:nvSpPr>
              <p:spPr>
                <a:xfrm>
                  <a:off x="6553200" y="7334250"/>
                  <a:ext cx="9525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114300">
                      <a:moveTo>
                        <a:pt x="95250" y="114300"/>
                      </a:moveTo>
                      <a:lnTo>
                        <a:pt x="0" y="114300"/>
                      </a:lnTo>
                      <a:lnTo>
                        <a:pt x="76200" y="0"/>
                      </a:lnTo>
                    </a:path>
                  </a:pathLst>
                </a:custGeom>
                <a:noFill/>
                <a:ln w="76200" cap="rnd">
                  <a:solidFill>
                    <a:srgbClr val="D99A00"/>
                  </a:solidFill>
                </a:ln>
              </p:spPr>
            </p:sp>
            <p:sp>
              <p:nvSpPr>
                <p:cNvPr id="215" name="Freeform 215"/>
                <p:cNvSpPr/>
                <p:nvPr/>
              </p:nvSpPr>
              <p:spPr>
                <a:xfrm>
                  <a:off x="6229350" y="7791450"/>
                  <a:ext cx="400050" cy="2558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050" h="255873">
                      <a:moveTo>
                        <a:pt x="400050" y="0"/>
                      </a:moveTo>
                      <a:cubicBezTo>
                        <a:pt x="387041" y="88673"/>
                        <a:pt x="333184" y="166106"/>
                        <a:pt x="254576" y="209153"/>
                      </a:cubicBezTo>
                      <a:cubicBezTo>
                        <a:pt x="175969" y="252200"/>
                        <a:pt x="81719" y="255873"/>
                        <a:pt x="0" y="219075"/>
                      </a:cubicBezTo>
                    </a:path>
                  </a:pathLst>
                </a:custGeom>
                <a:noFill/>
                <a:ln w="76200" cap="rnd">
                  <a:solidFill>
                    <a:srgbClr val="D99A00"/>
                  </a:solidFill>
                </a:ln>
              </p:spPr>
            </p:sp>
            <p:sp>
              <p:nvSpPr>
                <p:cNvPr id="216" name="Freeform 216"/>
                <p:cNvSpPr/>
                <p:nvPr/>
              </p:nvSpPr>
              <p:spPr>
                <a:xfrm>
                  <a:off x="6229350" y="8010525"/>
                  <a:ext cx="9525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114300">
                      <a:moveTo>
                        <a:pt x="0" y="0"/>
                      </a:moveTo>
                      <a:lnTo>
                        <a:pt x="95250" y="0"/>
                      </a:lnTo>
                      <a:lnTo>
                        <a:pt x="19050" y="114300"/>
                      </a:lnTo>
                    </a:path>
                  </a:pathLst>
                </a:custGeom>
                <a:noFill/>
                <a:ln w="76200" cap="rnd">
                  <a:solidFill>
                    <a:srgbClr val="D99A00"/>
                  </a:solidFill>
                </a:ln>
              </p:spPr>
            </p:sp>
          </p:grpSp>
          <p:sp>
            <p:nvSpPr>
              <p:cNvPr id="218" name="TextBox 218"/>
              <p:cNvSpPr txBox="1"/>
              <p:nvPr/>
            </p:nvSpPr>
            <p:spPr>
              <a:xfrm>
                <a:off x="6715125" y="7324725"/>
                <a:ext cx="1866829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7C5200"/>
                    </a:solidFill>
                    <a:latin typeface="Noto Sans CJK SC"/>
                    <a:ea typeface="Microsoft YaHei"/>
                    <a:cs typeface="Noto Sans CJK SC"/>
                  </a:rPr>
                  <a:t>3. 保留方向信息:</a:t>
                </a:r>
              </a:p>
            </p:txBody>
          </p:sp>
          <p:sp>
            <p:nvSpPr>
              <p:cNvPr id="219" name="TextBox 219"/>
              <p:cNvSpPr txBox="1"/>
              <p:nvPr/>
            </p:nvSpPr>
            <p:spPr>
              <a:xfrm>
                <a:off x="6717030" y="7645718"/>
                <a:ext cx="146375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A2C42"/>
                    </a:solidFill>
                    <a:latin typeface="Noto Sans CJK SC"/>
                    <a:ea typeface="Microsoft YaHei"/>
                    <a:cs typeface="Noto Sans CJK SC"/>
                  </a:rPr>
                  <a:t>1x2 与 2x1 区分,</a:t>
                </a:r>
              </a:p>
            </p:txBody>
          </p:sp>
          <p:sp>
            <p:nvSpPr>
              <p:cNvPr id="220" name="TextBox 220"/>
              <p:cNvSpPr txBox="1"/>
              <p:nvPr/>
            </p:nvSpPr>
            <p:spPr>
              <a:xfrm>
                <a:off x="6717030" y="7902892"/>
                <a:ext cx="141446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A2C42"/>
                    </a:solidFill>
                    <a:latin typeface="Noto Sans CJK SC"/>
                    <a:ea typeface="Microsoft YaHei"/>
                    <a:cs typeface="Noto Sans CJK SC"/>
                  </a:rPr>
                  <a:t>旋转信息不丢失</a:t>
                </a:r>
              </a:p>
            </p:txBody>
          </p:sp>
        </p:grpSp>
        <p:grpSp>
          <p:nvGrpSpPr>
            <p:cNvPr id="230" name="Group 230"/>
            <p:cNvGrpSpPr/>
            <p:nvPr/>
          </p:nvGrpSpPr>
          <p:grpSpPr>
            <a:xfrm>
              <a:off x="8648700" y="7048500"/>
              <a:ext cx="2752654" cy="1338262"/>
              <a:chOff x="8648700" y="7048500"/>
              <a:chExt cx="2752654" cy="1338262"/>
            </a:xfrm>
          </p:grpSpPr>
          <p:sp>
            <p:nvSpPr>
              <p:cNvPr id="222" name="Freeform 222"/>
              <p:cNvSpPr/>
              <p:nvPr/>
            </p:nvSpPr>
            <p:spPr>
              <a:xfrm>
                <a:off x="8648700" y="7048500"/>
                <a:ext cx="2571750" cy="1314450"/>
              </a:xfrm>
              <a:custGeom>
                <a:avLst/>
                <a:gdLst/>
                <a:ahLst/>
                <a:cxnLst/>
                <a:rect l="l" t="t" r="r" b="b"/>
                <a:pathLst>
                  <a:path w="2571750" h="1314450">
                    <a:moveTo>
                      <a:pt x="76200" y="0"/>
                    </a:moveTo>
                    <a:lnTo>
                      <a:pt x="2495550" y="0"/>
                    </a:lnTo>
                    <a:cubicBezTo>
                      <a:pt x="2537634" y="0"/>
                      <a:pt x="2571750" y="34116"/>
                      <a:pt x="2571750" y="76200"/>
                    </a:cubicBezTo>
                    <a:lnTo>
                      <a:pt x="2571750" y="1238250"/>
                    </a:lnTo>
                    <a:cubicBezTo>
                      <a:pt x="2571750" y="1280334"/>
                      <a:pt x="2537634" y="1314450"/>
                      <a:pt x="2495550" y="1314450"/>
                    </a:cubicBezTo>
                    <a:lnTo>
                      <a:pt x="76200" y="1314450"/>
                    </a:lnTo>
                    <a:cubicBezTo>
                      <a:pt x="34116" y="1314450"/>
                      <a:pt x="0" y="1280334"/>
                      <a:pt x="0" y="123825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8F3FF"/>
                  </a:gs>
                  <a:gs pos="100000">
                    <a:srgbClr val="FFFFFF"/>
                  </a:gs>
                </a:gsLst>
                <a:lin ang="2700000" scaled="1"/>
              </a:gradFill>
              <a:ln w="14288">
                <a:solidFill>
                  <a:srgbClr val="9C83CF"/>
                </a:solidFill>
              </a:ln>
            </p:spPr>
          </p:sp>
          <p:grpSp>
            <p:nvGrpSpPr>
              <p:cNvPr id="225" name="Group 225"/>
              <p:cNvGrpSpPr/>
              <p:nvPr/>
            </p:nvGrpSpPr>
            <p:grpSpPr>
              <a:xfrm>
                <a:off x="8858250" y="7305675"/>
                <a:ext cx="533400" cy="857250"/>
                <a:chOff x="8858250" y="7305675"/>
                <a:chExt cx="533400" cy="857250"/>
              </a:xfrm>
            </p:grpSpPr>
            <p:sp>
              <p:nvSpPr>
                <p:cNvPr id="223" name="Freeform 223"/>
                <p:cNvSpPr/>
                <p:nvPr/>
              </p:nvSpPr>
              <p:spPr>
                <a:xfrm>
                  <a:off x="8858250" y="7305675"/>
                  <a:ext cx="533400" cy="857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3400" h="857250">
                      <a:moveTo>
                        <a:pt x="266700" y="0"/>
                      </a:moveTo>
                      <a:lnTo>
                        <a:pt x="533400" y="114300"/>
                      </a:lnTo>
                      <a:lnTo>
                        <a:pt x="533400" y="428625"/>
                      </a:lnTo>
                      <a:cubicBezTo>
                        <a:pt x="533400" y="647700"/>
                        <a:pt x="371475" y="800100"/>
                        <a:pt x="266700" y="857250"/>
                      </a:cubicBezTo>
                      <a:cubicBezTo>
                        <a:pt x="161925" y="800100"/>
                        <a:pt x="0" y="647700"/>
                        <a:pt x="0" y="428625"/>
                      </a:cubicBezTo>
                      <a:lnTo>
                        <a:pt x="0" y="114300"/>
                      </a:lnTo>
                      <a:close/>
                    </a:path>
                  </a:pathLst>
                </a:custGeom>
                <a:solidFill>
                  <a:srgbClr val="6236A4"/>
                </a:solidFill>
                <a:ln>
                  <a:noFill/>
                </a:ln>
              </p:spPr>
            </p:sp>
            <p:sp>
              <p:nvSpPr>
                <p:cNvPr id="224" name="Freeform 224"/>
                <p:cNvSpPr/>
                <p:nvPr/>
              </p:nvSpPr>
              <p:spPr>
                <a:xfrm>
                  <a:off x="9020175" y="7591425"/>
                  <a:ext cx="247650" cy="23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650" h="238125">
                      <a:moveTo>
                        <a:pt x="0" y="133350"/>
                      </a:moveTo>
                      <a:lnTo>
                        <a:pt x="85725" y="238125"/>
                      </a:lnTo>
                      <a:lnTo>
                        <a:pt x="247650" y="0"/>
                      </a:lnTo>
                    </a:path>
                  </a:pathLst>
                </a:custGeom>
                <a:noFill/>
                <a:ln w="47625" cap="rnd">
                  <a:solidFill>
                    <a:srgbClr val="FFFFFF"/>
                  </a:solidFill>
                  <a:round/>
                </a:ln>
              </p:spPr>
            </p:sp>
          </p:grpSp>
          <p:sp>
            <p:nvSpPr>
              <p:cNvPr id="226" name="TextBox 226"/>
              <p:cNvSpPr txBox="1"/>
              <p:nvPr/>
            </p:nvSpPr>
            <p:spPr>
              <a:xfrm>
                <a:off x="9534525" y="7286625"/>
                <a:ext cx="1866829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3F2678"/>
                    </a:solidFill>
                    <a:latin typeface="Noto Sans CJK SC"/>
                    <a:ea typeface="Microsoft YaHei"/>
                    <a:cs typeface="Noto Sans CJK SC"/>
                  </a:rPr>
                  <a:t>4. 便于约束生成:</a:t>
                </a:r>
              </a:p>
            </p:txBody>
          </p:sp>
          <p:sp>
            <p:nvSpPr>
              <p:cNvPr id="227" name="TextBox 227"/>
              <p:cNvSpPr txBox="1"/>
              <p:nvPr/>
            </p:nvSpPr>
            <p:spPr>
              <a:xfrm>
                <a:off x="9536430" y="7598092"/>
                <a:ext cx="180879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A2C42"/>
                    </a:solidFill>
                    <a:latin typeface="Noto Sans CJK SC"/>
                    <a:ea typeface="Microsoft YaHei"/>
                    <a:cs typeface="Noto Sans CJK SC"/>
                  </a:rPr>
                  <a:t>更适合合法性检查、</a:t>
                </a:r>
              </a:p>
            </p:txBody>
          </p:sp>
          <p:sp>
            <p:nvSpPr>
              <p:cNvPr id="228" name="TextBox 228"/>
              <p:cNvSpPr txBox="1"/>
              <p:nvPr/>
            </p:nvSpPr>
            <p:spPr>
              <a:xfrm>
                <a:off x="9536430" y="7855268"/>
                <a:ext cx="141446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A2C42"/>
                    </a:solidFill>
                    <a:latin typeface="Noto Sans CJK SC"/>
                    <a:ea typeface="Microsoft YaHei"/>
                    <a:cs typeface="Noto Sans CJK SC"/>
                  </a:rPr>
                  <a:t>碰撞检测与后续</a:t>
                </a:r>
              </a:p>
            </p:txBody>
          </p:sp>
          <p:sp>
            <p:nvSpPr>
              <p:cNvPr id="229" name="TextBox 229"/>
              <p:cNvSpPr txBox="1"/>
              <p:nvPr/>
            </p:nvSpPr>
            <p:spPr>
              <a:xfrm>
                <a:off x="9536430" y="8112442"/>
                <a:ext cx="82296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A2C42"/>
                    </a:solidFill>
                    <a:latin typeface="Noto Sans CJK SC"/>
                    <a:ea typeface="Microsoft YaHei"/>
                    <a:cs typeface="Noto Sans CJK SC"/>
                  </a:rPr>
                  <a:t>物理约束</a:t>
                </a:r>
              </a:p>
            </p:txBody>
          </p:sp>
        </p:grpSp>
        <p:sp>
          <p:nvSpPr>
            <p:cNvPr id="231" name="Line 231"/>
            <p:cNvSpPr/>
            <p:nvPr/>
          </p:nvSpPr>
          <p:spPr>
            <a:xfrm>
              <a:off x="11430000" y="6953250"/>
              <a:ext cx="9525" cy="1476375"/>
            </a:xfrm>
            <a:custGeom>
              <a:avLst/>
              <a:gdLst/>
              <a:ahLst/>
              <a:cxnLst/>
              <a:rect l="l" t="t" r="r" b="b"/>
              <a:pathLst>
                <a:path w="9525" h="1476375">
                  <a:moveTo>
                    <a:pt x="0" y="0"/>
                  </a:moveTo>
                  <a:lnTo>
                    <a:pt x="0" y="1476375"/>
                  </a:lnTo>
                </a:path>
              </a:pathLst>
            </a:custGeom>
            <a:noFill/>
            <a:ln w="19050">
              <a:solidFill>
                <a:srgbClr val="94A3B8"/>
              </a:solidFill>
              <a:prstDash val="dash"/>
            </a:ln>
          </p:spPr>
        </p:sp>
        <p:grpSp>
          <p:nvGrpSpPr>
            <p:cNvPr id="245" name="Group 245"/>
            <p:cNvGrpSpPr/>
            <p:nvPr/>
          </p:nvGrpSpPr>
          <p:grpSpPr>
            <a:xfrm>
              <a:off x="11639550" y="7086600"/>
              <a:ext cx="4134802" cy="1238250"/>
              <a:chOff x="11639550" y="7086600"/>
              <a:chExt cx="4134802" cy="1238250"/>
            </a:xfrm>
          </p:grpSpPr>
          <p:sp>
            <p:nvSpPr>
              <p:cNvPr id="232" name="Freeform 232"/>
              <p:cNvSpPr/>
              <p:nvPr/>
            </p:nvSpPr>
            <p:spPr>
              <a:xfrm>
                <a:off x="11639550" y="7086600"/>
                <a:ext cx="3714750" cy="1238250"/>
              </a:xfrm>
              <a:custGeom>
                <a:avLst/>
                <a:gdLst/>
                <a:ahLst/>
                <a:cxnLst/>
                <a:rect l="l" t="t" r="r" b="b"/>
                <a:pathLst>
                  <a:path w="3714750" h="1238250">
                    <a:moveTo>
                      <a:pt x="76200" y="0"/>
                    </a:moveTo>
                    <a:lnTo>
                      <a:pt x="3638550" y="0"/>
                    </a:lnTo>
                    <a:cubicBezTo>
                      <a:pt x="3680634" y="0"/>
                      <a:pt x="3714750" y="34116"/>
                      <a:pt x="3714750" y="76200"/>
                    </a:cubicBezTo>
                    <a:lnTo>
                      <a:pt x="3714750" y="1162050"/>
                    </a:lnTo>
                    <a:cubicBezTo>
                      <a:pt x="3714750" y="1204134"/>
                      <a:pt x="3680634" y="1238250"/>
                      <a:pt x="3638550" y="1238250"/>
                    </a:cubicBezTo>
                    <a:lnTo>
                      <a:pt x="76200" y="1238250"/>
                    </a:lnTo>
                    <a:cubicBezTo>
                      <a:pt x="34116" y="1238250"/>
                      <a:pt x="0" y="1204134"/>
                      <a:pt x="0" y="116205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rgbClr val="F2FCFF"/>
              </a:solidFill>
              <a:ln w="17145">
                <a:solidFill>
                  <a:srgbClr val="1DA6D8"/>
                </a:solidFill>
              </a:ln>
            </p:spPr>
          </p:sp>
          <p:grpSp>
            <p:nvGrpSpPr>
              <p:cNvPr id="241" name="Group 241"/>
              <p:cNvGrpSpPr/>
              <p:nvPr/>
            </p:nvGrpSpPr>
            <p:grpSpPr>
              <a:xfrm>
                <a:off x="11802039" y="7165834"/>
                <a:ext cx="589422" cy="892316"/>
                <a:chOff x="11802039" y="7165834"/>
                <a:chExt cx="589422" cy="892316"/>
              </a:xfrm>
            </p:grpSpPr>
            <p:sp>
              <p:nvSpPr>
                <p:cNvPr id="233" name="Freeform 233"/>
                <p:cNvSpPr/>
                <p:nvPr/>
              </p:nvSpPr>
              <p:spPr>
                <a:xfrm>
                  <a:off x="11802039" y="7165834"/>
                  <a:ext cx="589422" cy="8065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422" h="806591">
                      <a:moveTo>
                        <a:pt x="56586" y="406541"/>
                      </a:moveTo>
                      <a:cubicBezTo>
                        <a:pt x="0" y="294352"/>
                        <a:pt x="29397" y="157884"/>
                        <a:pt x="127154" y="78942"/>
                      </a:cubicBezTo>
                      <a:cubicBezTo>
                        <a:pt x="224912" y="0"/>
                        <a:pt x="364510" y="0"/>
                        <a:pt x="462268" y="78942"/>
                      </a:cubicBezTo>
                      <a:cubicBezTo>
                        <a:pt x="560025" y="157884"/>
                        <a:pt x="589422" y="294352"/>
                        <a:pt x="532836" y="406541"/>
                      </a:cubicBezTo>
                      <a:cubicBezTo>
                        <a:pt x="466161" y="558941"/>
                        <a:pt x="380436" y="644666"/>
                        <a:pt x="380436" y="806591"/>
                      </a:cubicBezTo>
                      <a:lnTo>
                        <a:pt x="208986" y="806591"/>
                      </a:lnTo>
                      <a:cubicBezTo>
                        <a:pt x="208986" y="644666"/>
                        <a:pt x="123261" y="558941"/>
                        <a:pt x="56586" y="406541"/>
                      </a:cubicBezTo>
                      <a:close/>
                    </a:path>
                  </a:pathLst>
                </a:custGeom>
                <a:noFill/>
                <a:ln w="38100" cap="rnd">
                  <a:solidFill>
                    <a:srgbClr val="109ACA"/>
                  </a:solidFill>
                </a:ln>
              </p:spPr>
            </p:sp>
            <p:sp>
              <p:nvSpPr>
                <p:cNvPr id="234" name="Line 234"/>
                <p:cNvSpPr/>
                <p:nvPr/>
              </p:nvSpPr>
              <p:spPr>
                <a:xfrm>
                  <a:off x="12020550" y="8048625"/>
                  <a:ext cx="1524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9525">
                      <a:moveTo>
                        <a:pt x="0" y="0"/>
                      </a:moveTo>
                      <a:lnTo>
                        <a:pt x="152400" y="0"/>
                      </a:lnTo>
                    </a:path>
                  </a:pathLst>
                </a:custGeom>
                <a:noFill/>
                <a:ln w="38100" cap="rnd">
                  <a:solidFill>
                    <a:srgbClr val="109ACA"/>
                  </a:solidFill>
                </a:ln>
              </p:spPr>
            </p:sp>
            <p:sp>
              <p:nvSpPr>
                <p:cNvPr id="235" name="Line 235"/>
                <p:cNvSpPr/>
                <p:nvPr/>
              </p:nvSpPr>
              <p:spPr>
                <a:xfrm>
                  <a:off x="11972925" y="7981950"/>
                  <a:ext cx="2476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650" h="9525">
                      <a:moveTo>
                        <a:pt x="0" y="0"/>
                      </a:moveTo>
                      <a:lnTo>
                        <a:pt x="247650" y="0"/>
                      </a:lnTo>
                    </a:path>
                  </a:pathLst>
                </a:custGeom>
                <a:noFill/>
                <a:ln w="38100" cap="rnd">
                  <a:solidFill>
                    <a:srgbClr val="109ACA"/>
                  </a:solidFill>
                </a:ln>
              </p:spPr>
            </p:sp>
            <p:sp>
              <p:nvSpPr>
                <p:cNvPr id="236" name="Freeform 236"/>
                <p:cNvSpPr/>
                <p:nvPr/>
              </p:nvSpPr>
              <p:spPr>
                <a:xfrm>
                  <a:off x="12020550" y="7658100"/>
                  <a:ext cx="57150" cy="295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295275">
                      <a:moveTo>
                        <a:pt x="0" y="0"/>
                      </a:moveTo>
                      <a:cubicBezTo>
                        <a:pt x="57150" y="66675"/>
                        <a:pt x="57150" y="161925"/>
                        <a:pt x="57150" y="295275"/>
                      </a:cubicBezTo>
                    </a:path>
                  </a:pathLst>
                </a:custGeom>
                <a:noFill/>
                <a:ln w="38100" cap="rnd">
                  <a:solidFill>
                    <a:srgbClr val="109ACA"/>
                  </a:solidFill>
                </a:ln>
              </p:spPr>
            </p:sp>
            <p:sp>
              <p:nvSpPr>
                <p:cNvPr id="237" name="Freeform 237"/>
                <p:cNvSpPr/>
                <p:nvPr/>
              </p:nvSpPr>
              <p:spPr>
                <a:xfrm>
                  <a:off x="12115800" y="7658100"/>
                  <a:ext cx="57150" cy="295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295275">
                      <a:moveTo>
                        <a:pt x="57150" y="0"/>
                      </a:moveTo>
                      <a:cubicBezTo>
                        <a:pt x="0" y="66675"/>
                        <a:pt x="0" y="161925"/>
                        <a:pt x="0" y="295275"/>
                      </a:cubicBezTo>
                    </a:path>
                  </a:pathLst>
                </a:custGeom>
                <a:noFill/>
                <a:ln w="38100" cap="rnd">
                  <a:solidFill>
                    <a:srgbClr val="109ACA"/>
                  </a:solidFill>
                </a:ln>
              </p:spPr>
            </p:sp>
            <p:sp>
              <p:nvSpPr>
                <p:cNvPr id="238" name="Ellipse 238"/>
                <p:cNvSpPr/>
                <p:nvPr/>
              </p:nvSpPr>
              <p:spPr>
                <a:xfrm>
                  <a:off x="11982450" y="7581900"/>
                  <a:ext cx="57150" cy="57150"/>
                </a:xfrm>
                <a:prstGeom prst="ellipse">
                  <a:avLst/>
                </a:prstGeom>
                <a:solidFill>
                  <a:srgbClr val="109ACA"/>
                </a:solidFill>
                <a:ln>
                  <a:noFill/>
                </a:ln>
              </p:spPr>
            </p:sp>
            <p:sp>
              <p:nvSpPr>
                <p:cNvPr id="239" name="Ellipse 239"/>
                <p:cNvSpPr/>
                <p:nvPr/>
              </p:nvSpPr>
              <p:spPr>
                <a:xfrm>
                  <a:off x="12153900" y="7581900"/>
                  <a:ext cx="57150" cy="57150"/>
                </a:xfrm>
                <a:prstGeom prst="ellipse">
                  <a:avLst/>
                </a:prstGeom>
                <a:solidFill>
                  <a:srgbClr val="109ACA"/>
                </a:solidFill>
                <a:ln>
                  <a:noFill/>
                </a:ln>
              </p:spPr>
            </p:sp>
            <p:sp>
              <p:nvSpPr>
                <p:cNvPr id="240" name="Ellipse 240"/>
                <p:cNvSpPr/>
                <p:nvPr/>
              </p:nvSpPr>
              <p:spPr>
                <a:xfrm>
                  <a:off x="12068175" y="7505700"/>
                  <a:ext cx="57150" cy="57150"/>
                </a:xfrm>
                <a:prstGeom prst="ellipse">
                  <a:avLst/>
                </a:prstGeom>
                <a:solidFill>
                  <a:srgbClr val="109ACA"/>
                </a:solidFill>
                <a:ln>
                  <a:noFill/>
                </a:ln>
              </p:spPr>
            </p:sp>
          </p:grpSp>
          <p:sp>
            <p:nvSpPr>
              <p:cNvPr id="242" name="TextBox 242"/>
              <p:cNvSpPr txBox="1"/>
              <p:nvPr/>
            </p:nvSpPr>
            <p:spPr>
              <a:xfrm>
                <a:off x="12515850" y="7277100"/>
                <a:ext cx="325850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005A9C"/>
                    </a:solidFill>
                    <a:latin typeface="Noto Sans CJK SC"/>
                    <a:ea typeface="Microsoft YaHei"/>
                    <a:cs typeface="Noto Sans CJK SC"/>
                  </a:rPr>
                  <a:t>可进一步结合 HMN 坐标初始化,</a:t>
                </a:r>
              </a:p>
            </p:txBody>
          </p:sp>
          <p:sp>
            <p:nvSpPr>
              <p:cNvPr id="243" name="TextBox 243"/>
              <p:cNvSpPr txBox="1"/>
              <p:nvPr/>
            </p:nvSpPr>
            <p:spPr>
              <a:xfrm>
                <a:off x="12515850" y="7620000"/>
                <a:ext cx="285595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005A9C"/>
                    </a:solidFill>
                    <a:latin typeface="Noto Sans CJK SC"/>
                    <a:ea typeface="Microsoft YaHei"/>
                    <a:cs typeface="Noto Sans CJK SC"/>
                  </a:rPr>
                  <a:t>使 &lt;X_7&gt; 与 &lt;X_8&gt; 更接近,</a:t>
                </a:r>
              </a:p>
            </p:txBody>
          </p:sp>
          <p:sp>
            <p:nvSpPr>
              <p:cNvPr id="244" name="TextBox 244"/>
              <p:cNvSpPr txBox="1"/>
              <p:nvPr/>
            </p:nvSpPr>
            <p:spPr>
              <a:xfrm>
                <a:off x="12515850" y="7962900"/>
                <a:ext cx="179782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005A9C"/>
                    </a:solidFill>
                    <a:latin typeface="Noto Sans CJK SC"/>
                    <a:ea typeface="Microsoft YaHei"/>
                    <a:cs typeface="Noto Sans CJK SC"/>
                  </a:rPr>
                  <a:t>与 &lt;X_15&gt; 更远。</a:t>
                </a: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5544800" cy="87439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790529" y="188595"/>
            <a:ext cx="7963743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900" b="1" dirty="0">
                <a:solidFill>
                  <a:srgbClr val="082866"/>
                </a:solidFill>
                <a:latin typeface="Noto Sans CJK SC"/>
                <a:ea typeface="Microsoft YaHei"/>
                <a:cs typeface="Noto Sans CJK SC"/>
              </a:rPr>
              <a:t>HMN 坐标初始化：作用与过程</a:t>
            </a:r>
          </a:p>
        </p:txBody>
      </p:sp>
      <p:grpSp>
        <p:nvGrpSpPr>
          <p:cNvPr id="130" name="Group 130"/>
          <p:cNvGrpSpPr/>
          <p:nvPr/>
        </p:nvGrpSpPr>
        <p:grpSpPr>
          <a:xfrm>
            <a:off x="209550" y="876300"/>
            <a:ext cx="5342573" cy="6629400"/>
            <a:chOff x="209550" y="876300"/>
            <a:chExt cx="5342573" cy="6629400"/>
          </a:xfrm>
        </p:grpSpPr>
        <p:sp>
          <p:nvSpPr>
            <p:cNvPr id="4" name="Freeform 4"/>
            <p:cNvSpPr/>
            <p:nvPr/>
          </p:nvSpPr>
          <p:spPr>
            <a:xfrm>
              <a:off x="209550" y="876300"/>
              <a:ext cx="3886200" cy="6629400"/>
            </a:xfrm>
            <a:custGeom>
              <a:avLst/>
              <a:gdLst/>
              <a:ahLst/>
              <a:cxnLst/>
              <a:rect l="l" t="t" r="r" b="b"/>
              <a:pathLst>
                <a:path w="3886200" h="6629400">
                  <a:moveTo>
                    <a:pt x="114300" y="0"/>
                  </a:moveTo>
                  <a:lnTo>
                    <a:pt x="3771900" y="0"/>
                  </a:lnTo>
                  <a:cubicBezTo>
                    <a:pt x="3835026" y="0"/>
                    <a:pt x="3886200" y="51174"/>
                    <a:pt x="3886200" y="114300"/>
                  </a:cubicBezTo>
                  <a:lnTo>
                    <a:pt x="3886200" y="6515100"/>
                  </a:lnTo>
                  <a:cubicBezTo>
                    <a:pt x="3886200" y="6578226"/>
                    <a:pt x="3835026" y="6629400"/>
                    <a:pt x="3771900" y="6629400"/>
                  </a:cubicBezTo>
                  <a:lnTo>
                    <a:pt x="114300" y="6629400"/>
                  </a:lnTo>
                  <a:cubicBezTo>
                    <a:pt x="51174" y="6629400"/>
                    <a:pt x="0" y="6578226"/>
                    <a:pt x="0" y="65151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F7FBFF"/>
                </a:gs>
              </a:gsLst>
              <a:lin ang="5400000" scaled="1"/>
            </a:gradFill>
            <a:ln w="19050">
              <a:solidFill>
                <a:srgbClr val="1766C2"/>
              </a:solidFill>
            </a:ln>
            <a:effectLst>
              <a:glow rad="76200">
                <a:srgbClr val="000000">
                  <a:alpha val="30000"/>
                </a:srgbClr>
              </a:glow>
            </a:effectLst>
          </p:spPr>
        </p:sp>
        <p:sp>
          <p:nvSpPr>
            <p:cNvPr id="5" name="Freeform 5"/>
            <p:cNvSpPr/>
            <p:nvPr/>
          </p:nvSpPr>
          <p:spPr>
            <a:xfrm>
              <a:off x="209550" y="876300"/>
              <a:ext cx="3886200" cy="495300"/>
            </a:xfrm>
            <a:custGeom>
              <a:avLst/>
              <a:gdLst/>
              <a:ahLst/>
              <a:cxnLst/>
              <a:rect l="l" t="t" r="r" b="b"/>
              <a:pathLst>
                <a:path w="3886200" h="495300">
                  <a:moveTo>
                    <a:pt x="114300" y="0"/>
                  </a:moveTo>
                  <a:lnTo>
                    <a:pt x="3771900" y="0"/>
                  </a:lnTo>
                  <a:cubicBezTo>
                    <a:pt x="3835026" y="0"/>
                    <a:pt x="3886200" y="51174"/>
                    <a:pt x="3886200" y="114300"/>
                  </a:cubicBezTo>
                  <a:lnTo>
                    <a:pt x="3886200" y="381000"/>
                  </a:lnTo>
                  <a:cubicBezTo>
                    <a:pt x="3886200" y="444126"/>
                    <a:pt x="3835026" y="495300"/>
                    <a:pt x="3771900" y="495300"/>
                  </a:cubicBezTo>
                  <a:lnTo>
                    <a:pt x="114300" y="495300"/>
                  </a:lnTo>
                  <a:cubicBezTo>
                    <a:pt x="51174" y="495300"/>
                    <a:pt x="0" y="444126"/>
                    <a:pt x="0" y="3810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gradFill>
              <a:gsLst>
                <a:gs pos="0">
                  <a:srgbClr val="0A4FB8"/>
                </a:gs>
                <a:gs pos="100000">
                  <a:srgbClr val="0B65D8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771525" y="942975"/>
              <a:ext cx="361950" cy="3619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72169" y="966788"/>
              <a:ext cx="160663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0B55BB"/>
                  </a:solidFill>
                  <a:latin typeface="Segoe UI"/>
                  <a:ea typeface="Microsoft YaHei"/>
                  <a:cs typeface="Segoe UI"/>
                </a:rPr>
                <a:t>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443038" y="988219"/>
              <a:ext cx="321052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000000"/>
                  </a:solidFill>
                  <a:latin typeface="Noto Sans CJK SC"/>
                  <a:ea typeface="Microsoft YaHei"/>
                  <a:cs typeface="Noto Sans CJK SC"/>
                </a:rPr>
                <a:t>问题：随机初始化的不足</a:t>
              </a:r>
            </a:p>
          </p:txBody>
        </p:sp>
        <p:grpSp>
          <p:nvGrpSpPr>
            <p:cNvPr id="68" name="Group 68"/>
            <p:cNvGrpSpPr/>
            <p:nvPr/>
          </p:nvGrpSpPr>
          <p:grpSpPr>
            <a:xfrm>
              <a:off x="232410" y="1638300"/>
              <a:ext cx="5319713" cy="2090738"/>
              <a:chOff x="232410" y="1638300"/>
              <a:chExt cx="5319713" cy="2090738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419100" y="1638300"/>
                <a:ext cx="838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838200" h="457200">
                    <a:moveTo>
                      <a:pt x="66675" y="0"/>
                    </a:moveTo>
                    <a:lnTo>
                      <a:pt x="771525" y="0"/>
                    </a:lnTo>
                    <a:cubicBezTo>
                      <a:pt x="808349" y="0"/>
                      <a:pt x="838200" y="29851"/>
                      <a:pt x="838200" y="66675"/>
                    </a:cubicBezTo>
                    <a:lnTo>
                      <a:pt x="838200" y="390525"/>
                    </a:lnTo>
                    <a:cubicBezTo>
                      <a:pt x="838200" y="427349"/>
                      <a:pt x="808349" y="457200"/>
                      <a:pt x="771525" y="457200"/>
                    </a:cubicBezTo>
                    <a:lnTo>
                      <a:pt x="66675" y="457200"/>
                    </a:lnTo>
                    <a:cubicBezTo>
                      <a:pt x="29851" y="457200"/>
                      <a:pt x="0" y="427349"/>
                      <a:pt x="0" y="390525"/>
                    </a:cubicBezTo>
                    <a:lnTo>
                      <a:pt x="0" y="66675"/>
                    </a:lnTo>
                    <a:cubicBezTo>
                      <a:pt x="0" y="29851"/>
                      <a:pt x="29851" y="0"/>
                      <a:pt x="66675" y="0"/>
                    </a:cubicBezTo>
                    <a:close/>
                  </a:path>
                </a:pathLst>
              </a:custGeom>
              <a:solidFill>
                <a:srgbClr val="F6FBFF"/>
              </a:solidFill>
              <a:ln w="19050">
                <a:solidFill>
                  <a:srgbClr val="3C7FD7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733550" y="1638300"/>
                <a:ext cx="838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838200" h="457200">
                    <a:moveTo>
                      <a:pt x="66675" y="0"/>
                    </a:moveTo>
                    <a:lnTo>
                      <a:pt x="771525" y="0"/>
                    </a:lnTo>
                    <a:cubicBezTo>
                      <a:pt x="808349" y="0"/>
                      <a:pt x="838200" y="29851"/>
                      <a:pt x="838200" y="66675"/>
                    </a:cubicBezTo>
                    <a:lnTo>
                      <a:pt x="838200" y="390525"/>
                    </a:lnTo>
                    <a:cubicBezTo>
                      <a:pt x="838200" y="427349"/>
                      <a:pt x="808349" y="457200"/>
                      <a:pt x="771525" y="457200"/>
                    </a:cubicBezTo>
                    <a:lnTo>
                      <a:pt x="66675" y="457200"/>
                    </a:lnTo>
                    <a:cubicBezTo>
                      <a:pt x="29851" y="457200"/>
                      <a:pt x="0" y="427349"/>
                      <a:pt x="0" y="390525"/>
                    </a:cubicBezTo>
                    <a:lnTo>
                      <a:pt x="0" y="66675"/>
                    </a:lnTo>
                    <a:cubicBezTo>
                      <a:pt x="0" y="29851"/>
                      <a:pt x="29851" y="0"/>
                      <a:pt x="66675" y="0"/>
                    </a:cubicBezTo>
                    <a:close/>
                  </a:path>
                </a:pathLst>
              </a:custGeom>
              <a:solidFill>
                <a:srgbClr val="F6FBFF"/>
              </a:solidFill>
              <a:ln w="19050">
                <a:solidFill>
                  <a:srgbClr val="3C7FD7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3048000" y="1638300"/>
                <a:ext cx="838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838200" h="457200">
                    <a:moveTo>
                      <a:pt x="66675" y="0"/>
                    </a:moveTo>
                    <a:lnTo>
                      <a:pt x="771525" y="0"/>
                    </a:lnTo>
                    <a:cubicBezTo>
                      <a:pt x="808349" y="0"/>
                      <a:pt x="838200" y="29851"/>
                      <a:pt x="838200" y="66675"/>
                    </a:cubicBezTo>
                    <a:lnTo>
                      <a:pt x="838200" y="390525"/>
                    </a:lnTo>
                    <a:cubicBezTo>
                      <a:pt x="838200" y="427349"/>
                      <a:pt x="808349" y="457200"/>
                      <a:pt x="771525" y="457200"/>
                    </a:cubicBezTo>
                    <a:lnTo>
                      <a:pt x="66675" y="457200"/>
                    </a:lnTo>
                    <a:cubicBezTo>
                      <a:pt x="29851" y="457200"/>
                      <a:pt x="0" y="427349"/>
                      <a:pt x="0" y="390525"/>
                    </a:cubicBezTo>
                    <a:lnTo>
                      <a:pt x="0" y="66675"/>
                    </a:lnTo>
                    <a:cubicBezTo>
                      <a:pt x="0" y="29851"/>
                      <a:pt x="29851" y="0"/>
                      <a:pt x="66675" y="0"/>
                    </a:cubicBezTo>
                    <a:close/>
                  </a:path>
                </a:pathLst>
              </a:custGeom>
              <a:solidFill>
                <a:srgbClr val="F6FBFF"/>
              </a:solidFill>
              <a:ln w="19050">
                <a:solidFill>
                  <a:srgbClr val="3C7FD7"/>
                </a:solidFill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402259" y="1723072"/>
                <a:ext cx="871883" cy="396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950" b="1" dirty="0">
                    <a:solidFill>
                      <a:srgbClr val="111827"/>
                    </a:solidFill>
                    <a:latin typeface="Consolas"/>
                    <a:ea typeface="Microsoft YaHei"/>
                    <a:cs typeface="Consolas"/>
                  </a:rPr>
                  <a:t>&lt;X_7&gt;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716709" y="1723072"/>
                <a:ext cx="871883" cy="396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950" b="1" dirty="0">
                    <a:solidFill>
                      <a:srgbClr val="111827"/>
                    </a:solidFill>
                    <a:latin typeface="Consolas"/>
                    <a:ea typeface="Microsoft YaHei"/>
                    <a:cs typeface="Consolas"/>
                  </a:rPr>
                  <a:t>&lt;X_8&gt;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986303" y="1723072"/>
                <a:ext cx="961594" cy="396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950" b="1" dirty="0">
                    <a:solidFill>
                      <a:srgbClr val="111827"/>
                    </a:solidFill>
                    <a:latin typeface="Consolas"/>
                    <a:ea typeface="Microsoft YaHei"/>
                    <a:cs typeface="Consolas"/>
                  </a:rPr>
                  <a:t>&lt;X_15&gt;</a:t>
                </a:r>
              </a:p>
            </p:txBody>
          </p:sp>
          <p:sp>
            <p:nvSpPr>
              <p:cNvPr id="15" name="Line 15"/>
              <p:cNvSpPr/>
              <p:nvPr/>
            </p:nvSpPr>
            <p:spPr>
              <a:xfrm>
                <a:off x="1257300" y="1866900"/>
                <a:ext cx="476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9525">
                    <a:moveTo>
                      <a:pt x="0" y="0"/>
                    </a:moveTo>
                    <a:lnTo>
                      <a:pt x="476250" y="0"/>
                    </a:lnTo>
                  </a:path>
                </a:pathLst>
              </a:custGeom>
              <a:noFill/>
              <a:ln w="19050">
                <a:solidFill>
                  <a:srgbClr val="7A8395"/>
                </a:solidFill>
                <a:prstDash val="dash"/>
              </a:ln>
            </p:spPr>
          </p:sp>
          <p:sp>
            <p:nvSpPr>
              <p:cNvPr id="16" name="Line 16"/>
              <p:cNvSpPr/>
              <p:nvPr/>
            </p:nvSpPr>
            <p:spPr>
              <a:xfrm>
                <a:off x="2571750" y="1866900"/>
                <a:ext cx="476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9525">
                    <a:moveTo>
                      <a:pt x="0" y="0"/>
                    </a:moveTo>
                    <a:lnTo>
                      <a:pt x="476250" y="0"/>
                    </a:lnTo>
                  </a:path>
                </a:pathLst>
              </a:custGeom>
              <a:noFill/>
              <a:ln w="19050">
                <a:solidFill>
                  <a:srgbClr val="7A8395"/>
                </a:solidFill>
                <a:prstDash val="dash"/>
              </a:ln>
            </p:spPr>
          </p:sp>
          <p:sp>
            <p:nvSpPr>
              <p:cNvPr id="17" name="Line 17"/>
              <p:cNvSpPr/>
              <p:nvPr/>
            </p:nvSpPr>
            <p:spPr>
              <a:xfrm>
                <a:off x="838200" y="2095500"/>
                <a:ext cx="9525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0">
                    <a:moveTo>
                      <a:pt x="0" y="0"/>
                    </a:moveTo>
                    <a:lnTo>
                      <a:pt x="0" y="285750"/>
                    </a:lnTo>
                  </a:path>
                </a:pathLst>
              </a:custGeom>
              <a:noFill/>
              <a:ln w="19050">
                <a:solidFill>
                  <a:srgbClr val="53606E"/>
                </a:solidFill>
              </a:ln>
            </p:spPr>
          </p:sp>
          <p:sp>
            <p:nvSpPr>
              <p:cNvPr id="18" name="Line 18"/>
              <p:cNvSpPr/>
              <p:nvPr/>
            </p:nvSpPr>
            <p:spPr>
              <a:xfrm>
                <a:off x="2152650" y="2095500"/>
                <a:ext cx="9525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0">
                    <a:moveTo>
                      <a:pt x="0" y="0"/>
                    </a:moveTo>
                    <a:lnTo>
                      <a:pt x="0" y="285750"/>
                    </a:lnTo>
                  </a:path>
                </a:pathLst>
              </a:custGeom>
              <a:noFill/>
              <a:ln w="19050">
                <a:solidFill>
                  <a:srgbClr val="53606E"/>
                </a:solidFill>
              </a:ln>
            </p:spPr>
          </p:sp>
          <p:sp>
            <p:nvSpPr>
              <p:cNvPr id="19" name="Line 19"/>
              <p:cNvSpPr/>
              <p:nvPr/>
            </p:nvSpPr>
            <p:spPr>
              <a:xfrm>
                <a:off x="3467100" y="2095500"/>
                <a:ext cx="9525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0">
                    <a:moveTo>
                      <a:pt x="0" y="0"/>
                    </a:moveTo>
                    <a:lnTo>
                      <a:pt x="0" y="285750"/>
                    </a:lnTo>
                  </a:path>
                </a:pathLst>
              </a:custGeom>
              <a:noFill/>
              <a:ln w="19050">
                <a:solidFill>
                  <a:srgbClr val="53606E"/>
                </a:solidFill>
              </a:ln>
            </p:spPr>
          </p:sp>
          <p:grpSp>
            <p:nvGrpSpPr>
              <p:cNvPr id="62" name="Group 62"/>
              <p:cNvGrpSpPr/>
              <p:nvPr/>
            </p:nvGrpSpPr>
            <p:grpSpPr>
              <a:xfrm>
                <a:off x="419100" y="2400300"/>
                <a:ext cx="3467100" cy="647700"/>
                <a:chOff x="419100" y="2400300"/>
                <a:chExt cx="3467100" cy="647700"/>
              </a:xfrm>
            </p:grpSpPr>
            <p:sp>
              <p:nvSpPr>
                <p:cNvPr id="20" name="Freeform 20"/>
                <p:cNvSpPr/>
                <p:nvPr/>
              </p:nvSpPr>
              <p:spPr>
                <a:xfrm>
                  <a:off x="419100" y="2400300"/>
                  <a:ext cx="838200" cy="647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8200" h="647700">
                      <a:moveTo>
                        <a:pt x="57150" y="0"/>
                      </a:moveTo>
                      <a:lnTo>
                        <a:pt x="781050" y="0"/>
                      </a:lnTo>
                      <a:cubicBezTo>
                        <a:pt x="812613" y="0"/>
                        <a:pt x="838200" y="25587"/>
                        <a:pt x="838200" y="57150"/>
                      </a:cubicBezTo>
                      <a:lnTo>
                        <a:pt x="838200" y="590550"/>
                      </a:lnTo>
                      <a:cubicBezTo>
                        <a:pt x="838200" y="622113"/>
                        <a:pt x="812613" y="647700"/>
                        <a:pt x="781050" y="647700"/>
                      </a:cubicBezTo>
                      <a:lnTo>
                        <a:pt x="57150" y="647700"/>
                      </a:lnTo>
                      <a:cubicBezTo>
                        <a:pt x="25587" y="647700"/>
                        <a:pt x="0" y="622113"/>
                        <a:pt x="0" y="590550"/>
                      </a:cubicBezTo>
                      <a:lnTo>
                        <a:pt x="0" y="57150"/>
                      </a:lnTo>
                      <a:cubicBezTo>
                        <a:pt x="0" y="25587"/>
                        <a:pt x="25587" y="0"/>
                        <a:pt x="5715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9050">
                  <a:solidFill>
                    <a:srgbClr val="7DA5E8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1733550" y="2400300"/>
                  <a:ext cx="838200" cy="647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8200" h="647700">
                      <a:moveTo>
                        <a:pt x="57150" y="0"/>
                      </a:moveTo>
                      <a:lnTo>
                        <a:pt x="781050" y="0"/>
                      </a:lnTo>
                      <a:cubicBezTo>
                        <a:pt x="812613" y="0"/>
                        <a:pt x="838200" y="25587"/>
                        <a:pt x="838200" y="57150"/>
                      </a:cubicBezTo>
                      <a:lnTo>
                        <a:pt x="838200" y="590550"/>
                      </a:lnTo>
                      <a:cubicBezTo>
                        <a:pt x="838200" y="622113"/>
                        <a:pt x="812613" y="647700"/>
                        <a:pt x="781050" y="647700"/>
                      </a:cubicBezTo>
                      <a:lnTo>
                        <a:pt x="57150" y="647700"/>
                      </a:lnTo>
                      <a:cubicBezTo>
                        <a:pt x="25587" y="647700"/>
                        <a:pt x="0" y="622113"/>
                        <a:pt x="0" y="590550"/>
                      </a:cubicBezTo>
                      <a:lnTo>
                        <a:pt x="0" y="57150"/>
                      </a:lnTo>
                      <a:cubicBezTo>
                        <a:pt x="0" y="25587"/>
                        <a:pt x="25587" y="0"/>
                        <a:pt x="5715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9050">
                  <a:solidFill>
                    <a:srgbClr val="7DA5E8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3048000" y="2400300"/>
                  <a:ext cx="838200" cy="647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8200" h="647700">
                      <a:moveTo>
                        <a:pt x="57150" y="0"/>
                      </a:moveTo>
                      <a:lnTo>
                        <a:pt x="781050" y="0"/>
                      </a:lnTo>
                      <a:cubicBezTo>
                        <a:pt x="812613" y="0"/>
                        <a:pt x="838200" y="25587"/>
                        <a:pt x="838200" y="57150"/>
                      </a:cubicBezTo>
                      <a:lnTo>
                        <a:pt x="838200" y="590550"/>
                      </a:lnTo>
                      <a:cubicBezTo>
                        <a:pt x="838200" y="622113"/>
                        <a:pt x="812613" y="647700"/>
                        <a:pt x="781050" y="647700"/>
                      </a:cubicBezTo>
                      <a:lnTo>
                        <a:pt x="57150" y="647700"/>
                      </a:lnTo>
                      <a:cubicBezTo>
                        <a:pt x="25587" y="647700"/>
                        <a:pt x="0" y="622113"/>
                        <a:pt x="0" y="590550"/>
                      </a:cubicBezTo>
                      <a:lnTo>
                        <a:pt x="0" y="57150"/>
                      </a:lnTo>
                      <a:cubicBezTo>
                        <a:pt x="0" y="25587"/>
                        <a:pt x="25587" y="0"/>
                        <a:pt x="5715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9050">
                  <a:solidFill>
                    <a:srgbClr val="7DA5E8"/>
                  </a:solidFill>
                </a:ln>
              </p:spPr>
            </p:sp>
            <p:grpSp>
              <p:nvGrpSpPr>
                <p:cNvPr id="35" name="Group 35"/>
                <p:cNvGrpSpPr/>
                <p:nvPr/>
              </p:nvGrpSpPr>
              <p:grpSpPr>
                <a:xfrm>
                  <a:off x="504825" y="2486025"/>
                  <a:ext cx="666750" cy="476250"/>
                  <a:chOff x="504825" y="2486025"/>
                  <a:chExt cx="666750" cy="476250"/>
                </a:xfrm>
              </p:grpSpPr>
              <p:sp>
                <p:nvSpPr>
                  <p:cNvPr id="23" name="Ellipse 23"/>
                  <p:cNvSpPr/>
                  <p:nvPr/>
                </p:nvSpPr>
                <p:spPr>
                  <a:xfrm>
                    <a:off x="504825" y="2486025"/>
                    <a:ext cx="95250" cy="95250"/>
                  </a:xfrm>
                  <a:prstGeom prst="ellipse">
                    <a:avLst/>
                  </a:prstGeom>
                  <a:solidFill>
                    <a:srgbClr val="0B4CA9"/>
                  </a:solidFill>
                  <a:ln>
                    <a:noFill/>
                  </a:ln>
                </p:spPr>
              </p:sp>
              <p:sp>
                <p:nvSpPr>
                  <p:cNvPr id="24" name="Ellipse 24"/>
                  <p:cNvSpPr/>
                  <p:nvPr/>
                </p:nvSpPr>
                <p:spPr>
                  <a:xfrm>
                    <a:off x="695325" y="2486025"/>
                    <a:ext cx="95250" cy="95250"/>
                  </a:xfrm>
                  <a:prstGeom prst="ellipse">
                    <a:avLst/>
                  </a:prstGeom>
                  <a:solidFill>
                    <a:srgbClr val="0B4CA9"/>
                  </a:solidFill>
                  <a:ln>
                    <a:noFill/>
                  </a:ln>
                </p:spPr>
              </p:sp>
              <p:sp>
                <p:nvSpPr>
                  <p:cNvPr id="25" name="Ellipse 25"/>
                  <p:cNvSpPr/>
                  <p:nvPr/>
                </p:nvSpPr>
                <p:spPr>
                  <a:xfrm>
                    <a:off x="885825" y="2486025"/>
                    <a:ext cx="95250" cy="95250"/>
                  </a:xfrm>
                  <a:prstGeom prst="ellipse">
                    <a:avLst/>
                  </a:prstGeom>
                  <a:solidFill>
                    <a:srgbClr val="0B4CA9">
                      <a:alpha val="55000"/>
                    </a:srgbClr>
                  </a:solidFill>
                  <a:ln>
                    <a:noFill/>
                  </a:ln>
                </p:spPr>
              </p:sp>
              <p:sp>
                <p:nvSpPr>
                  <p:cNvPr id="26" name="Ellipse 26"/>
                  <p:cNvSpPr/>
                  <p:nvPr/>
                </p:nvSpPr>
                <p:spPr>
                  <a:xfrm>
                    <a:off x="1076325" y="2486025"/>
                    <a:ext cx="95250" cy="95250"/>
                  </a:xfrm>
                  <a:prstGeom prst="ellipse">
                    <a:avLst/>
                  </a:prstGeom>
                  <a:solidFill>
                    <a:srgbClr val="0B4CA9">
                      <a:alpha val="40000"/>
                    </a:srgbClr>
                  </a:solidFill>
                  <a:ln>
                    <a:noFill/>
                  </a:ln>
                </p:spPr>
              </p:sp>
              <p:sp>
                <p:nvSpPr>
                  <p:cNvPr id="27" name="Ellipse 27"/>
                  <p:cNvSpPr/>
                  <p:nvPr/>
                </p:nvSpPr>
                <p:spPr>
                  <a:xfrm>
                    <a:off x="504825" y="2676525"/>
                    <a:ext cx="95250" cy="95250"/>
                  </a:xfrm>
                  <a:prstGeom prst="ellipse">
                    <a:avLst/>
                  </a:prstGeom>
                  <a:solidFill>
                    <a:srgbClr val="0B4CA9">
                      <a:alpha val="90000"/>
                    </a:srgbClr>
                  </a:solidFill>
                  <a:ln>
                    <a:noFill/>
                  </a:ln>
                </p:spPr>
              </p:sp>
              <p:sp>
                <p:nvSpPr>
                  <p:cNvPr id="28" name="Ellipse 28"/>
                  <p:cNvSpPr/>
                  <p:nvPr/>
                </p:nvSpPr>
                <p:spPr>
                  <a:xfrm>
                    <a:off x="695325" y="2676525"/>
                    <a:ext cx="95250" cy="95250"/>
                  </a:xfrm>
                  <a:prstGeom prst="ellipse">
                    <a:avLst/>
                  </a:prstGeom>
                  <a:solidFill>
                    <a:srgbClr val="0B4CA9">
                      <a:alpha val="45000"/>
                    </a:srgbClr>
                  </a:solidFill>
                  <a:ln>
                    <a:noFill/>
                  </a:ln>
                </p:spPr>
              </p:sp>
              <p:sp>
                <p:nvSpPr>
                  <p:cNvPr id="29" name="Ellipse 29"/>
                  <p:cNvSpPr/>
                  <p:nvPr/>
                </p:nvSpPr>
                <p:spPr>
                  <a:xfrm>
                    <a:off x="885825" y="2676525"/>
                    <a:ext cx="95250" cy="95250"/>
                  </a:xfrm>
                  <a:prstGeom prst="ellipse">
                    <a:avLst/>
                  </a:prstGeom>
                  <a:solidFill>
                    <a:srgbClr val="0B4CA9"/>
                  </a:solidFill>
                  <a:ln>
                    <a:noFill/>
                  </a:ln>
                </p:spPr>
              </p:sp>
              <p:sp>
                <p:nvSpPr>
                  <p:cNvPr id="30" name="Ellipse 30"/>
                  <p:cNvSpPr/>
                  <p:nvPr/>
                </p:nvSpPr>
                <p:spPr>
                  <a:xfrm>
                    <a:off x="1076325" y="2676525"/>
                    <a:ext cx="95250" cy="95250"/>
                  </a:xfrm>
                  <a:prstGeom prst="ellipse">
                    <a:avLst/>
                  </a:prstGeom>
                  <a:solidFill>
                    <a:srgbClr val="0B4CA9">
                      <a:alpha val="55000"/>
                    </a:srgbClr>
                  </a:solidFill>
                  <a:ln>
                    <a:noFill/>
                  </a:ln>
                </p:spPr>
              </p:sp>
              <p:sp>
                <p:nvSpPr>
                  <p:cNvPr id="31" name="Ellipse 31"/>
                  <p:cNvSpPr/>
                  <p:nvPr/>
                </p:nvSpPr>
                <p:spPr>
                  <a:xfrm>
                    <a:off x="504825" y="2867025"/>
                    <a:ext cx="95250" cy="95250"/>
                  </a:xfrm>
                  <a:prstGeom prst="ellipse">
                    <a:avLst/>
                  </a:prstGeom>
                  <a:solidFill>
                    <a:srgbClr val="0B4CA9"/>
                  </a:solidFill>
                  <a:ln>
                    <a:noFill/>
                  </a:ln>
                </p:spPr>
              </p:sp>
              <p:sp>
                <p:nvSpPr>
                  <p:cNvPr id="32" name="Ellipse 32"/>
                  <p:cNvSpPr/>
                  <p:nvPr/>
                </p:nvSpPr>
                <p:spPr>
                  <a:xfrm>
                    <a:off x="695325" y="2867025"/>
                    <a:ext cx="95250" cy="95250"/>
                  </a:xfrm>
                  <a:prstGeom prst="ellipse">
                    <a:avLst/>
                  </a:prstGeom>
                  <a:solidFill>
                    <a:srgbClr val="0B4CA9"/>
                  </a:solidFill>
                  <a:ln>
                    <a:noFill/>
                  </a:ln>
                </p:spPr>
              </p:sp>
              <p:sp>
                <p:nvSpPr>
                  <p:cNvPr id="33" name="Ellipse 33"/>
                  <p:cNvSpPr/>
                  <p:nvPr/>
                </p:nvSpPr>
                <p:spPr>
                  <a:xfrm>
                    <a:off x="885825" y="2867025"/>
                    <a:ext cx="95250" cy="95250"/>
                  </a:xfrm>
                  <a:prstGeom prst="ellipse">
                    <a:avLst/>
                  </a:prstGeom>
                  <a:solidFill>
                    <a:srgbClr val="0B4CA9">
                      <a:alpha val="70000"/>
                    </a:srgbClr>
                  </a:solidFill>
                  <a:ln>
                    <a:noFill/>
                  </a:ln>
                </p:spPr>
              </p:sp>
              <p:sp>
                <p:nvSpPr>
                  <p:cNvPr id="34" name="Ellipse 34"/>
                  <p:cNvSpPr/>
                  <p:nvPr/>
                </p:nvSpPr>
                <p:spPr>
                  <a:xfrm>
                    <a:off x="1076325" y="2867025"/>
                    <a:ext cx="95250" cy="95250"/>
                  </a:xfrm>
                  <a:prstGeom prst="ellipse">
                    <a:avLst/>
                  </a:prstGeom>
                  <a:solidFill>
                    <a:srgbClr val="0B4CA9"/>
                  </a:solidFill>
                  <a:ln>
                    <a:noFill/>
                  </a:ln>
                </p:spPr>
              </p:sp>
            </p:grpSp>
            <p:grpSp>
              <p:nvGrpSpPr>
                <p:cNvPr id="48" name="Group 48"/>
                <p:cNvGrpSpPr/>
                <p:nvPr/>
              </p:nvGrpSpPr>
              <p:grpSpPr>
                <a:xfrm>
                  <a:off x="1819275" y="2486025"/>
                  <a:ext cx="666750" cy="476250"/>
                  <a:chOff x="1819275" y="2486025"/>
                  <a:chExt cx="666750" cy="476250"/>
                </a:xfrm>
              </p:grpSpPr>
              <p:sp>
                <p:nvSpPr>
                  <p:cNvPr id="36" name="Ellipse 36"/>
                  <p:cNvSpPr/>
                  <p:nvPr/>
                </p:nvSpPr>
                <p:spPr>
                  <a:xfrm>
                    <a:off x="1819275" y="2486025"/>
                    <a:ext cx="95250" cy="95250"/>
                  </a:xfrm>
                  <a:prstGeom prst="ellipse">
                    <a:avLst/>
                  </a:prstGeom>
                  <a:solidFill>
                    <a:srgbClr val="0B4CA9"/>
                  </a:solidFill>
                  <a:ln>
                    <a:noFill/>
                  </a:ln>
                </p:spPr>
              </p:sp>
              <p:sp>
                <p:nvSpPr>
                  <p:cNvPr id="37" name="Ellipse 37"/>
                  <p:cNvSpPr/>
                  <p:nvPr/>
                </p:nvSpPr>
                <p:spPr>
                  <a:xfrm>
                    <a:off x="2009775" y="2486025"/>
                    <a:ext cx="95250" cy="95250"/>
                  </a:xfrm>
                  <a:prstGeom prst="ellipse">
                    <a:avLst/>
                  </a:prstGeom>
                  <a:solidFill>
                    <a:srgbClr val="0B4CA9">
                      <a:alpha val="80000"/>
                    </a:srgbClr>
                  </a:solidFill>
                  <a:ln>
                    <a:noFill/>
                  </a:ln>
                </p:spPr>
              </p:sp>
              <p:sp>
                <p:nvSpPr>
                  <p:cNvPr id="38" name="Ellipse 38"/>
                  <p:cNvSpPr/>
                  <p:nvPr/>
                </p:nvSpPr>
                <p:spPr>
                  <a:xfrm>
                    <a:off x="2200275" y="2486025"/>
                    <a:ext cx="95250" cy="95250"/>
                  </a:xfrm>
                  <a:prstGeom prst="ellipse">
                    <a:avLst/>
                  </a:prstGeom>
                  <a:solidFill>
                    <a:srgbClr val="0B4CA9">
                      <a:alpha val="45000"/>
                    </a:srgbClr>
                  </a:solidFill>
                  <a:ln>
                    <a:noFill/>
                  </a:ln>
                </p:spPr>
              </p:sp>
              <p:sp>
                <p:nvSpPr>
                  <p:cNvPr id="39" name="Ellipse 39"/>
                  <p:cNvSpPr/>
                  <p:nvPr/>
                </p:nvSpPr>
                <p:spPr>
                  <a:xfrm>
                    <a:off x="2390775" y="2486025"/>
                    <a:ext cx="95250" cy="95250"/>
                  </a:xfrm>
                  <a:prstGeom prst="ellipse">
                    <a:avLst/>
                  </a:prstGeom>
                  <a:solidFill>
                    <a:srgbClr val="0B4CA9">
                      <a:alpha val="55000"/>
                    </a:srgbClr>
                  </a:solidFill>
                  <a:ln>
                    <a:noFill/>
                  </a:ln>
                </p:spPr>
              </p:sp>
              <p:sp>
                <p:nvSpPr>
                  <p:cNvPr id="40" name="Ellipse 40"/>
                  <p:cNvSpPr/>
                  <p:nvPr/>
                </p:nvSpPr>
                <p:spPr>
                  <a:xfrm>
                    <a:off x="1819275" y="2676525"/>
                    <a:ext cx="95250" cy="95250"/>
                  </a:xfrm>
                  <a:prstGeom prst="ellipse">
                    <a:avLst/>
                  </a:prstGeom>
                  <a:solidFill>
                    <a:srgbClr val="0B4CA9"/>
                  </a:solidFill>
                  <a:ln>
                    <a:noFill/>
                  </a:ln>
                </p:spPr>
              </p:sp>
              <p:sp>
                <p:nvSpPr>
                  <p:cNvPr id="41" name="Ellipse 41"/>
                  <p:cNvSpPr/>
                  <p:nvPr/>
                </p:nvSpPr>
                <p:spPr>
                  <a:xfrm>
                    <a:off x="2009775" y="2676525"/>
                    <a:ext cx="95250" cy="95250"/>
                  </a:xfrm>
                  <a:prstGeom prst="ellipse">
                    <a:avLst/>
                  </a:prstGeom>
                  <a:solidFill>
                    <a:srgbClr val="0B4CA9"/>
                  </a:solidFill>
                  <a:ln>
                    <a:noFill/>
                  </a:ln>
                </p:spPr>
              </p:sp>
              <p:sp>
                <p:nvSpPr>
                  <p:cNvPr id="42" name="Ellipse 42"/>
                  <p:cNvSpPr/>
                  <p:nvPr/>
                </p:nvSpPr>
                <p:spPr>
                  <a:xfrm>
                    <a:off x="2200275" y="2676525"/>
                    <a:ext cx="95250" cy="95250"/>
                  </a:xfrm>
                  <a:prstGeom prst="ellipse">
                    <a:avLst/>
                  </a:prstGeom>
                  <a:solidFill>
                    <a:srgbClr val="0B4CA9">
                      <a:alpha val="50000"/>
                    </a:srgbClr>
                  </a:solidFill>
                  <a:ln>
                    <a:noFill/>
                  </a:ln>
                </p:spPr>
              </p:sp>
              <p:sp>
                <p:nvSpPr>
                  <p:cNvPr id="43" name="Ellipse 43"/>
                  <p:cNvSpPr/>
                  <p:nvPr/>
                </p:nvSpPr>
                <p:spPr>
                  <a:xfrm>
                    <a:off x="2390775" y="2676525"/>
                    <a:ext cx="95250" cy="95250"/>
                  </a:xfrm>
                  <a:prstGeom prst="ellipse">
                    <a:avLst/>
                  </a:prstGeom>
                  <a:solidFill>
                    <a:srgbClr val="0B4CA9">
                      <a:alpha val="95000"/>
                    </a:srgbClr>
                  </a:solidFill>
                  <a:ln>
                    <a:noFill/>
                  </a:ln>
                </p:spPr>
              </p:sp>
              <p:sp>
                <p:nvSpPr>
                  <p:cNvPr id="44" name="Ellipse 44"/>
                  <p:cNvSpPr/>
                  <p:nvPr/>
                </p:nvSpPr>
                <p:spPr>
                  <a:xfrm>
                    <a:off x="1819275" y="2867025"/>
                    <a:ext cx="95250" cy="95250"/>
                  </a:xfrm>
                  <a:prstGeom prst="ellipse">
                    <a:avLst/>
                  </a:prstGeom>
                  <a:solidFill>
                    <a:srgbClr val="0B4CA9">
                      <a:alpha val="65000"/>
                    </a:srgbClr>
                  </a:solidFill>
                  <a:ln>
                    <a:noFill/>
                  </a:ln>
                </p:spPr>
              </p:sp>
              <p:sp>
                <p:nvSpPr>
                  <p:cNvPr id="45" name="Ellipse 45"/>
                  <p:cNvSpPr/>
                  <p:nvPr/>
                </p:nvSpPr>
                <p:spPr>
                  <a:xfrm>
                    <a:off x="2009775" y="2867025"/>
                    <a:ext cx="95250" cy="95250"/>
                  </a:xfrm>
                  <a:prstGeom prst="ellipse">
                    <a:avLst/>
                  </a:prstGeom>
                  <a:solidFill>
                    <a:srgbClr val="0B4CA9"/>
                  </a:solidFill>
                  <a:ln>
                    <a:noFill/>
                  </a:ln>
                </p:spPr>
              </p:sp>
              <p:sp>
                <p:nvSpPr>
                  <p:cNvPr id="46" name="Ellipse 46"/>
                  <p:cNvSpPr/>
                  <p:nvPr/>
                </p:nvSpPr>
                <p:spPr>
                  <a:xfrm>
                    <a:off x="2200275" y="2867025"/>
                    <a:ext cx="95250" cy="95250"/>
                  </a:xfrm>
                  <a:prstGeom prst="ellipse">
                    <a:avLst/>
                  </a:prstGeom>
                  <a:solidFill>
                    <a:srgbClr val="0B4CA9">
                      <a:alpha val="35000"/>
                    </a:srgbClr>
                  </a:solidFill>
                  <a:ln>
                    <a:noFill/>
                  </a:ln>
                </p:spPr>
              </p:sp>
              <p:sp>
                <p:nvSpPr>
                  <p:cNvPr id="47" name="Ellipse 47"/>
                  <p:cNvSpPr/>
                  <p:nvPr/>
                </p:nvSpPr>
                <p:spPr>
                  <a:xfrm>
                    <a:off x="2390775" y="2867025"/>
                    <a:ext cx="95250" cy="95250"/>
                  </a:xfrm>
                  <a:prstGeom prst="ellipse">
                    <a:avLst/>
                  </a:prstGeom>
                  <a:solidFill>
                    <a:srgbClr val="0B4CA9"/>
                  </a:solidFill>
                  <a:ln>
                    <a:noFill/>
                  </a:ln>
                </p:spPr>
              </p:sp>
            </p:grpSp>
            <p:grpSp>
              <p:nvGrpSpPr>
                <p:cNvPr id="61" name="Group 61"/>
                <p:cNvGrpSpPr/>
                <p:nvPr/>
              </p:nvGrpSpPr>
              <p:grpSpPr>
                <a:xfrm>
                  <a:off x="3133725" y="2486025"/>
                  <a:ext cx="666750" cy="476250"/>
                  <a:chOff x="3133725" y="2486025"/>
                  <a:chExt cx="666750" cy="476250"/>
                </a:xfrm>
              </p:grpSpPr>
              <p:sp>
                <p:nvSpPr>
                  <p:cNvPr id="49" name="Ellipse 49"/>
                  <p:cNvSpPr/>
                  <p:nvPr/>
                </p:nvSpPr>
                <p:spPr>
                  <a:xfrm>
                    <a:off x="3133725" y="2486025"/>
                    <a:ext cx="95250" cy="95250"/>
                  </a:xfrm>
                  <a:prstGeom prst="ellipse">
                    <a:avLst/>
                  </a:prstGeom>
                  <a:solidFill>
                    <a:srgbClr val="0B4CA9"/>
                  </a:solidFill>
                  <a:ln>
                    <a:noFill/>
                  </a:ln>
                </p:spPr>
              </p:sp>
              <p:sp>
                <p:nvSpPr>
                  <p:cNvPr id="50" name="Ellipse 50"/>
                  <p:cNvSpPr/>
                  <p:nvPr/>
                </p:nvSpPr>
                <p:spPr>
                  <a:xfrm>
                    <a:off x="3324225" y="2486025"/>
                    <a:ext cx="95250" cy="95250"/>
                  </a:xfrm>
                  <a:prstGeom prst="ellipse">
                    <a:avLst/>
                  </a:prstGeom>
                  <a:solidFill>
                    <a:srgbClr val="0B4CA9">
                      <a:alpha val="50000"/>
                    </a:srgbClr>
                  </a:solidFill>
                  <a:ln>
                    <a:noFill/>
                  </a:ln>
                </p:spPr>
              </p:sp>
              <p:sp>
                <p:nvSpPr>
                  <p:cNvPr id="51" name="Ellipse 51"/>
                  <p:cNvSpPr/>
                  <p:nvPr/>
                </p:nvSpPr>
                <p:spPr>
                  <a:xfrm>
                    <a:off x="3514725" y="2486025"/>
                    <a:ext cx="95250" cy="95250"/>
                  </a:xfrm>
                  <a:prstGeom prst="ellipse">
                    <a:avLst/>
                  </a:prstGeom>
                  <a:solidFill>
                    <a:srgbClr val="0B4CA9"/>
                  </a:solidFill>
                  <a:ln>
                    <a:noFill/>
                  </a:ln>
                </p:spPr>
              </p:sp>
              <p:sp>
                <p:nvSpPr>
                  <p:cNvPr id="52" name="Ellipse 52"/>
                  <p:cNvSpPr/>
                  <p:nvPr/>
                </p:nvSpPr>
                <p:spPr>
                  <a:xfrm>
                    <a:off x="3705225" y="2486025"/>
                    <a:ext cx="95250" cy="95250"/>
                  </a:xfrm>
                  <a:prstGeom prst="ellipse">
                    <a:avLst/>
                  </a:prstGeom>
                  <a:solidFill>
                    <a:srgbClr val="0B4CA9">
                      <a:alpha val="45000"/>
                    </a:srgbClr>
                  </a:solidFill>
                  <a:ln>
                    <a:noFill/>
                  </a:ln>
                </p:spPr>
              </p:sp>
              <p:sp>
                <p:nvSpPr>
                  <p:cNvPr id="53" name="Ellipse 53"/>
                  <p:cNvSpPr/>
                  <p:nvPr/>
                </p:nvSpPr>
                <p:spPr>
                  <a:xfrm>
                    <a:off x="3133725" y="2676525"/>
                    <a:ext cx="95250" cy="95250"/>
                  </a:xfrm>
                  <a:prstGeom prst="ellipse">
                    <a:avLst/>
                  </a:prstGeom>
                  <a:solidFill>
                    <a:srgbClr val="0B4CA9">
                      <a:alpha val="80000"/>
                    </a:srgbClr>
                  </a:solidFill>
                  <a:ln>
                    <a:noFill/>
                  </a:ln>
                </p:spPr>
              </p:sp>
              <p:sp>
                <p:nvSpPr>
                  <p:cNvPr id="54" name="Ellipse 54"/>
                  <p:cNvSpPr/>
                  <p:nvPr/>
                </p:nvSpPr>
                <p:spPr>
                  <a:xfrm>
                    <a:off x="3324225" y="2676525"/>
                    <a:ext cx="95250" cy="95250"/>
                  </a:xfrm>
                  <a:prstGeom prst="ellipse">
                    <a:avLst/>
                  </a:prstGeom>
                  <a:solidFill>
                    <a:srgbClr val="0B4CA9"/>
                  </a:solidFill>
                  <a:ln>
                    <a:noFill/>
                  </a:ln>
                </p:spPr>
              </p:sp>
              <p:sp>
                <p:nvSpPr>
                  <p:cNvPr id="55" name="Ellipse 55"/>
                  <p:cNvSpPr/>
                  <p:nvPr/>
                </p:nvSpPr>
                <p:spPr>
                  <a:xfrm>
                    <a:off x="3514725" y="2676525"/>
                    <a:ext cx="95250" cy="95250"/>
                  </a:xfrm>
                  <a:prstGeom prst="ellipse">
                    <a:avLst/>
                  </a:prstGeom>
                  <a:solidFill>
                    <a:srgbClr val="0B4CA9">
                      <a:alpha val="45000"/>
                    </a:srgbClr>
                  </a:solidFill>
                  <a:ln>
                    <a:noFill/>
                  </a:ln>
                </p:spPr>
              </p:sp>
              <p:sp>
                <p:nvSpPr>
                  <p:cNvPr id="56" name="Ellipse 56"/>
                  <p:cNvSpPr/>
                  <p:nvPr/>
                </p:nvSpPr>
                <p:spPr>
                  <a:xfrm>
                    <a:off x="3705225" y="2676525"/>
                    <a:ext cx="95250" cy="95250"/>
                  </a:xfrm>
                  <a:prstGeom prst="ellipse">
                    <a:avLst/>
                  </a:prstGeom>
                  <a:solidFill>
                    <a:srgbClr val="0B4CA9"/>
                  </a:solidFill>
                  <a:ln>
                    <a:noFill/>
                  </a:ln>
                </p:spPr>
              </p:sp>
              <p:sp>
                <p:nvSpPr>
                  <p:cNvPr id="57" name="Ellipse 57"/>
                  <p:cNvSpPr/>
                  <p:nvPr/>
                </p:nvSpPr>
                <p:spPr>
                  <a:xfrm>
                    <a:off x="3133725" y="2867025"/>
                    <a:ext cx="95250" cy="95250"/>
                  </a:xfrm>
                  <a:prstGeom prst="ellipse">
                    <a:avLst/>
                  </a:prstGeom>
                  <a:solidFill>
                    <a:srgbClr val="0B4CA9"/>
                  </a:solidFill>
                  <a:ln>
                    <a:noFill/>
                  </a:ln>
                </p:spPr>
              </p:sp>
              <p:sp>
                <p:nvSpPr>
                  <p:cNvPr id="58" name="Ellipse 58"/>
                  <p:cNvSpPr/>
                  <p:nvPr/>
                </p:nvSpPr>
                <p:spPr>
                  <a:xfrm>
                    <a:off x="3324225" y="2867025"/>
                    <a:ext cx="95250" cy="95250"/>
                  </a:xfrm>
                  <a:prstGeom prst="ellipse">
                    <a:avLst/>
                  </a:prstGeom>
                  <a:solidFill>
                    <a:srgbClr val="0B4CA9">
                      <a:alpha val="75000"/>
                    </a:srgbClr>
                  </a:solidFill>
                  <a:ln>
                    <a:noFill/>
                  </a:ln>
                </p:spPr>
              </p:sp>
              <p:sp>
                <p:nvSpPr>
                  <p:cNvPr id="59" name="Ellipse 59"/>
                  <p:cNvSpPr/>
                  <p:nvPr/>
                </p:nvSpPr>
                <p:spPr>
                  <a:xfrm>
                    <a:off x="3514725" y="2867025"/>
                    <a:ext cx="95250" cy="95250"/>
                  </a:xfrm>
                  <a:prstGeom prst="ellipse">
                    <a:avLst/>
                  </a:prstGeom>
                  <a:solidFill>
                    <a:srgbClr val="0B4CA9"/>
                  </a:solidFill>
                  <a:ln>
                    <a:noFill/>
                  </a:ln>
                </p:spPr>
              </p:sp>
              <p:sp>
                <p:nvSpPr>
                  <p:cNvPr id="60" name="Ellipse 60"/>
                  <p:cNvSpPr/>
                  <p:nvPr/>
                </p:nvSpPr>
                <p:spPr>
                  <a:xfrm>
                    <a:off x="3705225" y="2867025"/>
                    <a:ext cx="95250" cy="95250"/>
                  </a:xfrm>
                  <a:prstGeom prst="ellipse">
                    <a:avLst/>
                  </a:prstGeom>
                  <a:solidFill>
                    <a:srgbClr val="0B4CA9">
                      <a:alpha val="65000"/>
                    </a:srgbClr>
                  </a:solidFill>
                  <a:ln>
                    <a:noFill/>
                  </a:ln>
                </p:spPr>
              </p:sp>
            </p:grpSp>
          </p:grpSp>
          <p:sp>
            <p:nvSpPr>
              <p:cNvPr id="63" name="TextBox 63"/>
              <p:cNvSpPr txBox="1"/>
              <p:nvPr/>
            </p:nvSpPr>
            <p:spPr>
              <a:xfrm>
                <a:off x="232410" y="3117056"/>
                <a:ext cx="121158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11254A"/>
                    </a:solidFill>
                    <a:latin typeface="Noto Sans CJK SC"/>
                    <a:ea typeface="Microsoft YaHei"/>
                    <a:cs typeface="Noto Sans CJK SC"/>
                  </a:rPr>
                  <a:t>随机 embedding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1546860" y="3117056"/>
                <a:ext cx="121158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11254A"/>
                    </a:solidFill>
                    <a:latin typeface="Noto Sans CJK SC"/>
                    <a:ea typeface="Microsoft YaHei"/>
                    <a:cs typeface="Noto Sans CJK SC"/>
                  </a:rPr>
                  <a:t>随机 embedding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2861310" y="3117056"/>
                <a:ext cx="121158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11254A"/>
                    </a:solidFill>
                    <a:latin typeface="Noto Sans CJK SC"/>
                    <a:ea typeface="Microsoft YaHei"/>
                    <a:cs typeface="Noto Sans CJK SC"/>
                  </a:rPr>
                  <a:t>随机 embedding</a:t>
                </a:r>
              </a:p>
            </p:txBody>
          </p:sp>
          <p:sp>
            <p:nvSpPr>
              <p:cNvPr id="66" name="Line 66"/>
              <p:cNvSpPr/>
              <p:nvPr/>
            </p:nvSpPr>
            <p:spPr>
              <a:xfrm>
                <a:off x="1028700" y="3543300"/>
                <a:ext cx="1752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52600" h="9525">
                    <a:moveTo>
                      <a:pt x="0" y="0"/>
                    </a:moveTo>
                    <a:lnTo>
                      <a:pt x="1752600" y="0"/>
                    </a:lnTo>
                  </a:path>
                </a:pathLst>
              </a:custGeom>
              <a:noFill/>
              <a:ln w="19050">
                <a:solidFill>
                  <a:srgbClr val="7A8395"/>
                </a:solidFill>
                <a:prstDash val="dash"/>
              </a:ln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2954655" y="3454718"/>
                <a:ext cx="259746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1254A"/>
                    </a:solidFill>
                    <a:latin typeface="Noto Sans CJK SC"/>
                    <a:ea typeface="Microsoft YaHei"/>
                    <a:cs typeface="Noto Sans CJK SC"/>
                  </a:rPr>
                  <a:t>弱关系（随机、无顺序约束）</a:t>
                </a:r>
              </a:p>
            </p:txBody>
          </p:sp>
        </p:grpSp>
        <p:grpSp>
          <p:nvGrpSpPr>
            <p:cNvPr id="74" name="Group 74"/>
            <p:cNvGrpSpPr/>
            <p:nvPr/>
          </p:nvGrpSpPr>
          <p:grpSpPr>
            <a:xfrm>
              <a:off x="323850" y="3829050"/>
              <a:ext cx="4722457" cy="869156"/>
              <a:chOff x="323850" y="3829050"/>
              <a:chExt cx="4722457" cy="869156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323850" y="3829050"/>
                <a:ext cx="3657600" cy="800100"/>
              </a:xfrm>
              <a:custGeom>
                <a:avLst/>
                <a:gdLst/>
                <a:ahLst/>
                <a:cxnLst/>
                <a:rect l="l" t="t" r="r" b="b"/>
                <a:pathLst>
                  <a:path w="3657600" h="800100">
                    <a:moveTo>
                      <a:pt x="76200" y="0"/>
                    </a:moveTo>
                    <a:lnTo>
                      <a:pt x="3581400" y="0"/>
                    </a:lnTo>
                    <a:cubicBezTo>
                      <a:pt x="3623484" y="0"/>
                      <a:pt x="3657600" y="34116"/>
                      <a:pt x="3657600" y="76200"/>
                    </a:cubicBezTo>
                    <a:lnTo>
                      <a:pt x="3657600" y="723900"/>
                    </a:lnTo>
                    <a:cubicBezTo>
                      <a:pt x="3657600" y="765984"/>
                      <a:pt x="3623484" y="800100"/>
                      <a:pt x="3581400" y="800100"/>
                    </a:cubicBezTo>
                    <a:lnTo>
                      <a:pt x="76200" y="800100"/>
                    </a:lnTo>
                    <a:cubicBezTo>
                      <a:pt x="34116" y="800100"/>
                      <a:pt x="0" y="765984"/>
                      <a:pt x="0" y="7239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C6CCD7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495300" y="4000500"/>
                <a:ext cx="571500" cy="514350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514350">
                    <a:moveTo>
                      <a:pt x="285750" y="0"/>
                    </a:moveTo>
                    <a:lnTo>
                      <a:pt x="571500" y="514350"/>
                    </a:lnTo>
                    <a:lnTo>
                      <a:pt x="0" y="514350"/>
                    </a:lnTo>
                    <a:close/>
                  </a:path>
                </a:pathLst>
              </a:custGeom>
              <a:solidFill>
                <a:srgbClr val="FFC84A"/>
              </a:solidFill>
              <a:ln w="19050">
                <a:solidFill>
                  <a:srgbClr val="9A6A00"/>
                </a:solidFill>
              </a:ln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676619" y="4103846"/>
                <a:ext cx="208862" cy="594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925" b="1" dirty="0">
                    <a:solidFill>
                      <a:srgbClr val="111111"/>
                    </a:solidFill>
                    <a:latin typeface="Segoe UI"/>
                    <a:ea typeface="Microsoft YaHei"/>
                    <a:cs typeface="Segoe UI"/>
                  </a:rPr>
                  <a:t>!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1275398" y="3982879"/>
                <a:ext cx="2455307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1254A"/>
                    </a:solidFill>
                    <a:latin typeface="Noto Sans CJK SC"/>
                    <a:ea typeface="Microsoft YaHei"/>
                    <a:cs typeface="Noto Sans CJK SC"/>
                  </a:rPr>
                  <a:t>相邻坐标缺乏顺序关系</a:t>
                </a: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1280160" y="4290060"/>
                <a:ext cx="376614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11827"/>
                    </a:solidFill>
                    <a:latin typeface="Consolas"/>
                    <a:ea typeface="Microsoft YaHei"/>
                    <a:cs typeface="Consolas"/>
                  </a:rPr>
                  <a:t>&lt;X_7&gt;与&lt;X_8&gt;不一定比&lt;X_7&gt;与&lt;X_15&gt;更接近</a:t>
                </a:r>
              </a:p>
            </p:txBody>
          </p:sp>
        </p:grpSp>
        <p:sp>
          <p:nvSpPr>
            <p:cNvPr id="75" name="Line 75"/>
            <p:cNvSpPr/>
            <p:nvPr/>
          </p:nvSpPr>
          <p:spPr>
            <a:xfrm>
              <a:off x="361950" y="4876800"/>
              <a:ext cx="3581400" cy="9525"/>
            </a:xfrm>
            <a:custGeom>
              <a:avLst/>
              <a:gdLst/>
              <a:ahLst/>
              <a:cxnLst/>
              <a:rect l="l" t="t" r="r" b="b"/>
              <a:pathLst>
                <a:path w="3581400" h="9525">
                  <a:moveTo>
                    <a:pt x="0" y="0"/>
                  </a:moveTo>
                  <a:lnTo>
                    <a:pt x="3581400" y="0"/>
                  </a:lnTo>
                </a:path>
              </a:pathLst>
            </a:custGeom>
            <a:noFill/>
            <a:ln w="19050">
              <a:solidFill>
                <a:srgbClr val="7A8395"/>
              </a:solidFill>
              <a:prstDash val="dash"/>
            </a:ln>
          </p:spPr>
        </p:sp>
        <p:grpSp>
          <p:nvGrpSpPr>
            <p:cNvPr id="129" name="Group 129"/>
            <p:cNvGrpSpPr/>
            <p:nvPr/>
          </p:nvGrpSpPr>
          <p:grpSpPr>
            <a:xfrm>
              <a:off x="277070" y="5162550"/>
              <a:ext cx="3751159" cy="2002631"/>
              <a:chOff x="277070" y="5162550"/>
              <a:chExt cx="3751159" cy="2002631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419100" y="5162550"/>
                <a:ext cx="838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838200" h="457200">
                    <a:moveTo>
                      <a:pt x="66675" y="0"/>
                    </a:moveTo>
                    <a:lnTo>
                      <a:pt x="771525" y="0"/>
                    </a:lnTo>
                    <a:cubicBezTo>
                      <a:pt x="808349" y="0"/>
                      <a:pt x="838200" y="29851"/>
                      <a:pt x="838200" y="66675"/>
                    </a:cubicBezTo>
                    <a:lnTo>
                      <a:pt x="838200" y="390525"/>
                    </a:lnTo>
                    <a:cubicBezTo>
                      <a:pt x="838200" y="427349"/>
                      <a:pt x="808349" y="457200"/>
                      <a:pt x="771525" y="457200"/>
                    </a:cubicBezTo>
                    <a:lnTo>
                      <a:pt x="66675" y="457200"/>
                    </a:lnTo>
                    <a:cubicBezTo>
                      <a:pt x="29851" y="457200"/>
                      <a:pt x="0" y="427349"/>
                      <a:pt x="0" y="390525"/>
                    </a:cubicBezTo>
                    <a:lnTo>
                      <a:pt x="0" y="66675"/>
                    </a:lnTo>
                    <a:cubicBezTo>
                      <a:pt x="0" y="29851"/>
                      <a:pt x="29851" y="0"/>
                      <a:pt x="66675" y="0"/>
                    </a:cubicBezTo>
                    <a:close/>
                  </a:path>
                </a:pathLst>
              </a:custGeom>
              <a:solidFill>
                <a:srgbClr val="FBFBFF"/>
              </a:solidFill>
              <a:ln w="19050">
                <a:solidFill>
                  <a:srgbClr val="7C65D7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1733550" y="5162550"/>
                <a:ext cx="838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838200" h="457200">
                    <a:moveTo>
                      <a:pt x="66675" y="0"/>
                    </a:moveTo>
                    <a:lnTo>
                      <a:pt x="771525" y="0"/>
                    </a:lnTo>
                    <a:cubicBezTo>
                      <a:pt x="808349" y="0"/>
                      <a:pt x="838200" y="29851"/>
                      <a:pt x="838200" y="66675"/>
                    </a:cubicBezTo>
                    <a:lnTo>
                      <a:pt x="838200" y="390525"/>
                    </a:lnTo>
                    <a:cubicBezTo>
                      <a:pt x="838200" y="427349"/>
                      <a:pt x="808349" y="457200"/>
                      <a:pt x="771525" y="457200"/>
                    </a:cubicBezTo>
                    <a:lnTo>
                      <a:pt x="66675" y="457200"/>
                    </a:lnTo>
                    <a:cubicBezTo>
                      <a:pt x="29851" y="457200"/>
                      <a:pt x="0" y="427349"/>
                      <a:pt x="0" y="390525"/>
                    </a:cubicBezTo>
                    <a:lnTo>
                      <a:pt x="0" y="66675"/>
                    </a:lnTo>
                    <a:cubicBezTo>
                      <a:pt x="0" y="29851"/>
                      <a:pt x="29851" y="0"/>
                      <a:pt x="66675" y="0"/>
                    </a:cubicBezTo>
                    <a:close/>
                  </a:path>
                </a:pathLst>
              </a:custGeom>
              <a:solidFill>
                <a:srgbClr val="FBFBFF"/>
              </a:solidFill>
              <a:ln w="19050">
                <a:solidFill>
                  <a:srgbClr val="7C65D7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3048000" y="5162550"/>
                <a:ext cx="838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838200" h="457200">
                    <a:moveTo>
                      <a:pt x="66675" y="0"/>
                    </a:moveTo>
                    <a:lnTo>
                      <a:pt x="771525" y="0"/>
                    </a:lnTo>
                    <a:cubicBezTo>
                      <a:pt x="808349" y="0"/>
                      <a:pt x="838200" y="29851"/>
                      <a:pt x="838200" y="66675"/>
                    </a:cubicBezTo>
                    <a:lnTo>
                      <a:pt x="838200" y="390525"/>
                    </a:lnTo>
                    <a:cubicBezTo>
                      <a:pt x="838200" y="427349"/>
                      <a:pt x="808349" y="457200"/>
                      <a:pt x="771525" y="457200"/>
                    </a:cubicBezTo>
                    <a:lnTo>
                      <a:pt x="66675" y="457200"/>
                    </a:lnTo>
                    <a:cubicBezTo>
                      <a:pt x="29851" y="457200"/>
                      <a:pt x="0" y="427349"/>
                      <a:pt x="0" y="390525"/>
                    </a:cubicBezTo>
                    <a:lnTo>
                      <a:pt x="0" y="66675"/>
                    </a:lnTo>
                    <a:cubicBezTo>
                      <a:pt x="0" y="29851"/>
                      <a:pt x="29851" y="0"/>
                      <a:pt x="66675" y="0"/>
                    </a:cubicBezTo>
                    <a:close/>
                  </a:path>
                </a:pathLst>
              </a:custGeom>
              <a:solidFill>
                <a:srgbClr val="FBFBFF"/>
              </a:solidFill>
              <a:ln w="19050">
                <a:solidFill>
                  <a:srgbClr val="7C65D7"/>
                </a:solidFill>
              </a:ln>
            </p:spPr>
          </p:sp>
          <p:sp>
            <p:nvSpPr>
              <p:cNvPr id="79" name="TextBox 79"/>
              <p:cNvSpPr txBox="1"/>
              <p:nvPr/>
            </p:nvSpPr>
            <p:spPr>
              <a:xfrm>
                <a:off x="402259" y="5247322"/>
                <a:ext cx="871883" cy="396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950" b="1" dirty="0">
                    <a:solidFill>
                      <a:srgbClr val="111827"/>
                    </a:solidFill>
                    <a:latin typeface="Consolas"/>
                    <a:ea typeface="Microsoft YaHei"/>
                    <a:cs typeface="Consolas"/>
                  </a:rPr>
                  <a:t>&lt;X_7&gt;</a:t>
                </a:r>
              </a:p>
            </p:txBody>
          </p:sp>
          <p:sp>
            <p:nvSpPr>
              <p:cNvPr id="80" name="TextBox 80"/>
              <p:cNvSpPr txBox="1"/>
              <p:nvPr/>
            </p:nvSpPr>
            <p:spPr>
              <a:xfrm>
                <a:off x="1716709" y="5247322"/>
                <a:ext cx="871883" cy="396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950" b="1" dirty="0">
                    <a:solidFill>
                      <a:srgbClr val="111827"/>
                    </a:solidFill>
                    <a:latin typeface="Consolas"/>
                    <a:ea typeface="Microsoft YaHei"/>
                    <a:cs typeface="Consolas"/>
                  </a:rPr>
                  <a:t>&lt;Y_7&gt;</a:t>
                </a:r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3031159" y="5247322"/>
                <a:ext cx="871883" cy="396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950" b="1" dirty="0">
                    <a:solidFill>
                      <a:srgbClr val="111827"/>
                    </a:solidFill>
                    <a:latin typeface="Consolas"/>
                    <a:ea typeface="Microsoft YaHei"/>
                    <a:cs typeface="Consolas"/>
                  </a:rPr>
                  <a:t>&lt;Z_7&gt;</a:t>
                </a:r>
              </a:p>
            </p:txBody>
          </p:sp>
          <p:sp>
            <p:nvSpPr>
              <p:cNvPr id="82" name="Line 82"/>
              <p:cNvSpPr/>
              <p:nvPr/>
            </p:nvSpPr>
            <p:spPr>
              <a:xfrm>
                <a:off x="838200" y="5619750"/>
                <a:ext cx="9525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0">
                    <a:moveTo>
                      <a:pt x="0" y="0"/>
                    </a:moveTo>
                    <a:lnTo>
                      <a:pt x="0" y="285750"/>
                    </a:lnTo>
                  </a:path>
                </a:pathLst>
              </a:custGeom>
              <a:noFill/>
              <a:ln w="19050">
                <a:solidFill>
                  <a:srgbClr val="53606E"/>
                </a:solidFill>
              </a:ln>
            </p:spPr>
          </p:sp>
          <p:sp>
            <p:nvSpPr>
              <p:cNvPr id="83" name="Line 83"/>
              <p:cNvSpPr/>
              <p:nvPr/>
            </p:nvSpPr>
            <p:spPr>
              <a:xfrm>
                <a:off x="2152650" y="5619750"/>
                <a:ext cx="9525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0">
                    <a:moveTo>
                      <a:pt x="0" y="0"/>
                    </a:moveTo>
                    <a:lnTo>
                      <a:pt x="0" y="285750"/>
                    </a:lnTo>
                  </a:path>
                </a:pathLst>
              </a:custGeom>
              <a:noFill/>
              <a:ln w="19050">
                <a:solidFill>
                  <a:srgbClr val="53606E"/>
                </a:solidFill>
              </a:ln>
            </p:spPr>
          </p:sp>
          <p:sp>
            <p:nvSpPr>
              <p:cNvPr id="84" name="Line 84"/>
              <p:cNvSpPr/>
              <p:nvPr/>
            </p:nvSpPr>
            <p:spPr>
              <a:xfrm>
                <a:off x="3467100" y="5619750"/>
                <a:ext cx="9525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0">
                    <a:moveTo>
                      <a:pt x="0" y="0"/>
                    </a:moveTo>
                    <a:lnTo>
                      <a:pt x="0" y="285750"/>
                    </a:lnTo>
                  </a:path>
                </a:pathLst>
              </a:custGeom>
              <a:noFill/>
              <a:ln w="19050">
                <a:solidFill>
                  <a:srgbClr val="53606E"/>
                </a:solidFill>
              </a:ln>
            </p:spPr>
          </p:sp>
          <p:grpSp>
            <p:nvGrpSpPr>
              <p:cNvPr id="127" name="Group 127"/>
              <p:cNvGrpSpPr/>
              <p:nvPr/>
            </p:nvGrpSpPr>
            <p:grpSpPr>
              <a:xfrm>
                <a:off x="419100" y="5924550"/>
                <a:ext cx="3467100" cy="647700"/>
                <a:chOff x="419100" y="5924550"/>
                <a:chExt cx="3467100" cy="647700"/>
              </a:xfrm>
            </p:grpSpPr>
            <p:sp>
              <p:nvSpPr>
                <p:cNvPr id="85" name="Freeform 85"/>
                <p:cNvSpPr/>
                <p:nvPr/>
              </p:nvSpPr>
              <p:spPr>
                <a:xfrm>
                  <a:off x="419100" y="5924550"/>
                  <a:ext cx="838200" cy="647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8200" h="647700">
                      <a:moveTo>
                        <a:pt x="57150" y="0"/>
                      </a:moveTo>
                      <a:lnTo>
                        <a:pt x="781050" y="0"/>
                      </a:lnTo>
                      <a:cubicBezTo>
                        <a:pt x="812613" y="0"/>
                        <a:pt x="838200" y="25587"/>
                        <a:pt x="838200" y="57150"/>
                      </a:cubicBezTo>
                      <a:lnTo>
                        <a:pt x="838200" y="590550"/>
                      </a:lnTo>
                      <a:cubicBezTo>
                        <a:pt x="838200" y="622113"/>
                        <a:pt x="812613" y="647700"/>
                        <a:pt x="781050" y="647700"/>
                      </a:cubicBezTo>
                      <a:lnTo>
                        <a:pt x="57150" y="647700"/>
                      </a:lnTo>
                      <a:cubicBezTo>
                        <a:pt x="25587" y="647700"/>
                        <a:pt x="0" y="622113"/>
                        <a:pt x="0" y="590550"/>
                      </a:cubicBezTo>
                      <a:lnTo>
                        <a:pt x="0" y="57150"/>
                      </a:lnTo>
                      <a:cubicBezTo>
                        <a:pt x="0" y="25587"/>
                        <a:pt x="25587" y="0"/>
                        <a:pt x="5715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9050">
                  <a:solidFill>
                    <a:srgbClr val="7DA5E8"/>
                  </a:solidFill>
                </a:ln>
              </p:spPr>
            </p:sp>
            <p:sp>
              <p:nvSpPr>
                <p:cNvPr id="86" name="Freeform 86"/>
                <p:cNvSpPr/>
                <p:nvPr/>
              </p:nvSpPr>
              <p:spPr>
                <a:xfrm>
                  <a:off x="1733550" y="5924550"/>
                  <a:ext cx="838200" cy="647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8200" h="647700">
                      <a:moveTo>
                        <a:pt x="57150" y="0"/>
                      </a:moveTo>
                      <a:lnTo>
                        <a:pt x="781050" y="0"/>
                      </a:lnTo>
                      <a:cubicBezTo>
                        <a:pt x="812613" y="0"/>
                        <a:pt x="838200" y="25587"/>
                        <a:pt x="838200" y="57150"/>
                      </a:cubicBezTo>
                      <a:lnTo>
                        <a:pt x="838200" y="590550"/>
                      </a:lnTo>
                      <a:cubicBezTo>
                        <a:pt x="838200" y="622113"/>
                        <a:pt x="812613" y="647700"/>
                        <a:pt x="781050" y="647700"/>
                      </a:cubicBezTo>
                      <a:lnTo>
                        <a:pt x="57150" y="647700"/>
                      </a:lnTo>
                      <a:cubicBezTo>
                        <a:pt x="25587" y="647700"/>
                        <a:pt x="0" y="622113"/>
                        <a:pt x="0" y="590550"/>
                      </a:cubicBezTo>
                      <a:lnTo>
                        <a:pt x="0" y="57150"/>
                      </a:lnTo>
                      <a:cubicBezTo>
                        <a:pt x="0" y="25587"/>
                        <a:pt x="25587" y="0"/>
                        <a:pt x="5715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9050">
                  <a:solidFill>
                    <a:srgbClr val="7DA5E8"/>
                  </a:solidFill>
                </a:ln>
              </p:spPr>
            </p:sp>
            <p:sp>
              <p:nvSpPr>
                <p:cNvPr id="87" name="Freeform 87"/>
                <p:cNvSpPr/>
                <p:nvPr/>
              </p:nvSpPr>
              <p:spPr>
                <a:xfrm>
                  <a:off x="3048000" y="5924550"/>
                  <a:ext cx="838200" cy="647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8200" h="647700">
                      <a:moveTo>
                        <a:pt x="57150" y="0"/>
                      </a:moveTo>
                      <a:lnTo>
                        <a:pt x="781050" y="0"/>
                      </a:lnTo>
                      <a:cubicBezTo>
                        <a:pt x="812613" y="0"/>
                        <a:pt x="838200" y="25587"/>
                        <a:pt x="838200" y="57150"/>
                      </a:cubicBezTo>
                      <a:lnTo>
                        <a:pt x="838200" y="590550"/>
                      </a:lnTo>
                      <a:cubicBezTo>
                        <a:pt x="838200" y="622113"/>
                        <a:pt x="812613" y="647700"/>
                        <a:pt x="781050" y="647700"/>
                      </a:cubicBezTo>
                      <a:lnTo>
                        <a:pt x="57150" y="647700"/>
                      </a:lnTo>
                      <a:cubicBezTo>
                        <a:pt x="25587" y="647700"/>
                        <a:pt x="0" y="622113"/>
                        <a:pt x="0" y="590550"/>
                      </a:cubicBezTo>
                      <a:lnTo>
                        <a:pt x="0" y="57150"/>
                      </a:lnTo>
                      <a:cubicBezTo>
                        <a:pt x="0" y="25587"/>
                        <a:pt x="25587" y="0"/>
                        <a:pt x="5715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9050">
                  <a:solidFill>
                    <a:srgbClr val="7DA5E8"/>
                  </a:solidFill>
                </a:ln>
              </p:spPr>
            </p:sp>
            <p:grpSp>
              <p:nvGrpSpPr>
                <p:cNvPr id="100" name="Group 100"/>
                <p:cNvGrpSpPr/>
                <p:nvPr/>
              </p:nvGrpSpPr>
              <p:grpSpPr>
                <a:xfrm>
                  <a:off x="504825" y="6010275"/>
                  <a:ext cx="666750" cy="476250"/>
                  <a:chOff x="504825" y="6010275"/>
                  <a:chExt cx="666750" cy="476250"/>
                </a:xfrm>
              </p:grpSpPr>
              <p:sp>
                <p:nvSpPr>
                  <p:cNvPr id="88" name="Ellipse 88"/>
                  <p:cNvSpPr/>
                  <p:nvPr/>
                </p:nvSpPr>
                <p:spPr>
                  <a:xfrm>
                    <a:off x="504825" y="6010275"/>
                    <a:ext cx="95250" cy="95250"/>
                  </a:xfrm>
                  <a:prstGeom prst="ellipse">
                    <a:avLst/>
                  </a:prstGeom>
                  <a:solidFill>
                    <a:srgbClr val="0B4CA9"/>
                  </a:solidFill>
                  <a:ln>
                    <a:noFill/>
                  </a:ln>
                </p:spPr>
              </p:sp>
              <p:sp>
                <p:nvSpPr>
                  <p:cNvPr id="89" name="Ellipse 89"/>
                  <p:cNvSpPr/>
                  <p:nvPr/>
                </p:nvSpPr>
                <p:spPr>
                  <a:xfrm>
                    <a:off x="695325" y="6010275"/>
                    <a:ext cx="95250" cy="95250"/>
                  </a:xfrm>
                  <a:prstGeom prst="ellipse">
                    <a:avLst/>
                  </a:prstGeom>
                  <a:solidFill>
                    <a:srgbClr val="0B4CA9"/>
                  </a:solidFill>
                  <a:ln>
                    <a:noFill/>
                  </a:ln>
                </p:spPr>
              </p:sp>
              <p:sp>
                <p:nvSpPr>
                  <p:cNvPr id="90" name="Ellipse 90"/>
                  <p:cNvSpPr/>
                  <p:nvPr/>
                </p:nvSpPr>
                <p:spPr>
                  <a:xfrm>
                    <a:off x="885825" y="6010275"/>
                    <a:ext cx="95250" cy="95250"/>
                  </a:xfrm>
                  <a:prstGeom prst="ellipse">
                    <a:avLst/>
                  </a:prstGeom>
                  <a:solidFill>
                    <a:srgbClr val="0B4CA9">
                      <a:alpha val="55000"/>
                    </a:srgbClr>
                  </a:solidFill>
                  <a:ln>
                    <a:noFill/>
                  </a:ln>
                </p:spPr>
              </p:sp>
              <p:sp>
                <p:nvSpPr>
                  <p:cNvPr id="91" name="Ellipse 91"/>
                  <p:cNvSpPr/>
                  <p:nvPr/>
                </p:nvSpPr>
                <p:spPr>
                  <a:xfrm>
                    <a:off x="1076325" y="6010275"/>
                    <a:ext cx="95250" cy="95250"/>
                  </a:xfrm>
                  <a:prstGeom prst="ellipse">
                    <a:avLst/>
                  </a:prstGeom>
                  <a:solidFill>
                    <a:srgbClr val="0B4CA9">
                      <a:alpha val="40000"/>
                    </a:srgbClr>
                  </a:solidFill>
                  <a:ln>
                    <a:noFill/>
                  </a:ln>
                </p:spPr>
              </p:sp>
              <p:sp>
                <p:nvSpPr>
                  <p:cNvPr id="92" name="Ellipse 92"/>
                  <p:cNvSpPr/>
                  <p:nvPr/>
                </p:nvSpPr>
                <p:spPr>
                  <a:xfrm>
                    <a:off x="504825" y="6200775"/>
                    <a:ext cx="95250" cy="95250"/>
                  </a:xfrm>
                  <a:prstGeom prst="ellipse">
                    <a:avLst/>
                  </a:prstGeom>
                  <a:solidFill>
                    <a:srgbClr val="0B4CA9"/>
                  </a:solidFill>
                  <a:ln>
                    <a:noFill/>
                  </a:ln>
                </p:spPr>
              </p:sp>
              <p:sp>
                <p:nvSpPr>
                  <p:cNvPr id="93" name="Ellipse 93"/>
                  <p:cNvSpPr/>
                  <p:nvPr/>
                </p:nvSpPr>
                <p:spPr>
                  <a:xfrm>
                    <a:off x="695325" y="6200775"/>
                    <a:ext cx="95250" cy="95250"/>
                  </a:xfrm>
                  <a:prstGeom prst="ellipse">
                    <a:avLst/>
                  </a:prstGeom>
                  <a:solidFill>
                    <a:srgbClr val="0B4CA9">
                      <a:alpha val="45000"/>
                    </a:srgbClr>
                  </a:solidFill>
                  <a:ln>
                    <a:noFill/>
                  </a:ln>
                </p:spPr>
              </p:sp>
              <p:sp>
                <p:nvSpPr>
                  <p:cNvPr id="94" name="Ellipse 94"/>
                  <p:cNvSpPr/>
                  <p:nvPr/>
                </p:nvSpPr>
                <p:spPr>
                  <a:xfrm>
                    <a:off x="885825" y="6200775"/>
                    <a:ext cx="95250" cy="95250"/>
                  </a:xfrm>
                  <a:prstGeom prst="ellipse">
                    <a:avLst/>
                  </a:prstGeom>
                  <a:solidFill>
                    <a:srgbClr val="0B4CA9"/>
                  </a:solidFill>
                  <a:ln>
                    <a:noFill/>
                  </a:ln>
                </p:spPr>
              </p:sp>
              <p:sp>
                <p:nvSpPr>
                  <p:cNvPr id="95" name="Ellipse 95"/>
                  <p:cNvSpPr/>
                  <p:nvPr/>
                </p:nvSpPr>
                <p:spPr>
                  <a:xfrm>
                    <a:off x="1076325" y="6200775"/>
                    <a:ext cx="95250" cy="95250"/>
                  </a:xfrm>
                  <a:prstGeom prst="ellipse">
                    <a:avLst/>
                  </a:prstGeom>
                  <a:solidFill>
                    <a:srgbClr val="0B4CA9">
                      <a:alpha val="55000"/>
                    </a:srgbClr>
                  </a:solidFill>
                  <a:ln>
                    <a:noFill/>
                  </a:ln>
                </p:spPr>
              </p:sp>
              <p:sp>
                <p:nvSpPr>
                  <p:cNvPr id="96" name="Ellipse 96"/>
                  <p:cNvSpPr/>
                  <p:nvPr/>
                </p:nvSpPr>
                <p:spPr>
                  <a:xfrm>
                    <a:off x="504825" y="6391275"/>
                    <a:ext cx="95250" cy="95250"/>
                  </a:xfrm>
                  <a:prstGeom prst="ellipse">
                    <a:avLst/>
                  </a:prstGeom>
                  <a:solidFill>
                    <a:srgbClr val="0B4CA9"/>
                  </a:solidFill>
                  <a:ln>
                    <a:noFill/>
                  </a:ln>
                </p:spPr>
              </p:sp>
              <p:sp>
                <p:nvSpPr>
                  <p:cNvPr id="97" name="Ellipse 97"/>
                  <p:cNvSpPr/>
                  <p:nvPr/>
                </p:nvSpPr>
                <p:spPr>
                  <a:xfrm>
                    <a:off x="695325" y="6391275"/>
                    <a:ext cx="95250" cy="95250"/>
                  </a:xfrm>
                  <a:prstGeom prst="ellipse">
                    <a:avLst/>
                  </a:prstGeom>
                  <a:solidFill>
                    <a:srgbClr val="0B4CA9">
                      <a:alpha val="65000"/>
                    </a:srgbClr>
                  </a:solidFill>
                  <a:ln>
                    <a:noFill/>
                  </a:ln>
                </p:spPr>
              </p:sp>
              <p:sp>
                <p:nvSpPr>
                  <p:cNvPr id="98" name="Ellipse 98"/>
                  <p:cNvSpPr/>
                  <p:nvPr/>
                </p:nvSpPr>
                <p:spPr>
                  <a:xfrm>
                    <a:off x="885825" y="6391275"/>
                    <a:ext cx="95250" cy="95250"/>
                  </a:xfrm>
                  <a:prstGeom prst="ellipse">
                    <a:avLst/>
                  </a:prstGeom>
                  <a:solidFill>
                    <a:srgbClr val="0B4CA9">
                      <a:alpha val="70000"/>
                    </a:srgbClr>
                  </a:solidFill>
                  <a:ln>
                    <a:noFill/>
                  </a:ln>
                </p:spPr>
              </p:sp>
              <p:sp>
                <p:nvSpPr>
                  <p:cNvPr id="99" name="Ellipse 99"/>
                  <p:cNvSpPr/>
                  <p:nvPr/>
                </p:nvSpPr>
                <p:spPr>
                  <a:xfrm>
                    <a:off x="1076325" y="6391275"/>
                    <a:ext cx="95250" cy="95250"/>
                  </a:xfrm>
                  <a:prstGeom prst="ellipse">
                    <a:avLst/>
                  </a:prstGeom>
                  <a:solidFill>
                    <a:srgbClr val="0B4CA9"/>
                  </a:solidFill>
                  <a:ln>
                    <a:noFill/>
                  </a:ln>
                </p:spPr>
              </p:sp>
            </p:grpSp>
            <p:grpSp>
              <p:nvGrpSpPr>
                <p:cNvPr id="113" name="Group 113"/>
                <p:cNvGrpSpPr/>
                <p:nvPr/>
              </p:nvGrpSpPr>
              <p:grpSpPr>
                <a:xfrm>
                  <a:off x="1819275" y="6010275"/>
                  <a:ext cx="666750" cy="476250"/>
                  <a:chOff x="1819275" y="6010275"/>
                  <a:chExt cx="666750" cy="476250"/>
                </a:xfrm>
              </p:grpSpPr>
              <p:sp>
                <p:nvSpPr>
                  <p:cNvPr id="101" name="Ellipse 101"/>
                  <p:cNvSpPr/>
                  <p:nvPr/>
                </p:nvSpPr>
                <p:spPr>
                  <a:xfrm>
                    <a:off x="1819275" y="6010275"/>
                    <a:ext cx="95250" cy="95250"/>
                  </a:xfrm>
                  <a:prstGeom prst="ellipse">
                    <a:avLst/>
                  </a:prstGeom>
                  <a:solidFill>
                    <a:srgbClr val="0B4CA9"/>
                  </a:solidFill>
                  <a:ln>
                    <a:noFill/>
                  </a:ln>
                </p:spPr>
              </p:sp>
              <p:sp>
                <p:nvSpPr>
                  <p:cNvPr id="102" name="Ellipse 102"/>
                  <p:cNvSpPr/>
                  <p:nvPr/>
                </p:nvSpPr>
                <p:spPr>
                  <a:xfrm>
                    <a:off x="2009775" y="6010275"/>
                    <a:ext cx="95250" cy="95250"/>
                  </a:xfrm>
                  <a:prstGeom prst="ellipse">
                    <a:avLst/>
                  </a:prstGeom>
                  <a:solidFill>
                    <a:srgbClr val="0B4CA9"/>
                  </a:solidFill>
                  <a:ln>
                    <a:noFill/>
                  </a:ln>
                </p:spPr>
              </p:sp>
              <p:sp>
                <p:nvSpPr>
                  <p:cNvPr id="103" name="Ellipse 103"/>
                  <p:cNvSpPr/>
                  <p:nvPr/>
                </p:nvSpPr>
                <p:spPr>
                  <a:xfrm>
                    <a:off x="2200275" y="6010275"/>
                    <a:ext cx="95250" cy="95250"/>
                  </a:xfrm>
                  <a:prstGeom prst="ellipse">
                    <a:avLst/>
                  </a:prstGeom>
                  <a:solidFill>
                    <a:srgbClr val="8064D8"/>
                  </a:solidFill>
                  <a:ln>
                    <a:noFill/>
                  </a:ln>
                </p:spPr>
              </p:sp>
              <p:sp>
                <p:nvSpPr>
                  <p:cNvPr id="104" name="Ellipse 104"/>
                  <p:cNvSpPr/>
                  <p:nvPr/>
                </p:nvSpPr>
                <p:spPr>
                  <a:xfrm>
                    <a:off x="2390775" y="6010275"/>
                    <a:ext cx="95250" cy="95250"/>
                  </a:xfrm>
                  <a:prstGeom prst="ellipse">
                    <a:avLst/>
                  </a:prstGeom>
                  <a:solidFill>
                    <a:srgbClr val="0B4CA9">
                      <a:alpha val="50000"/>
                    </a:srgbClr>
                  </a:solidFill>
                  <a:ln>
                    <a:noFill/>
                  </a:ln>
                </p:spPr>
              </p:sp>
              <p:sp>
                <p:nvSpPr>
                  <p:cNvPr id="105" name="Ellipse 105"/>
                  <p:cNvSpPr/>
                  <p:nvPr/>
                </p:nvSpPr>
                <p:spPr>
                  <a:xfrm>
                    <a:off x="1819275" y="6200775"/>
                    <a:ext cx="95250" cy="95250"/>
                  </a:xfrm>
                  <a:prstGeom prst="ellipse">
                    <a:avLst/>
                  </a:prstGeom>
                  <a:solidFill>
                    <a:srgbClr val="0B4CA9"/>
                  </a:solidFill>
                  <a:ln>
                    <a:noFill/>
                  </a:ln>
                </p:spPr>
              </p:sp>
              <p:sp>
                <p:nvSpPr>
                  <p:cNvPr id="106" name="Ellipse 106"/>
                  <p:cNvSpPr/>
                  <p:nvPr/>
                </p:nvSpPr>
                <p:spPr>
                  <a:xfrm>
                    <a:off x="2009775" y="6200775"/>
                    <a:ext cx="95250" cy="95250"/>
                  </a:xfrm>
                  <a:prstGeom prst="ellipse">
                    <a:avLst/>
                  </a:prstGeom>
                  <a:solidFill>
                    <a:srgbClr val="8064D8"/>
                  </a:solidFill>
                  <a:ln>
                    <a:noFill/>
                  </a:ln>
                </p:spPr>
              </p:sp>
              <p:sp>
                <p:nvSpPr>
                  <p:cNvPr id="107" name="Ellipse 107"/>
                  <p:cNvSpPr/>
                  <p:nvPr/>
                </p:nvSpPr>
                <p:spPr>
                  <a:xfrm>
                    <a:off x="2200275" y="6200775"/>
                    <a:ext cx="95250" cy="95250"/>
                  </a:xfrm>
                  <a:prstGeom prst="ellipse">
                    <a:avLst/>
                  </a:prstGeom>
                  <a:solidFill>
                    <a:srgbClr val="0B4CA9">
                      <a:alpha val="60000"/>
                    </a:srgbClr>
                  </a:solidFill>
                  <a:ln>
                    <a:noFill/>
                  </a:ln>
                </p:spPr>
              </p:sp>
              <p:sp>
                <p:nvSpPr>
                  <p:cNvPr id="108" name="Ellipse 108"/>
                  <p:cNvSpPr/>
                  <p:nvPr/>
                </p:nvSpPr>
                <p:spPr>
                  <a:xfrm>
                    <a:off x="2390775" y="6200775"/>
                    <a:ext cx="95250" cy="95250"/>
                  </a:xfrm>
                  <a:prstGeom prst="ellipse">
                    <a:avLst/>
                  </a:prstGeom>
                  <a:solidFill>
                    <a:srgbClr val="0B4CA9"/>
                  </a:solidFill>
                  <a:ln>
                    <a:noFill/>
                  </a:ln>
                </p:spPr>
              </p:sp>
              <p:sp>
                <p:nvSpPr>
                  <p:cNvPr id="109" name="Ellipse 109"/>
                  <p:cNvSpPr/>
                  <p:nvPr/>
                </p:nvSpPr>
                <p:spPr>
                  <a:xfrm>
                    <a:off x="1819275" y="6391275"/>
                    <a:ext cx="95250" cy="95250"/>
                  </a:xfrm>
                  <a:prstGeom prst="ellipse">
                    <a:avLst/>
                  </a:prstGeom>
                  <a:solidFill>
                    <a:srgbClr val="8064D8"/>
                  </a:solidFill>
                  <a:ln>
                    <a:noFill/>
                  </a:ln>
                </p:spPr>
              </p:sp>
              <p:sp>
                <p:nvSpPr>
                  <p:cNvPr id="110" name="Ellipse 110"/>
                  <p:cNvSpPr/>
                  <p:nvPr/>
                </p:nvSpPr>
                <p:spPr>
                  <a:xfrm>
                    <a:off x="2009775" y="6391275"/>
                    <a:ext cx="95250" cy="95250"/>
                  </a:xfrm>
                  <a:prstGeom prst="ellipse">
                    <a:avLst/>
                  </a:prstGeom>
                  <a:solidFill>
                    <a:srgbClr val="0B4CA9"/>
                  </a:solidFill>
                  <a:ln>
                    <a:noFill/>
                  </a:ln>
                </p:spPr>
              </p:sp>
              <p:sp>
                <p:nvSpPr>
                  <p:cNvPr id="111" name="Ellipse 111"/>
                  <p:cNvSpPr/>
                  <p:nvPr/>
                </p:nvSpPr>
                <p:spPr>
                  <a:xfrm>
                    <a:off x="2200275" y="6391275"/>
                    <a:ext cx="95250" cy="95250"/>
                  </a:xfrm>
                  <a:prstGeom prst="ellipse">
                    <a:avLst/>
                  </a:prstGeom>
                  <a:solidFill>
                    <a:srgbClr val="0B4CA9"/>
                  </a:solidFill>
                  <a:ln>
                    <a:noFill/>
                  </a:ln>
                </p:spPr>
              </p:sp>
              <p:sp>
                <p:nvSpPr>
                  <p:cNvPr id="112" name="Ellipse 112"/>
                  <p:cNvSpPr/>
                  <p:nvPr/>
                </p:nvSpPr>
                <p:spPr>
                  <a:xfrm>
                    <a:off x="2390775" y="6391275"/>
                    <a:ext cx="95250" cy="95250"/>
                  </a:xfrm>
                  <a:prstGeom prst="ellipse">
                    <a:avLst/>
                  </a:prstGeom>
                  <a:solidFill>
                    <a:srgbClr val="0B4CA9">
                      <a:alpha val="60000"/>
                    </a:srgbClr>
                  </a:solidFill>
                  <a:ln>
                    <a:noFill/>
                  </a:ln>
                </p:spPr>
              </p:sp>
            </p:grpSp>
            <p:grpSp>
              <p:nvGrpSpPr>
                <p:cNvPr id="126" name="Group 126"/>
                <p:cNvGrpSpPr/>
                <p:nvPr/>
              </p:nvGrpSpPr>
              <p:grpSpPr>
                <a:xfrm>
                  <a:off x="3133725" y="6010275"/>
                  <a:ext cx="666750" cy="476250"/>
                  <a:chOff x="3133725" y="6010275"/>
                  <a:chExt cx="666750" cy="476250"/>
                </a:xfrm>
              </p:grpSpPr>
              <p:sp>
                <p:nvSpPr>
                  <p:cNvPr id="114" name="Ellipse 114"/>
                  <p:cNvSpPr/>
                  <p:nvPr/>
                </p:nvSpPr>
                <p:spPr>
                  <a:xfrm>
                    <a:off x="3133725" y="6010275"/>
                    <a:ext cx="95250" cy="95250"/>
                  </a:xfrm>
                  <a:prstGeom prst="ellipse">
                    <a:avLst/>
                  </a:prstGeom>
                  <a:solidFill>
                    <a:srgbClr val="8064D8"/>
                  </a:solidFill>
                  <a:ln>
                    <a:noFill/>
                  </a:ln>
                </p:spPr>
              </p:sp>
              <p:sp>
                <p:nvSpPr>
                  <p:cNvPr id="115" name="Ellipse 115"/>
                  <p:cNvSpPr/>
                  <p:nvPr/>
                </p:nvSpPr>
                <p:spPr>
                  <a:xfrm>
                    <a:off x="3324225" y="6010275"/>
                    <a:ext cx="95250" cy="95250"/>
                  </a:xfrm>
                  <a:prstGeom prst="ellipse">
                    <a:avLst/>
                  </a:prstGeom>
                  <a:solidFill>
                    <a:srgbClr val="0B4CA9"/>
                  </a:solidFill>
                  <a:ln>
                    <a:noFill/>
                  </a:ln>
                </p:spPr>
              </p:sp>
              <p:sp>
                <p:nvSpPr>
                  <p:cNvPr id="116" name="Ellipse 116"/>
                  <p:cNvSpPr/>
                  <p:nvPr/>
                </p:nvSpPr>
                <p:spPr>
                  <a:xfrm>
                    <a:off x="3514725" y="6010275"/>
                    <a:ext cx="95250" cy="95250"/>
                  </a:xfrm>
                  <a:prstGeom prst="ellipse">
                    <a:avLst/>
                  </a:prstGeom>
                  <a:solidFill>
                    <a:srgbClr val="0B4CA9"/>
                  </a:solidFill>
                  <a:ln>
                    <a:noFill/>
                  </a:ln>
                </p:spPr>
              </p:sp>
              <p:sp>
                <p:nvSpPr>
                  <p:cNvPr id="117" name="Ellipse 117"/>
                  <p:cNvSpPr/>
                  <p:nvPr/>
                </p:nvSpPr>
                <p:spPr>
                  <a:xfrm>
                    <a:off x="3705225" y="6010275"/>
                    <a:ext cx="95250" cy="95250"/>
                  </a:xfrm>
                  <a:prstGeom prst="ellipse">
                    <a:avLst/>
                  </a:prstGeom>
                  <a:solidFill>
                    <a:srgbClr val="0B4CA9">
                      <a:alpha val="50000"/>
                    </a:srgbClr>
                  </a:solidFill>
                  <a:ln>
                    <a:noFill/>
                  </a:ln>
                </p:spPr>
              </p:sp>
              <p:sp>
                <p:nvSpPr>
                  <p:cNvPr id="118" name="Ellipse 118"/>
                  <p:cNvSpPr/>
                  <p:nvPr/>
                </p:nvSpPr>
                <p:spPr>
                  <a:xfrm>
                    <a:off x="3133725" y="6200775"/>
                    <a:ext cx="95250" cy="95250"/>
                  </a:xfrm>
                  <a:prstGeom prst="ellipse">
                    <a:avLst/>
                  </a:prstGeom>
                  <a:solidFill>
                    <a:srgbClr val="0B4CA9"/>
                  </a:solidFill>
                  <a:ln>
                    <a:noFill/>
                  </a:ln>
                </p:spPr>
              </p:sp>
              <p:sp>
                <p:nvSpPr>
                  <p:cNvPr id="119" name="Ellipse 119"/>
                  <p:cNvSpPr/>
                  <p:nvPr/>
                </p:nvSpPr>
                <p:spPr>
                  <a:xfrm>
                    <a:off x="3324225" y="6200775"/>
                    <a:ext cx="95250" cy="95250"/>
                  </a:xfrm>
                  <a:prstGeom prst="ellipse">
                    <a:avLst/>
                  </a:prstGeom>
                  <a:solidFill>
                    <a:srgbClr val="8064D8"/>
                  </a:solidFill>
                  <a:ln>
                    <a:noFill/>
                  </a:ln>
                </p:spPr>
              </p:sp>
              <p:sp>
                <p:nvSpPr>
                  <p:cNvPr id="120" name="Ellipse 120"/>
                  <p:cNvSpPr/>
                  <p:nvPr/>
                </p:nvSpPr>
                <p:spPr>
                  <a:xfrm>
                    <a:off x="3514725" y="6200775"/>
                    <a:ext cx="95250" cy="95250"/>
                  </a:xfrm>
                  <a:prstGeom prst="ellipse">
                    <a:avLst/>
                  </a:prstGeom>
                  <a:solidFill>
                    <a:srgbClr val="0B4CA9">
                      <a:alpha val="65000"/>
                    </a:srgbClr>
                  </a:solidFill>
                  <a:ln>
                    <a:noFill/>
                  </a:ln>
                </p:spPr>
              </p:sp>
              <p:sp>
                <p:nvSpPr>
                  <p:cNvPr id="121" name="Ellipse 121"/>
                  <p:cNvSpPr/>
                  <p:nvPr/>
                </p:nvSpPr>
                <p:spPr>
                  <a:xfrm>
                    <a:off x="3705225" y="6200775"/>
                    <a:ext cx="95250" cy="95250"/>
                  </a:xfrm>
                  <a:prstGeom prst="ellipse">
                    <a:avLst/>
                  </a:prstGeom>
                  <a:solidFill>
                    <a:srgbClr val="0B4CA9"/>
                  </a:solidFill>
                  <a:ln>
                    <a:noFill/>
                  </a:ln>
                </p:spPr>
              </p:sp>
              <p:sp>
                <p:nvSpPr>
                  <p:cNvPr id="122" name="Ellipse 122"/>
                  <p:cNvSpPr/>
                  <p:nvPr/>
                </p:nvSpPr>
                <p:spPr>
                  <a:xfrm>
                    <a:off x="3133725" y="6391275"/>
                    <a:ext cx="95250" cy="95250"/>
                  </a:xfrm>
                  <a:prstGeom prst="ellipse">
                    <a:avLst/>
                  </a:prstGeom>
                  <a:solidFill>
                    <a:srgbClr val="8064D8"/>
                  </a:solidFill>
                  <a:ln>
                    <a:noFill/>
                  </a:ln>
                </p:spPr>
              </p:sp>
              <p:sp>
                <p:nvSpPr>
                  <p:cNvPr id="123" name="Ellipse 123"/>
                  <p:cNvSpPr/>
                  <p:nvPr/>
                </p:nvSpPr>
                <p:spPr>
                  <a:xfrm>
                    <a:off x="3324225" y="6391275"/>
                    <a:ext cx="95250" cy="95250"/>
                  </a:xfrm>
                  <a:prstGeom prst="ellipse">
                    <a:avLst/>
                  </a:prstGeom>
                  <a:solidFill>
                    <a:srgbClr val="0B4CA9">
                      <a:alpha val="75000"/>
                    </a:srgbClr>
                  </a:solidFill>
                  <a:ln>
                    <a:noFill/>
                  </a:ln>
                </p:spPr>
              </p:sp>
              <p:sp>
                <p:nvSpPr>
                  <p:cNvPr id="124" name="Ellipse 124"/>
                  <p:cNvSpPr/>
                  <p:nvPr/>
                </p:nvSpPr>
                <p:spPr>
                  <a:xfrm>
                    <a:off x="3514725" y="6391275"/>
                    <a:ext cx="95250" cy="95250"/>
                  </a:xfrm>
                  <a:prstGeom prst="ellipse">
                    <a:avLst/>
                  </a:prstGeom>
                  <a:solidFill>
                    <a:srgbClr val="0B4CA9"/>
                  </a:solidFill>
                  <a:ln>
                    <a:noFill/>
                  </a:ln>
                </p:spPr>
              </p:sp>
              <p:sp>
                <p:nvSpPr>
                  <p:cNvPr id="125" name="Ellipse 125"/>
                  <p:cNvSpPr/>
                  <p:nvPr/>
                </p:nvSpPr>
                <p:spPr>
                  <a:xfrm>
                    <a:off x="3705225" y="6391275"/>
                    <a:ext cx="95250" cy="95250"/>
                  </a:xfrm>
                  <a:prstGeom prst="ellipse">
                    <a:avLst/>
                  </a:prstGeom>
                  <a:solidFill>
                    <a:srgbClr val="0B4CA9"/>
                  </a:solidFill>
                  <a:ln>
                    <a:noFill/>
                  </a:ln>
                </p:spPr>
              </p:sp>
            </p:grpSp>
          </p:grpSp>
          <p:sp>
            <p:nvSpPr>
              <p:cNvPr id="128" name="TextBox 128"/>
              <p:cNvSpPr txBox="1"/>
              <p:nvPr/>
            </p:nvSpPr>
            <p:spPr>
              <a:xfrm>
                <a:off x="277070" y="6875621"/>
                <a:ext cx="3751159" cy="289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425" b="1" dirty="0">
                    <a:solidFill>
                      <a:srgbClr val="11254A"/>
                    </a:solidFill>
                    <a:latin typeface="Noto Sans CJK SC"/>
                    <a:ea typeface="Microsoft YaHei"/>
                    <a:cs typeface="Noto Sans CJK SC"/>
                  </a:rPr>
                  <a:t>同一数值、不同坐标轴的关系也不显式</a:t>
                </a:r>
              </a:p>
            </p:txBody>
          </p:sp>
        </p:grpSp>
      </p:grpSp>
      <p:sp>
        <p:nvSpPr>
          <p:cNvPr id="131" name="Freeform 131"/>
          <p:cNvSpPr/>
          <p:nvPr/>
        </p:nvSpPr>
        <p:spPr>
          <a:xfrm>
            <a:off x="4171950" y="3886200"/>
            <a:ext cx="304800" cy="9525"/>
          </a:xfrm>
          <a:custGeom>
            <a:avLst/>
            <a:gdLst/>
            <a:ahLst/>
            <a:cxnLst/>
            <a:rect l="l" t="t" r="r" b="b"/>
            <a:pathLst>
              <a:path w="304800" h="9525">
                <a:moveTo>
                  <a:pt x="0" y="0"/>
                </a:moveTo>
                <a:lnTo>
                  <a:pt x="304800" y="0"/>
                </a:lnTo>
              </a:path>
            </a:pathLst>
          </a:custGeom>
          <a:solidFill>
            <a:srgbClr val="000000"/>
          </a:solidFill>
          <a:ln w="133350">
            <a:solidFill>
              <a:srgbClr val="0A58C7"/>
            </a:solidFill>
          </a:ln>
        </p:spPr>
      </p:sp>
      <p:grpSp>
        <p:nvGrpSpPr>
          <p:cNvPr id="212" name="Group 212"/>
          <p:cNvGrpSpPr/>
          <p:nvPr/>
        </p:nvGrpSpPr>
        <p:grpSpPr>
          <a:xfrm>
            <a:off x="4552950" y="876300"/>
            <a:ext cx="7807547" cy="6629400"/>
            <a:chOff x="4552950" y="876300"/>
            <a:chExt cx="7807547" cy="6629400"/>
          </a:xfrm>
        </p:grpSpPr>
        <p:sp>
          <p:nvSpPr>
            <p:cNvPr id="132" name="Freeform 132"/>
            <p:cNvSpPr/>
            <p:nvPr/>
          </p:nvSpPr>
          <p:spPr>
            <a:xfrm>
              <a:off x="4552950" y="876300"/>
              <a:ext cx="6496050" cy="6629400"/>
            </a:xfrm>
            <a:custGeom>
              <a:avLst/>
              <a:gdLst/>
              <a:ahLst/>
              <a:cxnLst/>
              <a:rect l="l" t="t" r="r" b="b"/>
              <a:pathLst>
                <a:path w="6496050" h="6629400">
                  <a:moveTo>
                    <a:pt x="114300" y="0"/>
                  </a:moveTo>
                  <a:lnTo>
                    <a:pt x="6381750" y="0"/>
                  </a:lnTo>
                  <a:cubicBezTo>
                    <a:pt x="6444876" y="0"/>
                    <a:pt x="6496050" y="51174"/>
                    <a:pt x="6496050" y="114300"/>
                  </a:cubicBezTo>
                  <a:lnTo>
                    <a:pt x="6496050" y="6515100"/>
                  </a:lnTo>
                  <a:cubicBezTo>
                    <a:pt x="6496050" y="6578226"/>
                    <a:pt x="6444876" y="6629400"/>
                    <a:pt x="6381750" y="6629400"/>
                  </a:cubicBezTo>
                  <a:lnTo>
                    <a:pt x="114300" y="6629400"/>
                  </a:lnTo>
                  <a:cubicBezTo>
                    <a:pt x="51174" y="6629400"/>
                    <a:pt x="0" y="6578226"/>
                    <a:pt x="0" y="65151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gradFill>
              <a:gsLst>
                <a:gs pos="0">
                  <a:srgbClr val="F2FFFF"/>
                </a:gs>
                <a:gs pos="100000">
                  <a:srgbClr val="FFFFFF"/>
                </a:gs>
              </a:gsLst>
              <a:lin ang="5400000" scaled="1"/>
            </a:gradFill>
            <a:ln w="19050">
              <a:solidFill>
                <a:srgbClr val="087C84"/>
              </a:solidFill>
            </a:ln>
            <a:effectLst>
              <a:glow rad="76200">
                <a:srgbClr val="000000">
                  <a:alpha val="30000"/>
                </a:srgbClr>
              </a:glow>
            </a:effectLst>
          </p:spPr>
        </p:sp>
        <p:sp>
          <p:nvSpPr>
            <p:cNvPr id="133" name="Freeform 133"/>
            <p:cNvSpPr/>
            <p:nvPr/>
          </p:nvSpPr>
          <p:spPr>
            <a:xfrm>
              <a:off x="4552950" y="876300"/>
              <a:ext cx="6496050" cy="495300"/>
            </a:xfrm>
            <a:custGeom>
              <a:avLst/>
              <a:gdLst/>
              <a:ahLst/>
              <a:cxnLst/>
              <a:rect l="l" t="t" r="r" b="b"/>
              <a:pathLst>
                <a:path w="6496050" h="495300">
                  <a:moveTo>
                    <a:pt x="114300" y="0"/>
                  </a:moveTo>
                  <a:lnTo>
                    <a:pt x="6381750" y="0"/>
                  </a:lnTo>
                  <a:cubicBezTo>
                    <a:pt x="6444876" y="0"/>
                    <a:pt x="6496050" y="51174"/>
                    <a:pt x="6496050" y="114300"/>
                  </a:cubicBezTo>
                  <a:lnTo>
                    <a:pt x="6496050" y="381000"/>
                  </a:lnTo>
                  <a:cubicBezTo>
                    <a:pt x="6496050" y="444126"/>
                    <a:pt x="6444876" y="495300"/>
                    <a:pt x="6381750" y="495300"/>
                  </a:cubicBezTo>
                  <a:lnTo>
                    <a:pt x="114300" y="495300"/>
                  </a:lnTo>
                  <a:cubicBezTo>
                    <a:pt x="51174" y="495300"/>
                    <a:pt x="0" y="444126"/>
                    <a:pt x="0" y="3810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gradFill>
              <a:gsLst>
                <a:gs pos="0">
                  <a:srgbClr val="08787C"/>
                </a:gs>
                <a:gs pos="100000">
                  <a:srgbClr val="029191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34" name="Ellipse 134"/>
            <p:cNvSpPr/>
            <p:nvPr/>
          </p:nvSpPr>
          <p:spPr>
            <a:xfrm>
              <a:off x="6448425" y="942975"/>
              <a:ext cx="361950" cy="3619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5" name="TextBox 135"/>
            <p:cNvSpPr txBox="1"/>
            <p:nvPr/>
          </p:nvSpPr>
          <p:spPr>
            <a:xfrm>
              <a:off x="6505938" y="966788"/>
              <a:ext cx="246924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087C84"/>
                  </a:solidFill>
                  <a:latin typeface="Segoe UI"/>
                  <a:ea typeface="Microsoft YaHei"/>
                  <a:cs typeface="Segoe UI"/>
                </a:rPr>
                <a:t>2</a:t>
              </a:r>
            </a:p>
          </p:txBody>
        </p:sp>
        <p:sp>
          <p:nvSpPr>
            <p:cNvPr id="136" name="TextBox 136"/>
            <p:cNvSpPr txBox="1"/>
            <p:nvPr/>
          </p:nvSpPr>
          <p:spPr>
            <a:xfrm>
              <a:off x="6985635" y="980122"/>
              <a:ext cx="218764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0000"/>
                  </a:solidFill>
                  <a:latin typeface="Noto Sans CJK SC"/>
                  <a:ea typeface="Microsoft YaHei"/>
                  <a:cs typeface="Noto Sans CJK SC"/>
                </a:rPr>
                <a:t>HMN 初始化过程</a:t>
              </a:r>
            </a:p>
          </p:txBody>
        </p:sp>
        <p:sp>
          <p:nvSpPr>
            <p:cNvPr id="137" name="Freeform 137"/>
            <p:cNvSpPr/>
            <p:nvPr/>
          </p:nvSpPr>
          <p:spPr>
            <a:xfrm>
              <a:off x="5848350" y="1524000"/>
              <a:ext cx="3924300" cy="419100"/>
            </a:xfrm>
            <a:custGeom>
              <a:avLst/>
              <a:gdLst/>
              <a:ahLst/>
              <a:cxnLst/>
              <a:rect l="l" t="t" r="r" b="b"/>
              <a:pathLst>
                <a:path w="3924300" h="419100">
                  <a:moveTo>
                    <a:pt x="57150" y="0"/>
                  </a:moveTo>
                  <a:lnTo>
                    <a:pt x="3867150" y="0"/>
                  </a:lnTo>
                  <a:cubicBezTo>
                    <a:pt x="3898713" y="0"/>
                    <a:pt x="3924300" y="25587"/>
                    <a:pt x="3924300" y="57150"/>
                  </a:cubicBezTo>
                  <a:lnTo>
                    <a:pt x="3924300" y="361950"/>
                  </a:lnTo>
                  <a:cubicBezTo>
                    <a:pt x="3924300" y="393513"/>
                    <a:pt x="3898713" y="419100"/>
                    <a:pt x="3867150" y="419100"/>
                  </a:cubicBezTo>
                  <a:lnTo>
                    <a:pt x="57150" y="419100"/>
                  </a:lnTo>
                  <a:cubicBezTo>
                    <a:pt x="25587" y="419100"/>
                    <a:pt x="0" y="393513"/>
                    <a:pt x="0" y="3619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087C84"/>
              </a:solidFill>
            </a:ln>
          </p:spPr>
        </p:sp>
        <p:sp>
          <p:nvSpPr>
            <p:cNvPr id="138" name="TextBox 138"/>
            <p:cNvSpPr txBox="1"/>
            <p:nvPr/>
          </p:nvSpPr>
          <p:spPr>
            <a:xfrm>
              <a:off x="5803247" y="1622108"/>
              <a:ext cx="401450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11827"/>
                  </a:solidFill>
                  <a:latin typeface="Consolas"/>
                  <a:ea typeface="Microsoft YaHei"/>
                  <a:cs typeface="Consolas"/>
                </a:rPr>
                <a:t>坐标 token: &lt;X_i&gt; / &lt;Y_i&gt; / &lt;Z_i&gt;</a:t>
              </a:r>
            </a:p>
          </p:txBody>
        </p:sp>
        <p:sp>
          <p:nvSpPr>
            <p:cNvPr id="139" name="Freeform 139"/>
            <p:cNvSpPr/>
            <p:nvPr/>
          </p:nvSpPr>
          <p:spPr>
            <a:xfrm>
              <a:off x="5219700" y="1943100"/>
              <a:ext cx="2590800" cy="514350"/>
            </a:xfrm>
            <a:custGeom>
              <a:avLst/>
              <a:gdLst/>
              <a:ahLst/>
              <a:cxnLst/>
              <a:rect l="l" t="t" r="r" b="b"/>
              <a:pathLst>
                <a:path w="2590800" h="514350">
                  <a:moveTo>
                    <a:pt x="2590800" y="0"/>
                  </a:moveTo>
                  <a:lnTo>
                    <a:pt x="2590800" y="247650"/>
                  </a:lnTo>
                  <a:lnTo>
                    <a:pt x="0" y="247650"/>
                  </a:lnTo>
                  <a:lnTo>
                    <a:pt x="0" y="514350"/>
                  </a:lnTo>
                </a:path>
              </a:pathLst>
            </a:custGeom>
            <a:noFill/>
            <a:ln w="28575">
              <a:solidFill>
                <a:srgbClr val="0B6770"/>
              </a:solidFill>
            </a:ln>
          </p:spPr>
        </p:sp>
        <p:sp>
          <p:nvSpPr>
            <p:cNvPr id="140" name="Freeform 140"/>
            <p:cNvSpPr/>
            <p:nvPr/>
          </p:nvSpPr>
          <p:spPr>
            <a:xfrm>
              <a:off x="6677025" y="1943100"/>
              <a:ext cx="1133475" cy="514350"/>
            </a:xfrm>
            <a:custGeom>
              <a:avLst/>
              <a:gdLst/>
              <a:ahLst/>
              <a:cxnLst/>
              <a:rect l="l" t="t" r="r" b="b"/>
              <a:pathLst>
                <a:path w="1133475" h="514350">
                  <a:moveTo>
                    <a:pt x="1133475" y="0"/>
                  </a:moveTo>
                  <a:lnTo>
                    <a:pt x="1133475" y="247650"/>
                  </a:lnTo>
                  <a:lnTo>
                    <a:pt x="0" y="247650"/>
                  </a:lnTo>
                  <a:lnTo>
                    <a:pt x="0" y="514350"/>
                  </a:lnTo>
                </a:path>
              </a:pathLst>
            </a:custGeom>
            <a:noFill/>
            <a:ln w="28575">
              <a:solidFill>
                <a:srgbClr val="0B6770"/>
              </a:solidFill>
            </a:ln>
          </p:spPr>
        </p:sp>
        <p:sp>
          <p:nvSpPr>
            <p:cNvPr id="141" name="Freeform 141"/>
            <p:cNvSpPr/>
            <p:nvPr/>
          </p:nvSpPr>
          <p:spPr>
            <a:xfrm>
              <a:off x="7810500" y="1943100"/>
              <a:ext cx="619125" cy="514350"/>
            </a:xfrm>
            <a:custGeom>
              <a:avLst/>
              <a:gdLst/>
              <a:ahLst/>
              <a:cxnLst/>
              <a:rect l="l" t="t" r="r" b="b"/>
              <a:pathLst>
                <a:path w="619125" h="514350">
                  <a:moveTo>
                    <a:pt x="0" y="0"/>
                  </a:moveTo>
                  <a:lnTo>
                    <a:pt x="0" y="247650"/>
                  </a:lnTo>
                  <a:lnTo>
                    <a:pt x="619125" y="247650"/>
                  </a:lnTo>
                  <a:lnTo>
                    <a:pt x="619125" y="514350"/>
                  </a:lnTo>
                </a:path>
              </a:pathLst>
            </a:custGeom>
            <a:noFill/>
            <a:ln w="28575">
              <a:solidFill>
                <a:srgbClr val="0B6770"/>
              </a:solidFill>
            </a:ln>
          </p:spPr>
        </p:sp>
        <p:sp>
          <p:nvSpPr>
            <p:cNvPr id="142" name="Freeform 142"/>
            <p:cNvSpPr/>
            <p:nvPr/>
          </p:nvSpPr>
          <p:spPr>
            <a:xfrm>
              <a:off x="7810500" y="1943100"/>
              <a:ext cx="2362200" cy="514350"/>
            </a:xfrm>
            <a:custGeom>
              <a:avLst/>
              <a:gdLst/>
              <a:ahLst/>
              <a:cxnLst/>
              <a:rect l="l" t="t" r="r" b="b"/>
              <a:pathLst>
                <a:path w="2362200" h="514350">
                  <a:moveTo>
                    <a:pt x="0" y="0"/>
                  </a:moveTo>
                  <a:lnTo>
                    <a:pt x="0" y="247650"/>
                  </a:lnTo>
                  <a:lnTo>
                    <a:pt x="2362200" y="247650"/>
                  </a:lnTo>
                  <a:lnTo>
                    <a:pt x="2362200" y="514350"/>
                  </a:lnTo>
                </a:path>
              </a:pathLst>
            </a:custGeom>
            <a:noFill/>
            <a:ln w="28575">
              <a:solidFill>
                <a:srgbClr val="0B6770"/>
              </a:solidFill>
            </a:ln>
          </p:spPr>
        </p:sp>
        <p:grpSp>
          <p:nvGrpSpPr>
            <p:cNvPr id="151" name="Group 151"/>
            <p:cNvGrpSpPr/>
            <p:nvPr/>
          </p:nvGrpSpPr>
          <p:grpSpPr>
            <a:xfrm>
              <a:off x="4667250" y="2495550"/>
              <a:ext cx="1598914" cy="2552700"/>
              <a:chOff x="4667250" y="2495550"/>
              <a:chExt cx="1598914" cy="2552700"/>
            </a:xfrm>
          </p:grpSpPr>
          <p:sp>
            <p:nvSpPr>
              <p:cNvPr id="143" name="Freeform 143"/>
              <p:cNvSpPr/>
              <p:nvPr/>
            </p:nvSpPr>
            <p:spPr>
              <a:xfrm>
                <a:off x="4667250" y="2495550"/>
                <a:ext cx="1200150" cy="2552700"/>
              </a:xfrm>
              <a:custGeom>
                <a:avLst/>
                <a:gdLst/>
                <a:ahLst/>
                <a:cxnLst/>
                <a:rect l="l" t="t" r="r" b="b"/>
                <a:pathLst>
                  <a:path w="1200150" h="2552700">
                    <a:moveTo>
                      <a:pt x="76200" y="0"/>
                    </a:moveTo>
                    <a:lnTo>
                      <a:pt x="1123950" y="0"/>
                    </a:lnTo>
                    <a:cubicBezTo>
                      <a:pt x="1166034" y="0"/>
                      <a:pt x="1200150" y="34116"/>
                      <a:pt x="1200150" y="76200"/>
                    </a:cubicBezTo>
                    <a:lnTo>
                      <a:pt x="1200150" y="2476500"/>
                    </a:lnTo>
                    <a:cubicBezTo>
                      <a:pt x="1200150" y="2518584"/>
                      <a:pt x="1166034" y="2552700"/>
                      <a:pt x="1123950" y="2552700"/>
                    </a:cubicBezTo>
                    <a:lnTo>
                      <a:pt x="76200" y="2552700"/>
                    </a:lnTo>
                    <a:cubicBezTo>
                      <a:pt x="34116" y="2552700"/>
                      <a:pt x="0" y="2518584"/>
                      <a:pt x="0" y="24765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87C84"/>
                </a:solidFill>
              </a:ln>
            </p:spPr>
          </p:sp>
          <p:sp>
            <p:nvSpPr>
              <p:cNvPr id="144" name="Ellipse 144"/>
              <p:cNvSpPr/>
              <p:nvPr/>
            </p:nvSpPr>
            <p:spPr>
              <a:xfrm>
                <a:off x="4733925" y="2581275"/>
                <a:ext cx="247650" cy="247650"/>
              </a:xfrm>
              <a:prstGeom prst="ellipse">
                <a:avLst/>
              </a:prstGeom>
              <a:solidFill>
                <a:srgbClr val="087C84"/>
              </a:solidFill>
              <a:ln>
                <a:noFill/>
              </a:ln>
            </p:spPr>
          </p:sp>
          <p:sp>
            <p:nvSpPr>
              <p:cNvPr id="145" name="TextBox 145"/>
              <p:cNvSpPr txBox="1"/>
              <p:nvPr/>
            </p:nvSpPr>
            <p:spPr>
              <a:xfrm>
                <a:off x="4783673" y="2635568"/>
                <a:ext cx="14815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A</a:t>
                </a:r>
              </a:p>
            </p:txBody>
          </p:sp>
          <p:sp>
            <p:nvSpPr>
              <p:cNvPr id="146" name="TextBox 146"/>
              <p:cNvSpPr txBox="1"/>
              <p:nvPr/>
            </p:nvSpPr>
            <p:spPr>
              <a:xfrm>
                <a:off x="5060632" y="2624614"/>
                <a:ext cx="120553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087C84"/>
                    </a:solidFill>
                    <a:latin typeface="Noto Sans CJK SC"/>
                    <a:ea typeface="Microsoft YaHei"/>
                    <a:cs typeface="Noto Sans CJK SC"/>
                  </a:rPr>
                  <a:t>全局均值向量</a:t>
                </a:r>
              </a:p>
            </p:txBody>
          </p:sp>
          <p:sp>
            <p:nvSpPr>
              <p:cNvPr id="147" name="TextBox 147"/>
              <p:cNvSpPr txBox="1"/>
              <p:nvPr/>
            </p:nvSpPr>
            <p:spPr>
              <a:xfrm>
                <a:off x="4736937" y="3235166"/>
                <a:ext cx="1060775" cy="4724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325" i="1" dirty="0">
                    <a:solidFill>
                      <a:srgbClr val="111111"/>
                    </a:solidFill>
                    <a:latin typeface="Times New Roman"/>
                    <a:ea typeface="SimSun"/>
                    <a:cs typeface="Times New Roman"/>
                  </a:rPr>
                  <a:t>E</a:t>
                </a:r>
                <a:r>
                  <a:rPr lang="zh-CN" sz="1275" i="1" dirty="0">
                    <a:solidFill>
                      <a:srgbClr val="111111"/>
                    </a:solidFill>
                    <a:latin typeface="Times New Roman"/>
                    <a:ea typeface="SimSun"/>
                    <a:cs typeface="Times New Roman"/>
                  </a:rPr>
                  <a:t>mean</a:t>
                </a:r>
              </a:p>
            </p:txBody>
          </p:sp>
          <p:sp>
            <p:nvSpPr>
              <p:cNvPr id="148" name="TextBox 148"/>
              <p:cNvSpPr txBox="1"/>
              <p:nvPr/>
            </p:nvSpPr>
            <p:spPr>
              <a:xfrm>
                <a:off x="4728924" y="3770471"/>
                <a:ext cx="1076801" cy="289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425" dirty="0">
                    <a:solidFill>
                      <a:srgbClr val="11254A"/>
                    </a:solidFill>
                    <a:latin typeface="Noto Sans CJK SC"/>
                    <a:ea typeface="Microsoft YaHei"/>
                    <a:cs typeface="Noto Sans CJK SC"/>
                  </a:rPr>
                  <a:t>来自预训练</a:t>
                </a:r>
              </a:p>
            </p:txBody>
          </p:sp>
          <p:sp>
            <p:nvSpPr>
              <p:cNvPr id="149" name="TextBox 149"/>
              <p:cNvSpPr txBox="1"/>
              <p:nvPr/>
            </p:nvSpPr>
            <p:spPr>
              <a:xfrm>
                <a:off x="4739330" y="4018121"/>
                <a:ext cx="1055989" cy="289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425" dirty="0">
                    <a:solidFill>
                      <a:srgbClr val="11254A"/>
                    </a:solidFill>
                    <a:latin typeface="Noto Sans CJK SC"/>
                    <a:ea typeface="Microsoft YaHei"/>
                    <a:cs typeface="Noto Sans CJK SC"/>
                  </a:rPr>
                  <a:t>embedding</a:t>
                </a:r>
              </a:p>
            </p:txBody>
          </p:sp>
          <p:sp>
            <p:nvSpPr>
              <p:cNvPr id="150" name="TextBox 150"/>
              <p:cNvSpPr txBox="1"/>
              <p:nvPr/>
            </p:nvSpPr>
            <p:spPr>
              <a:xfrm>
                <a:off x="4832985" y="4265771"/>
                <a:ext cx="868680" cy="289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425" dirty="0">
                    <a:solidFill>
                      <a:srgbClr val="11254A"/>
                    </a:solidFill>
                    <a:latin typeface="Noto Sans CJK SC"/>
                    <a:ea typeface="Microsoft YaHei"/>
                    <a:cs typeface="Noto Sans CJK SC"/>
                  </a:rPr>
                  <a:t>分布中心</a:t>
                </a:r>
              </a:p>
            </p:txBody>
          </p:sp>
        </p:grpSp>
        <p:grpSp>
          <p:nvGrpSpPr>
            <p:cNvPr id="168" name="Group 168"/>
            <p:cNvGrpSpPr/>
            <p:nvPr/>
          </p:nvGrpSpPr>
          <p:grpSpPr>
            <a:xfrm>
              <a:off x="5962650" y="2495550"/>
              <a:ext cx="1665590" cy="2569369"/>
              <a:chOff x="5962650" y="2495550"/>
              <a:chExt cx="1665590" cy="2569369"/>
            </a:xfrm>
          </p:grpSpPr>
          <p:sp>
            <p:nvSpPr>
              <p:cNvPr id="152" name="Freeform 152"/>
              <p:cNvSpPr/>
              <p:nvPr/>
            </p:nvSpPr>
            <p:spPr>
              <a:xfrm>
                <a:off x="5962650" y="2495550"/>
                <a:ext cx="1466850" cy="2552700"/>
              </a:xfrm>
              <a:custGeom>
                <a:avLst/>
                <a:gdLst/>
                <a:ahLst/>
                <a:cxnLst/>
                <a:rect l="l" t="t" r="r" b="b"/>
                <a:pathLst>
                  <a:path w="1466850" h="2552700">
                    <a:moveTo>
                      <a:pt x="76200" y="0"/>
                    </a:moveTo>
                    <a:lnTo>
                      <a:pt x="1390650" y="0"/>
                    </a:lnTo>
                    <a:cubicBezTo>
                      <a:pt x="1432734" y="0"/>
                      <a:pt x="1466850" y="34116"/>
                      <a:pt x="1466850" y="76200"/>
                    </a:cubicBezTo>
                    <a:lnTo>
                      <a:pt x="1466850" y="2476500"/>
                    </a:lnTo>
                    <a:cubicBezTo>
                      <a:pt x="1466850" y="2518584"/>
                      <a:pt x="1432734" y="2552700"/>
                      <a:pt x="1390650" y="2552700"/>
                    </a:cubicBezTo>
                    <a:lnTo>
                      <a:pt x="76200" y="2552700"/>
                    </a:lnTo>
                    <a:cubicBezTo>
                      <a:pt x="34116" y="2552700"/>
                      <a:pt x="0" y="2518584"/>
                      <a:pt x="0" y="24765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87C84"/>
                </a:solidFill>
              </a:ln>
            </p:spPr>
          </p:sp>
          <p:sp>
            <p:nvSpPr>
              <p:cNvPr id="153" name="Ellipse 153"/>
              <p:cNvSpPr/>
              <p:nvPr/>
            </p:nvSpPr>
            <p:spPr>
              <a:xfrm>
                <a:off x="6048375" y="2581275"/>
                <a:ext cx="247650" cy="247650"/>
              </a:xfrm>
              <a:prstGeom prst="ellipse">
                <a:avLst/>
              </a:prstGeom>
              <a:solidFill>
                <a:srgbClr val="087C84"/>
              </a:solidFill>
              <a:ln>
                <a:noFill/>
              </a:ln>
            </p:spPr>
          </p:sp>
          <p:sp>
            <p:nvSpPr>
              <p:cNvPr id="154" name="TextBox 154"/>
              <p:cNvSpPr txBox="1"/>
              <p:nvPr/>
            </p:nvSpPr>
            <p:spPr>
              <a:xfrm>
                <a:off x="6098123" y="2635568"/>
                <a:ext cx="14815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B</a:t>
                </a:r>
              </a:p>
            </p:txBody>
          </p:sp>
          <p:sp>
            <p:nvSpPr>
              <p:cNvPr id="155" name="TextBox 155"/>
              <p:cNvSpPr txBox="1"/>
              <p:nvPr/>
            </p:nvSpPr>
            <p:spPr>
              <a:xfrm>
                <a:off x="6422708" y="2624614"/>
                <a:ext cx="120553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087C84"/>
                    </a:solidFill>
                    <a:latin typeface="Noto Sans CJK SC"/>
                    <a:ea typeface="Microsoft YaHei"/>
                    <a:cs typeface="Noto Sans CJK SC"/>
                  </a:rPr>
                  <a:t>轴向语义向量</a:t>
                </a:r>
              </a:p>
            </p:txBody>
          </p:sp>
          <p:sp>
            <p:nvSpPr>
              <p:cNvPr id="156" name="Freeform 156"/>
              <p:cNvSpPr/>
              <p:nvPr/>
            </p:nvSpPr>
            <p:spPr>
              <a:xfrm>
                <a:off x="6096000" y="2990850"/>
                <a:ext cx="381000" cy="36195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361950">
                    <a:moveTo>
                      <a:pt x="47625" y="0"/>
                    </a:moveTo>
                    <a:lnTo>
                      <a:pt x="333375" y="0"/>
                    </a:lnTo>
                    <a:cubicBezTo>
                      <a:pt x="359678" y="0"/>
                      <a:pt x="381000" y="21322"/>
                      <a:pt x="381000" y="47625"/>
                    </a:cubicBezTo>
                    <a:lnTo>
                      <a:pt x="381000" y="314325"/>
                    </a:lnTo>
                    <a:cubicBezTo>
                      <a:pt x="381000" y="340628"/>
                      <a:pt x="359678" y="361950"/>
                      <a:pt x="333375" y="361950"/>
                    </a:cubicBezTo>
                    <a:lnTo>
                      <a:pt x="47625" y="361950"/>
                    </a:lnTo>
                    <a:cubicBezTo>
                      <a:pt x="21322" y="361950"/>
                      <a:pt x="0" y="340628"/>
                      <a:pt x="0" y="314325"/>
                    </a:cubicBez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close/>
                  </a:path>
                </a:pathLst>
              </a:custGeom>
              <a:solidFill>
                <a:srgbClr val="EEF5FF"/>
              </a:solidFill>
              <a:ln w="19050">
                <a:solidFill>
                  <a:srgbClr val="3177DF"/>
                </a:solidFill>
              </a:ln>
            </p:spPr>
          </p:sp>
          <p:sp>
            <p:nvSpPr>
              <p:cNvPr id="157" name="Freeform 157"/>
              <p:cNvSpPr/>
              <p:nvPr/>
            </p:nvSpPr>
            <p:spPr>
              <a:xfrm>
                <a:off x="6553200" y="2990850"/>
                <a:ext cx="381000" cy="36195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361950">
                    <a:moveTo>
                      <a:pt x="47625" y="0"/>
                    </a:moveTo>
                    <a:lnTo>
                      <a:pt x="333375" y="0"/>
                    </a:lnTo>
                    <a:cubicBezTo>
                      <a:pt x="359678" y="0"/>
                      <a:pt x="381000" y="21322"/>
                      <a:pt x="381000" y="47625"/>
                    </a:cubicBezTo>
                    <a:lnTo>
                      <a:pt x="381000" y="314325"/>
                    </a:lnTo>
                    <a:cubicBezTo>
                      <a:pt x="381000" y="340628"/>
                      <a:pt x="359678" y="361950"/>
                      <a:pt x="333375" y="361950"/>
                    </a:cubicBezTo>
                    <a:lnTo>
                      <a:pt x="47625" y="361950"/>
                    </a:lnTo>
                    <a:cubicBezTo>
                      <a:pt x="21322" y="361950"/>
                      <a:pt x="0" y="340628"/>
                      <a:pt x="0" y="314325"/>
                    </a:cubicBez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close/>
                  </a:path>
                </a:pathLst>
              </a:custGeom>
              <a:solidFill>
                <a:srgbClr val="F4EFFF"/>
              </a:solidFill>
              <a:ln w="19050">
                <a:solidFill>
                  <a:srgbClr val="8065D8"/>
                </a:solidFill>
              </a:ln>
            </p:spPr>
          </p:sp>
          <p:sp>
            <p:nvSpPr>
              <p:cNvPr id="158" name="Freeform 158"/>
              <p:cNvSpPr/>
              <p:nvPr/>
            </p:nvSpPr>
            <p:spPr>
              <a:xfrm>
                <a:off x="7010400" y="2990850"/>
                <a:ext cx="381000" cy="36195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361950">
                    <a:moveTo>
                      <a:pt x="47625" y="0"/>
                    </a:moveTo>
                    <a:lnTo>
                      <a:pt x="333375" y="0"/>
                    </a:lnTo>
                    <a:cubicBezTo>
                      <a:pt x="359678" y="0"/>
                      <a:pt x="381000" y="21322"/>
                      <a:pt x="381000" y="47625"/>
                    </a:cubicBezTo>
                    <a:lnTo>
                      <a:pt x="381000" y="314325"/>
                    </a:lnTo>
                    <a:cubicBezTo>
                      <a:pt x="381000" y="340628"/>
                      <a:pt x="359678" y="361950"/>
                      <a:pt x="333375" y="361950"/>
                    </a:cubicBezTo>
                    <a:lnTo>
                      <a:pt x="47625" y="361950"/>
                    </a:lnTo>
                    <a:cubicBezTo>
                      <a:pt x="21322" y="361950"/>
                      <a:pt x="0" y="340628"/>
                      <a:pt x="0" y="314325"/>
                    </a:cubicBez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close/>
                  </a:path>
                </a:pathLst>
              </a:custGeom>
              <a:solidFill>
                <a:srgbClr val="F0FFF7"/>
              </a:solidFill>
              <a:ln w="19050">
                <a:solidFill>
                  <a:srgbClr val="169966"/>
                </a:solidFill>
              </a:ln>
            </p:spPr>
          </p:sp>
          <p:sp>
            <p:nvSpPr>
              <p:cNvPr id="159" name="TextBox 159"/>
              <p:cNvSpPr txBox="1"/>
              <p:nvPr/>
            </p:nvSpPr>
            <p:spPr>
              <a:xfrm>
                <a:off x="6089178" y="3076575"/>
                <a:ext cx="39464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3177DF"/>
                    </a:solidFill>
                    <a:latin typeface="Segoe UI"/>
                    <a:ea typeface="Microsoft YaHei"/>
                    <a:cs typeface="Segoe UI"/>
                  </a:rPr>
                  <a:t>X轴</a:t>
                </a:r>
              </a:p>
            </p:txBody>
          </p:sp>
          <p:sp>
            <p:nvSpPr>
              <p:cNvPr id="160" name="TextBox 160"/>
              <p:cNvSpPr txBox="1"/>
              <p:nvPr/>
            </p:nvSpPr>
            <p:spPr>
              <a:xfrm>
                <a:off x="6546378" y="3076575"/>
                <a:ext cx="39464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8065D8"/>
                    </a:solidFill>
                    <a:latin typeface="Segoe UI"/>
                    <a:ea typeface="Microsoft YaHei"/>
                    <a:cs typeface="Segoe UI"/>
                  </a:rPr>
                  <a:t>Y轴</a:t>
                </a:r>
              </a:p>
            </p:txBody>
          </p:sp>
          <p:sp>
            <p:nvSpPr>
              <p:cNvPr id="161" name="TextBox 161"/>
              <p:cNvSpPr txBox="1"/>
              <p:nvPr/>
            </p:nvSpPr>
            <p:spPr>
              <a:xfrm>
                <a:off x="7003578" y="3076575"/>
                <a:ext cx="39464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69966"/>
                    </a:solidFill>
                    <a:latin typeface="Segoe UI"/>
                    <a:ea typeface="Microsoft YaHei"/>
                    <a:cs typeface="Segoe UI"/>
                  </a:rPr>
                  <a:t>Z轴</a:t>
                </a:r>
              </a:p>
            </p:txBody>
          </p:sp>
          <p:sp>
            <p:nvSpPr>
              <p:cNvPr id="162" name="TextBox 162"/>
              <p:cNvSpPr txBox="1"/>
              <p:nvPr/>
            </p:nvSpPr>
            <p:spPr>
              <a:xfrm>
                <a:off x="6186011" y="3549968"/>
                <a:ext cx="102012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11254A"/>
                    </a:solidFill>
                    <a:latin typeface="Noto Sans CJK SC"/>
                    <a:ea typeface="Microsoft YaHei"/>
                    <a:cs typeface="Noto Sans CJK SC"/>
                  </a:rPr>
                  <a:t>由自然语言</a:t>
                </a:r>
              </a:p>
            </p:txBody>
          </p:sp>
          <p:sp>
            <p:nvSpPr>
              <p:cNvPr id="163" name="TextBox 163"/>
              <p:cNvSpPr txBox="1"/>
              <p:nvPr/>
            </p:nvSpPr>
            <p:spPr>
              <a:xfrm>
                <a:off x="6087428" y="3797618"/>
                <a:ext cx="121729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11254A"/>
                    </a:solidFill>
                    <a:latin typeface="Noto Sans CJK SC"/>
                    <a:ea typeface="Microsoft YaHei"/>
                    <a:cs typeface="Noto Sans CJK SC"/>
                  </a:rPr>
                  <a:t>语义均值得到</a:t>
                </a:r>
              </a:p>
            </p:txBody>
          </p:sp>
          <p:sp>
            <p:nvSpPr>
              <p:cNvPr id="164" name="TextBox 164"/>
              <p:cNvSpPr txBox="1"/>
              <p:nvPr/>
            </p:nvSpPr>
            <p:spPr>
              <a:xfrm>
                <a:off x="6427541" y="4102418"/>
                <a:ext cx="53706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11254A"/>
                    </a:solidFill>
                    <a:latin typeface="Noto Sans CJK SC"/>
                    <a:ea typeface="Microsoft YaHei"/>
                    <a:cs typeface="Noto Sans CJK SC"/>
                  </a:rPr>
                  <a:t>例如:</a:t>
                </a:r>
              </a:p>
            </p:txBody>
          </p:sp>
          <p:sp>
            <p:nvSpPr>
              <p:cNvPr id="165" name="TextBox 165"/>
              <p:cNvSpPr txBox="1"/>
              <p:nvPr/>
            </p:nvSpPr>
            <p:spPr>
              <a:xfrm>
                <a:off x="6083533" y="4367689"/>
                <a:ext cx="122508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3177DF"/>
                    </a:solidFill>
                    <a:latin typeface="Segoe UI"/>
                    <a:ea typeface="Microsoft YaHei"/>
                    <a:cs typeface="Segoe UI"/>
                  </a:rPr>
                  <a:t>x coordinate</a:t>
                </a:r>
              </a:p>
            </p:txBody>
          </p:sp>
          <p:sp>
            <p:nvSpPr>
              <p:cNvPr id="166" name="TextBox 166"/>
              <p:cNvSpPr txBox="1"/>
              <p:nvPr/>
            </p:nvSpPr>
            <p:spPr>
              <a:xfrm>
                <a:off x="6083533" y="4586764"/>
                <a:ext cx="122508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8065D8"/>
                    </a:solidFill>
                    <a:latin typeface="Segoe UI"/>
                    <a:ea typeface="Microsoft YaHei"/>
                    <a:cs typeface="Segoe UI"/>
                  </a:rPr>
                  <a:t>y coordinate</a:t>
                </a:r>
              </a:p>
            </p:txBody>
          </p:sp>
          <p:sp>
            <p:nvSpPr>
              <p:cNvPr id="167" name="TextBox 167"/>
              <p:cNvSpPr txBox="1"/>
              <p:nvPr/>
            </p:nvSpPr>
            <p:spPr>
              <a:xfrm>
                <a:off x="6083533" y="4805839"/>
                <a:ext cx="122508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169966"/>
                    </a:solidFill>
                    <a:latin typeface="Segoe UI"/>
                    <a:ea typeface="Microsoft YaHei"/>
                    <a:cs typeface="Segoe UI"/>
                  </a:rPr>
                  <a:t>z coordinate</a:t>
                </a:r>
              </a:p>
            </p:txBody>
          </p:sp>
        </p:grpSp>
        <p:grpSp>
          <p:nvGrpSpPr>
            <p:cNvPr id="189" name="Group 189"/>
            <p:cNvGrpSpPr/>
            <p:nvPr/>
          </p:nvGrpSpPr>
          <p:grpSpPr>
            <a:xfrm>
              <a:off x="7526655" y="2495550"/>
              <a:ext cx="1958340" cy="2895600"/>
              <a:chOff x="7526655" y="2495550"/>
              <a:chExt cx="1958340" cy="2895600"/>
            </a:xfrm>
          </p:grpSpPr>
          <p:sp>
            <p:nvSpPr>
              <p:cNvPr id="169" name="Freeform 169"/>
              <p:cNvSpPr/>
              <p:nvPr/>
            </p:nvSpPr>
            <p:spPr>
              <a:xfrm>
                <a:off x="7543800" y="2495550"/>
                <a:ext cx="1924050" cy="2552700"/>
              </a:xfrm>
              <a:custGeom>
                <a:avLst/>
                <a:gdLst/>
                <a:ahLst/>
                <a:cxnLst/>
                <a:rect l="l" t="t" r="r" b="b"/>
                <a:pathLst>
                  <a:path w="1924050" h="2552700">
                    <a:moveTo>
                      <a:pt x="76200" y="0"/>
                    </a:moveTo>
                    <a:lnTo>
                      <a:pt x="1847850" y="0"/>
                    </a:lnTo>
                    <a:cubicBezTo>
                      <a:pt x="1889934" y="0"/>
                      <a:pt x="1924050" y="34116"/>
                      <a:pt x="1924050" y="76200"/>
                    </a:cubicBezTo>
                    <a:lnTo>
                      <a:pt x="1924050" y="2476500"/>
                    </a:lnTo>
                    <a:cubicBezTo>
                      <a:pt x="1924050" y="2518584"/>
                      <a:pt x="1889934" y="2552700"/>
                      <a:pt x="1847850" y="2552700"/>
                    </a:cubicBezTo>
                    <a:lnTo>
                      <a:pt x="76200" y="2552700"/>
                    </a:lnTo>
                    <a:cubicBezTo>
                      <a:pt x="34116" y="2552700"/>
                      <a:pt x="0" y="2518584"/>
                      <a:pt x="0" y="24765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87C84"/>
                </a:solidFill>
              </a:ln>
            </p:spPr>
          </p:sp>
          <p:sp>
            <p:nvSpPr>
              <p:cNvPr id="170" name="Ellipse 170"/>
              <p:cNvSpPr/>
              <p:nvPr/>
            </p:nvSpPr>
            <p:spPr>
              <a:xfrm>
                <a:off x="7629525" y="2581275"/>
                <a:ext cx="247650" cy="247650"/>
              </a:xfrm>
              <a:prstGeom prst="ellipse">
                <a:avLst/>
              </a:prstGeom>
              <a:solidFill>
                <a:srgbClr val="087C84"/>
              </a:solidFill>
              <a:ln>
                <a:noFill/>
              </a:ln>
            </p:spPr>
          </p:sp>
          <p:sp>
            <p:nvSpPr>
              <p:cNvPr id="171" name="TextBox 171"/>
              <p:cNvSpPr txBox="1"/>
              <p:nvPr/>
            </p:nvSpPr>
            <p:spPr>
              <a:xfrm>
                <a:off x="7679273" y="2635568"/>
                <a:ext cx="14815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C</a:t>
                </a:r>
              </a:p>
            </p:txBody>
          </p:sp>
          <p:sp>
            <p:nvSpPr>
              <p:cNvPr id="172" name="TextBox 172"/>
              <p:cNvSpPr txBox="1"/>
              <p:nvPr/>
            </p:nvSpPr>
            <p:spPr>
              <a:xfrm>
                <a:off x="8013382" y="2624614"/>
                <a:ext cx="120553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087C84"/>
                    </a:solidFill>
                    <a:latin typeface="Noto Sans CJK SC"/>
                    <a:ea typeface="Microsoft YaHei"/>
                    <a:cs typeface="Noto Sans CJK SC"/>
                  </a:rPr>
                  <a:t>数值先验向量</a:t>
                </a:r>
              </a:p>
            </p:txBody>
          </p:sp>
          <p:grpSp>
            <p:nvGrpSpPr>
              <p:cNvPr id="187" name="Group 187"/>
              <p:cNvGrpSpPr/>
              <p:nvPr/>
            </p:nvGrpSpPr>
            <p:grpSpPr>
              <a:xfrm>
                <a:off x="7719727" y="2971800"/>
                <a:ext cx="1572196" cy="2112169"/>
                <a:chOff x="7719727" y="2971800"/>
                <a:chExt cx="1572196" cy="2112169"/>
              </a:xfrm>
            </p:grpSpPr>
            <p:sp>
              <p:nvSpPr>
                <p:cNvPr id="173" name="Freeform 173"/>
                <p:cNvSpPr/>
                <p:nvPr/>
              </p:nvSpPr>
              <p:spPr>
                <a:xfrm>
                  <a:off x="7848600" y="2971800"/>
                  <a:ext cx="1314450" cy="285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4450" h="285750">
                      <a:moveTo>
                        <a:pt x="47625" y="0"/>
                      </a:moveTo>
                      <a:lnTo>
                        <a:pt x="1266825" y="0"/>
                      </a:lnTo>
                      <a:cubicBezTo>
                        <a:pt x="1293128" y="0"/>
                        <a:pt x="1314450" y="21322"/>
                        <a:pt x="1314450" y="47625"/>
                      </a:cubicBezTo>
                      <a:lnTo>
                        <a:pt x="1314450" y="238125"/>
                      </a:lnTo>
                      <a:cubicBezTo>
                        <a:pt x="1314450" y="264428"/>
                        <a:pt x="1293128" y="285750"/>
                        <a:pt x="1266825" y="285750"/>
                      </a:cubicBezTo>
                      <a:lnTo>
                        <a:pt x="47625" y="285750"/>
                      </a:lnTo>
                      <a:cubicBezTo>
                        <a:pt x="21322" y="285750"/>
                        <a:pt x="0" y="264428"/>
                        <a:pt x="0" y="238125"/>
                      </a:cubicBezTo>
                      <a:lnTo>
                        <a:pt x="0" y="47625"/>
                      </a:lnTo>
                      <a:cubicBezTo>
                        <a:pt x="0" y="21322"/>
                        <a:pt x="21322" y="0"/>
                        <a:pt x="47625" y="0"/>
                      </a:cubicBezTo>
                      <a:close/>
                    </a:path>
                  </a:pathLst>
                </a:custGeom>
                <a:solidFill>
                  <a:srgbClr val="F8FAFC"/>
                </a:solidFill>
                <a:ln w="17145">
                  <a:solidFill>
                    <a:srgbClr val="53606E"/>
                  </a:solidFill>
                </a:ln>
              </p:spPr>
            </p:sp>
            <p:sp>
              <p:nvSpPr>
                <p:cNvPr id="174" name="TextBox 174"/>
                <p:cNvSpPr txBox="1"/>
                <p:nvPr/>
              </p:nvSpPr>
              <p:spPr>
                <a:xfrm>
                  <a:off x="8163354" y="3035618"/>
                  <a:ext cx="684943" cy="2743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dirty="0">
                      <a:solidFill>
                        <a:srgbClr val="11254A"/>
                      </a:solidFill>
                      <a:latin typeface="Noto Sans CJK SC"/>
                      <a:ea typeface="Microsoft YaHei"/>
                      <a:cs typeface="Noto Sans CJK SC"/>
                    </a:rPr>
                    <a:t>坐标值</a:t>
                  </a:r>
                  <a:r>
                    <a:rPr lang="zh-CN" sz="1350" i="1" dirty="0">
                      <a:solidFill>
                        <a:srgbClr val="11254A"/>
                      </a:solidFill>
                      <a:latin typeface="Noto Sans CJK SC"/>
                      <a:ea typeface="Microsoft YaHei"/>
                      <a:cs typeface="Noto Sans CJK SC"/>
                    </a:rPr>
                    <a:t>i</a:t>
                  </a:r>
                </a:p>
              </p:txBody>
            </p:sp>
            <p:sp>
              <p:nvSpPr>
                <p:cNvPr id="175" name="Line 175"/>
                <p:cNvSpPr/>
                <p:nvPr/>
              </p:nvSpPr>
              <p:spPr>
                <a:xfrm>
                  <a:off x="8505825" y="3257550"/>
                  <a:ext cx="9525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33350">
                      <a:moveTo>
                        <a:pt x="0" y="0"/>
                      </a:moveTo>
                      <a:lnTo>
                        <a:pt x="0" y="133350"/>
                      </a:lnTo>
                    </a:path>
                  </a:pathLst>
                </a:custGeom>
                <a:noFill/>
                <a:ln w="19050">
                  <a:solidFill>
                    <a:srgbClr val="53606E"/>
                  </a:solidFill>
                </a:ln>
              </p:spPr>
            </p:sp>
            <p:sp>
              <p:nvSpPr>
                <p:cNvPr id="176" name="Freeform 176"/>
                <p:cNvSpPr/>
                <p:nvPr/>
              </p:nvSpPr>
              <p:spPr>
                <a:xfrm>
                  <a:off x="7848600" y="3409950"/>
                  <a:ext cx="1314450" cy="285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4450" h="285750">
                      <a:moveTo>
                        <a:pt x="47625" y="0"/>
                      </a:moveTo>
                      <a:lnTo>
                        <a:pt x="1266825" y="0"/>
                      </a:lnTo>
                      <a:cubicBezTo>
                        <a:pt x="1293128" y="0"/>
                        <a:pt x="1314450" y="21322"/>
                        <a:pt x="1314450" y="47625"/>
                      </a:cubicBezTo>
                      <a:lnTo>
                        <a:pt x="1314450" y="238125"/>
                      </a:lnTo>
                      <a:cubicBezTo>
                        <a:pt x="1314450" y="264428"/>
                        <a:pt x="1293128" y="285750"/>
                        <a:pt x="1266825" y="285750"/>
                      </a:cubicBezTo>
                      <a:lnTo>
                        <a:pt x="47625" y="285750"/>
                      </a:lnTo>
                      <a:cubicBezTo>
                        <a:pt x="21322" y="285750"/>
                        <a:pt x="0" y="264428"/>
                        <a:pt x="0" y="238125"/>
                      </a:cubicBezTo>
                      <a:lnTo>
                        <a:pt x="0" y="47625"/>
                      </a:lnTo>
                      <a:cubicBezTo>
                        <a:pt x="0" y="21322"/>
                        <a:pt x="21322" y="0"/>
                        <a:pt x="47625" y="0"/>
                      </a:cubicBezTo>
                      <a:close/>
                    </a:path>
                  </a:pathLst>
                </a:custGeom>
                <a:solidFill>
                  <a:srgbClr val="F8FAFC"/>
                </a:solidFill>
                <a:ln w="17145">
                  <a:solidFill>
                    <a:srgbClr val="53606E"/>
                  </a:solidFill>
                </a:ln>
              </p:spPr>
            </p:sp>
            <p:sp>
              <p:nvSpPr>
                <p:cNvPr id="177" name="TextBox 177"/>
                <p:cNvSpPr txBox="1"/>
                <p:nvPr/>
              </p:nvSpPr>
              <p:spPr>
                <a:xfrm>
                  <a:off x="8025336" y="3473768"/>
                  <a:ext cx="960977" cy="2743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dirty="0">
                      <a:solidFill>
                        <a:srgbClr val="11254A"/>
                      </a:solidFill>
                      <a:latin typeface="Noto Sans CJK SC"/>
                      <a:ea typeface="Microsoft YaHei"/>
                      <a:cs typeface="Noto Sans CJK SC"/>
                    </a:rPr>
                    <a:t>归一化</a:t>
                  </a:r>
                  <a:r>
                    <a:rPr lang="zh-CN" sz="1350" i="1" dirty="0">
                      <a:solidFill>
                        <a:srgbClr val="11254A"/>
                      </a:solidFill>
                      <a:latin typeface="Noto Sans CJK SC"/>
                      <a:ea typeface="Microsoft YaHei"/>
                      <a:cs typeface="Noto Sans CJK SC"/>
                    </a:rPr>
                    <a:t>i</a:t>
                  </a:r>
                  <a:r>
                    <a:rPr lang="zh-CN" sz="1350" dirty="0">
                      <a:solidFill>
                        <a:srgbClr val="11254A"/>
                      </a:solidFill>
                      <a:latin typeface="Noto Sans CJK SC"/>
                      <a:ea typeface="Microsoft YaHei"/>
                      <a:cs typeface="Noto Sans CJK SC"/>
                    </a:rPr>
                    <a:t>/19</a:t>
                  </a:r>
                </a:p>
              </p:txBody>
            </p:sp>
            <p:sp>
              <p:nvSpPr>
                <p:cNvPr id="178" name="Line 178"/>
                <p:cNvSpPr/>
                <p:nvPr/>
              </p:nvSpPr>
              <p:spPr>
                <a:xfrm>
                  <a:off x="8505825" y="3695700"/>
                  <a:ext cx="9525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33350">
                      <a:moveTo>
                        <a:pt x="0" y="0"/>
                      </a:moveTo>
                      <a:lnTo>
                        <a:pt x="0" y="133350"/>
                      </a:lnTo>
                    </a:path>
                  </a:pathLst>
                </a:custGeom>
                <a:noFill/>
                <a:ln w="19050">
                  <a:solidFill>
                    <a:srgbClr val="53606E"/>
                  </a:solidFill>
                </a:ln>
              </p:spPr>
            </p:sp>
            <p:sp>
              <p:nvSpPr>
                <p:cNvPr id="179" name="Freeform 179"/>
                <p:cNvSpPr/>
                <p:nvPr/>
              </p:nvSpPr>
              <p:spPr>
                <a:xfrm>
                  <a:off x="7848600" y="3848100"/>
                  <a:ext cx="1314450" cy="285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4450" h="285750">
                      <a:moveTo>
                        <a:pt x="47625" y="0"/>
                      </a:moveTo>
                      <a:lnTo>
                        <a:pt x="1266825" y="0"/>
                      </a:lnTo>
                      <a:cubicBezTo>
                        <a:pt x="1293128" y="0"/>
                        <a:pt x="1314450" y="21322"/>
                        <a:pt x="1314450" y="47625"/>
                      </a:cubicBezTo>
                      <a:lnTo>
                        <a:pt x="1314450" y="238125"/>
                      </a:lnTo>
                      <a:cubicBezTo>
                        <a:pt x="1314450" y="264428"/>
                        <a:pt x="1293128" y="285750"/>
                        <a:pt x="1266825" y="285750"/>
                      </a:cubicBezTo>
                      <a:lnTo>
                        <a:pt x="47625" y="285750"/>
                      </a:lnTo>
                      <a:cubicBezTo>
                        <a:pt x="21322" y="285750"/>
                        <a:pt x="0" y="264428"/>
                        <a:pt x="0" y="238125"/>
                      </a:cubicBezTo>
                      <a:lnTo>
                        <a:pt x="0" y="47625"/>
                      </a:lnTo>
                      <a:cubicBezTo>
                        <a:pt x="0" y="21322"/>
                        <a:pt x="21322" y="0"/>
                        <a:pt x="47625" y="0"/>
                      </a:cubicBezTo>
                      <a:close/>
                    </a:path>
                  </a:pathLst>
                </a:custGeom>
                <a:solidFill>
                  <a:srgbClr val="F8FAFC"/>
                </a:solidFill>
                <a:ln w="17145">
                  <a:solidFill>
                    <a:srgbClr val="53606E"/>
                  </a:solidFill>
                </a:ln>
              </p:spPr>
            </p:sp>
            <p:sp>
              <p:nvSpPr>
                <p:cNvPr id="180" name="TextBox 180"/>
                <p:cNvSpPr txBox="1"/>
                <p:nvPr/>
              </p:nvSpPr>
              <p:spPr>
                <a:xfrm>
                  <a:off x="7719727" y="3911918"/>
                  <a:ext cx="1572196" cy="2743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dirty="0">
                      <a:solidFill>
                        <a:srgbClr val="11254A"/>
                      </a:solidFill>
                      <a:latin typeface="Noto Sans CJK SC"/>
                      <a:ea typeface="Microsoft YaHei"/>
                      <a:cs typeface="Noto Sans CJK SC"/>
                    </a:rPr>
                    <a:t>RBF + 多项式特征</a:t>
                  </a:r>
                </a:p>
              </p:txBody>
            </p:sp>
            <p:sp>
              <p:nvSpPr>
                <p:cNvPr id="181" name="Line 181"/>
                <p:cNvSpPr/>
                <p:nvPr/>
              </p:nvSpPr>
              <p:spPr>
                <a:xfrm>
                  <a:off x="8505825" y="4133850"/>
                  <a:ext cx="9525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33350">
                      <a:moveTo>
                        <a:pt x="0" y="0"/>
                      </a:moveTo>
                      <a:lnTo>
                        <a:pt x="0" y="133350"/>
                      </a:lnTo>
                    </a:path>
                  </a:pathLst>
                </a:custGeom>
                <a:noFill/>
                <a:ln w="19050">
                  <a:solidFill>
                    <a:srgbClr val="53606E"/>
                  </a:solidFill>
                </a:ln>
              </p:spPr>
            </p:sp>
            <p:sp>
              <p:nvSpPr>
                <p:cNvPr id="182" name="Freeform 182"/>
                <p:cNvSpPr/>
                <p:nvPr/>
              </p:nvSpPr>
              <p:spPr>
                <a:xfrm>
                  <a:off x="7848600" y="4286250"/>
                  <a:ext cx="1314450" cy="285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4450" h="285750">
                      <a:moveTo>
                        <a:pt x="47625" y="0"/>
                      </a:moveTo>
                      <a:lnTo>
                        <a:pt x="1266825" y="0"/>
                      </a:lnTo>
                      <a:cubicBezTo>
                        <a:pt x="1293128" y="0"/>
                        <a:pt x="1314450" y="21322"/>
                        <a:pt x="1314450" y="47625"/>
                      </a:cubicBezTo>
                      <a:lnTo>
                        <a:pt x="1314450" y="238125"/>
                      </a:lnTo>
                      <a:cubicBezTo>
                        <a:pt x="1314450" y="264428"/>
                        <a:pt x="1293128" y="285750"/>
                        <a:pt x="1266825" y="285750"/>
                      </a:cubicBezTo>
                      <a:lnTo>
                        <a:pt x="47625" y="285750"/>
                      </a:lnTo>
                      <a:cubicBezTo>
                        <a:pt x="21322" y="285750"/>
                        <a:pt x="0" y="264428"/>
                        <a:pt x="0" y="238125"/>
                      </a:cubicBezTo>
                      <a:lnTo>
                        <a:pt x="0" y="47625"/>
                      </a:lnTo>
                      <a:cubicBezTo>
                        <a:pt x="0" y="21322"/>
                        <a:pt x="21322" y="0"/>
                        <a:pt x="47625" y="0"/>
                      </a:cubicBezTo>
                      <a:close/>
                    </a:path>
                  </a:pathLst>
                </a:custGeom>
                <a:solidFill>
                  <a:srgbClr val="F8FAFC"/>
                </a:solidFill>
                <a:ln w="17145">
                  <a:solidFill>
                    <a:srgbClr val="53606E"/>
                  </a:solidFill>
                </a:ln>
              </p:spPr>
            </p:sp>
            <p:sp>
              <p:nvSpPr>
                <p:cNvPr id="183" name="TextBox 183"/>
                <p:cNvSpPr txBox="1"/>
                <p:nvPr/>
              </p:nvSpPr>
              <p:spPr>
                <a:xfrm>
                  <a:off x="8094345" y="4350068"/>
                  <a:ext cx="822960" cy="2743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dirty="0">
                      <a:solidFill>
                        <a:srgbClr val="11254A"/>
                      </a:solidFill>
                      <a:latin typeface="Noto Sans CJK SC"/>
                      <a:ea typeface="Microsoft YaHei"/>
                      <a:cs typeface="Noto Sans CJK SC"/>
                    </a:rPr>
                    <a:t>随机投影</a:t>
                  </a:r>
                </a:p>
              </p:txBody>
            </p:sp>
            <p:sp>
              <p:nvSpPr>
                <p:cNvPr id="184" name="Line 184"/>
                <p:cNvSpPr/>
                <p:nvPr/>
              </p:nvSpPr>
              <p:spPr>
                <a:xfrm>
                  <a:off x="8505825" y="4572000"/>
                  <a:ext cx="9525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33350">
                      <a:moveTo>
                        <a:pt x="0" y="0"/>
                      </a:moveTo>
                      <a:lnTo>
                        <a:pt x="0" y="133350"/>
                      </a:lnTo>
                    </a:path>
                  </a:pathLst>
                </a:custGeom>
                <a:noFill/>
                <a:ln w="19050">
                  <a:solidFill>
                    <a:srgbClr val="53606E"/>
                  </a:solidFill>
                </a:ln>
              </p:spPr>
            </p:sp>
            <p:sp>
              <p:nvSpPr>
                <p:cNvPr id="185" name="Freeform 185"/>
                <p:cNvSpPr/>
                <p:nvPr/>
              </p:nvSpPr>
              <p:spPr>
                <a:xfrm>
                  <a:off x="7848600" y="4724400"/>
                  <a:ext cx="1314450" cy="285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4450" h="285750">
                      <a:moveTo>
                        <a:pt x="47625" y="0"/>
                      </a:moveTo>
                      <a:lnTo>
                        <a:pt x="1266825" y="0"/>
                      </a:lnTo>
                      <a:cubicBezTo>
                        <a:pt x="1293128" y="0"/>
                        <a:pt x="1314450" y="21322"/>
                        <a:pt x="1314450" y="47625"/>
                      </a:cubicBezTo>
                      <a:lnTo>
                        <a:pt x="1314450" y="238125"/>
                      </a:lnTo>
                      <a:cubicBezTo>
                        <a:pt x="1314450" y="264428"/>
                        <a:pt x="1293128" y="285750"/>
                        <a:pt x="1266825" y="285750"/>
                      </a:cubicBezTo>
                      <a:lnTo>
                        <a:pt x="47625" y="285750"/>
                      </a:lnTo>
                      <a:cubicBezTo>
                        <a:pt x="21322" y="285750"/>
                        <a:pt x="0" y="264428"/>
                        <a:pt x="0" y="238125"/>
                      </a:cubicBezTo>
                      <a:lnTo>
                        <a:pt x="0" y="47625"/>
                      </a:lnTo>
                      <a:cubicBezTo>
                        <a:pt x="0" y="21322"/>
                        <a:pt x="21322" y="0"/>
                        <a:pt x="47625" y="0"/>
                      </a:cubicBezTo>
                      <a:close/>
                    </a:path>
                  </a:pathLst>
                </a:custGeom>
                <a:solidFill>
                  <a:srgbClr val="F8FAFC"/>
                </a:solidFill>
                <a:ln w="17145">
                  <a:solidFill>
                    <a:srgbClr val="53606E"/>
                  </a:solidFill>
                </a:ln>
              </p:spPr>
            </p:sp>
            <p:sp>
              <p:nvSpPr>
                <p:cNvPr id="186" name="TextBox 186"/>
                <p:cNvSpPr txBox="1"/>
                <p:nvPr/>
              </p:nvSpPr>
              <p:spPr>
                <a:xfrm>
                  <a:off x="8048768" y="4763929"/>
                  <a:ext cx="914114" cy="3200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575" i="1" dirty="0">
                      <a:solidFill>
                        <a:srgbClr val="111111"/>
                      </a:solidFill>
                      <a:latin typeface="Times New Roman"/>
                      <a:ea typeface="SimSun"/>
                      <a:cs typeface="Times New Roman"/>
                    </a:rPr>
                    <a:t>E</a:t>
                  </a:r>
                  <a:r>
                    <a:rPr lang="zh-CN" sz="975" i="1" dirty="0">
                      <a:solidFill>
                        <a:srgbClr val="111111"/>
                      </a:solidFill>
                      <a:latin typeface="Times New Roman"/>
                      <a:ea typeface="SimSun"/>
                      <a:cs typeface="Times New Roman"/>
                    </a:rPr>
                    <a:t>num</a:t>
                  </a:r>
                  <a:r>
                    <a:rPr lang="zh-CN" sz="1575" i="1" dirty="0">
                      <a:solidFill>
                        <a:srgbClr val="111111"/>
                      </a:solidFill>
                      <a:latin typeface="Times New Roman"/>
                      <a:ea typeface="SimSun"/>
                      <a:cs typeface="Times New Roman"/>
                    </a:rPr>
                    <a:t>(i)</a:t>
                  </a:r>
                </a:p>
              </p:txBody>
            </p:sp>
          </p:grpSp>
          <p:sp>
            <p:nvSpPr>
              <p:cNvPr id="188" name="TextBox 188"/>
              <p:cNvSpPr txBox="1"/>
              <p:nvPr/>
            </p:nvSpPr>
            <p:spPr>
              <a:xfrm>
                <a:off x="7526655" y="5147310"/>
                <a:ext cx="195834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1254A"/>
                    </a:solidFill>
                    <a:latin typeface="Noto Sans CJK SC"/>
                    <a:ea typeface="Microsoft YaHei"/>
                    <a:cs typeface="Noto Sans CJK SC"/>
                  </a:rPr>
                  <a:t>保留数值顺序与邻近关系</a:t>
                </a:r>
              </a:p>
            </p:txBody>
          </p:sp>
        </p:grpSp>
        <p:grpSp>
          <p:nvGrpSpPr>
            <p:cNvPr id="199" name="Group 199"/>
            <p:cNvGrpSpPr/>
            <p:nvPr/>
          </p:nvGrpSpPr>
          <p:grpSpPr>
            <a:xfrm>
              <a:off x="9576530" y="2495550"/>
              <a:ext cx="1447109" cy="2643188"/>
              <a:chOff x="9576530" y="2495550"/>
              <a:chExt cx="1447109" cy="2643188"/>
            </a:xfrm>
          </p:grpSpPr>
          <p:sp>
            <p:nvSpPr>
              <p:cNvPr id="190" name="Freeform 190"/>
              <p:cNvSpPr/>
              <p:nvPr/>
            </p:nvSpPr>
            <p:spPr>
              <a:xfrm>
                <a:off x="9582150" y="2495550"/>
                <a:ext cx="1238250" cy="2552700"/>
              </a:xfrm>
              <a:custGeom>
                <a:avLst/>
                <a:gdLst/>
                <a:ahLst/>
                <a:cxnLst/>
                <a:rect l="l" t="t" r="r" b="b"/>
                <a:pathLst>
                  <a:path w="1238250" h="2552700">
                    <a:moveTo>
                      <a:pt x="76200" y="0"/>
                    </a:moveTo>
                    <a:lnTo>
                      <a:pt x="1162050" y="0"/>
                    </a:lnTo>
                    <a:cubicBezTo>
                      <a:pt x="1204134" y="0"/>
                      <a:pt x="1238250" y="34116"/>
                      <a:pt x="1238250" y="76200"/>
                    </a:cubicBezTo>
                    <a:lnTo>
                      <a:pt x="1238250" y="2476500"/>
                    </a:lnTo>
                    <a:cubicBezTo>
                      <a:pt x="1238250" y="2518584"/>
                      <a:pt x="1204134" y="2552700"/>
                      <a:pt x="1162050" y="2552700"/>
                    </a:cubicBezTo>
                    <a:lnTo>
                      <a:pt x="76200" y="2552700"/>
                    </a:lnTo>
                    <a:cubicBezTo>
                      <a:pt x="34116" y="2552700"/>
                      <a:pt x="0" y="2518584"/>
                      <a:pt x="0" y="24765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87C84"/>
                </a:solidFill>
              </a:ln>
            </p:spPr>
          </p:sp>
          <p:sp>
            <p:nvSpPr>
              <p:cNvPr id="191" name="Ellipse 191"/>
              <p:cNvSpPr/>
              <p:nvPr/>
            </p:nvSpPr>
            <p:spPr>
              <a:xfrm>
                <a:off x="9648825" y="2581275"/>
                <a:ext cx="247650" cy="247650"/>
              </a:xfrm>
              <a:prstGeom prst="ellipse">
                <a:avLst/>
              </a:prstGeom>
              <a:solidFill>
                <a:srgbClr val="087C84"/>
              </a:solidFill>
              <a:ln>
                <a:noFill/>
              </a:ln>
            </p:spPr>
          </p:sp>
          <p:sp>
            <p:nvSpPr>
              <p:cNvPr id="192" name="TextBox 192"/>
              <p:cNvSpPr txBox="1"/>
              <p:nvPr/>
            </p:nvSpPr>
            <p:spPr>
              <a:xfrm>
                <a:off x="9698573" y="2635568"/>
                <a:ext cx="14815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D</a:t>
                </a:r>
              </a:p>
            </p:txBody>
          </p:sp>
          <p:sp>
            <p:nvSpPr>
              <p:cNvPr id="193" name="TextBox 193"/>
              <p:cNvSpPr txBox="1"/>
              <p:nvPr/>
            </p:nvSpPr>
            <p:spPr>
              <a:xfrm>
                <a:off x="10013632" y="2624614"/>
                <a:ext cx="1010007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087C84"/>
                    </a:solidFill>
                    <a:latin typeface="Noto Sans CJK SC"/>
                    <a:ea typeface="Microsoft YaHei"/>
                    <a:cs typeface="Noto Sans CJK SC"/>
                  </a:rPr>
                  <a:t>小扰动噪声</a:t>
                </a:r>
              </a:p>
            </p:txBody>
          </p:sp>
          <p:sp>
            <p:nvSpPr>
              <p:cNvPr id="194" name="TextBox 194"/>
              <p:cNvSpPr txBox="1"/>
              <p:nvPr/>
            </p:nvSpPr>
            <p:spPr>
              <a:xfrm>
                <a:off x="9576530" y="3488055"/>
                <a:ext cx="124949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i="1" dirty="0">
                    <a:solidFill>
                      <a:srgbClr val="111111"/>
                    </a:solidFill>
                    <a:latin typeface="Times New Roman"/>
                    <a:ea typeface="SimSun"/>
                    <a:cs typeface="Times New Roman"/>
                  </a:rPr>
                  <a:t>ε ~ N(0,</a:t>
                </a:r>
              </a:p>
            </p:txBody>
          </p:sp>
          <p:sp>
            <p:nvSpPr>
              <p:cNvPr id="195" name="TextBox 195"/>
              <p:cNvSpPr txBox="1"/>
              <p:nvPr/>
            </p:nvSpPr>
            <p:spPr>
              <a:xfrm>
                <a:off x="9636990" y="3911918"/>
                <a:ext cx="112857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11254A"/>
                    </a:solidFill>
                    <a:latin typeface="Noto Sans CJK SC"/>
                    <a:ea typeface="Microsoft YaHei"/>
                    <a:cs typeface="Noto Sans CJK SC"/>
                  </a:rPr>
                  <a:t>noise_std ×</a:t>
                </a:r>
              </a:p>
            </p:txBody>
          </p:sp>
          <p:sp>
            <p:nvSpPr>
              <p:cNvPr id="196" name="TextBox 196"/>
              <p:cNvSpPr txBox="1"/>
              <p:nvPr/>
            </p:nvSpPr>
            <p:spPr>
              <a:xfrm>
                <a:off x="9676424" y="4159568"/>
                <a:ext cx="104970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11254A"/>
                    </a:solidFill>
                    <a:latin typeface="Noto Sans CJK SC"/>
                    <a:ea typeface="Microsoft YaHei"/>
                    <a:cs typeface="Noto Sans CJK SC"/>
                  </a:rPr>
                  <a:t>std(Emb))</a:t>
                </a:r>
              </a:p>
            </p:txBody>
          </p:sp>
          <p:sp>
            <p:nvSpPr>
              <p:cNvPr id="197" name="TextBox 197"/>
              <p:cNvSpPr txBox="1"/>
              <p:nvPr/>
            </p:nvSpPr>
            <p:spPr>
              <a:xfrm>
                <a:off x="9686282" y="4616768"/>
                <a:ext cx="102998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11254A"/>
                    </a:solidFill>
                    <a:latin typeface="Noto Sans CJK SC"/>
                    <a:ea typeface="Microsoft YaHei"/>
                    <a:cs typeface="Noto Sans CJK SC"/>
                  </a:rPr>
                  <a:t>避免 token</a:t>
                </a:r>
              </a:p>
            </p:txBody>
          </p:sp>
          <p:sp>
            <p:nvSpPr>
              <p:cNvPr id="198" name="TextBox 198"/>
              <p:cNvSpPr txBox="1"/>
              <p:nvPr/>
            </p:nvSpPr>
            <p:spPr>
              <a:xfrm>
                <a:off x="9789795" y="4864418"/>
                <a:ext cx="82296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11254A"/>
                    </a:solidFill>
                    <a:latin typeface="Noto Sans CJK SC"/>
                    <a:ea typeface="Microsoft YaHei"/>
                    <a:cs typeface="Noto Sans CJK SC"/>
                  </a:rPr>
                  <a:t>过度重合</a:t>
                </a:r>
              </a:p>
            </p:txBody>
          </p:sp>
        </p:grpSp>
        <p:sp>
          <p:nvSpPr>
            <p:cNvPr id="200" name="Freeform 200"/>
            <p:cNvSpPr/>
            <p:nvPr/>
          </p:nvSpPr>
          <p:spPr>
            <a:xfrm>
              <a:off x="5238750" y="5048250"/>
              <a:ext cx="2305050" cy="228600"/>
            </a:xfrm>
            <a:custGeom>
              <a:avLst/>
              <a:gdLst/>
              <a:ahLst/>
              <a:cxnLst/>
              <a:rect l="l" t="t" r="r" b="b"/>
              <a:pathLst>
                <a:path w="2305050" h="228600">
                  <a:moveTo>
                    <a:pt x="0" y="0"/>
                  </a:moveTo>
                  <a:lnTo>
                    <a:pt x="0" y="228600"/>
                  </a:lnTo>
                  <a:lnTo>
                    <a:pt x="2305050" y="228600"/>
                  </a:lnTo>
                </a:path>
              </a:pathLst>
            </a:custGeom>
            <a:noFill/>
            <a:ln w="28575">
              <a:solidFill>
                <a:srgbClr val="0B6770"/>
              </a:solidFill>
            </a:ln>
          </p:spPr>
        </p:sp>
        <p:sp>
          <p:nvSpPr>
            <p:cNvPr id="201" name="Freeform 201"/>
            <p:cNvSpPr/>
            <p:nvPr/>
          </p:nvSpPr>
          <p:spPr>
            <a:xfrm>
              <a:off x="6686550" y="5048250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rgbClr val="0B6770"/>
              </a:solidFill>
            </a:ln>
          </p:spPr>
        </p:sp>
        <p:sp>
          <p:nvSpPr>
            <p:cNvPr id="202" name="Freeform 202"/>
            <p:cNvSpPr/>
            <p:nvPr/>
          </p:nvSpPr>
          <p:spPr>
            <a:xfrm>
              <a:off x="8505825" y="5048250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rgbClr val="0B6770"/>
              </a:solidFill>
            </a:ln>
          </p:spPr>
        </p:sp>
        <p:sp>
          <p:nvSpPr>
            <p:cNvPr id="203" name="Freeform 203"/>
            <p:cNvSpPr/>
            <p:nvPr/>
          </p:nvSpPr>
          <p:spPr>
            <a:xfrm>
              <a:off x="7543800" y="5048250"/>
              <a:ext cx="2657475" cy="228600"/>
            </a:xfrm>
            <a:custGeom>
              <a:avLst/>
              <a:gdLst/>
              <a:ahLst/>
              <a:cxnLst/>
              <a:rect l="l" t="t" r="r" b="b"/>
              <a:pathLst>
                <a:path w="2657475" h="228600">
                  <a:moveTo>
                    <a:pt x="2657475" y="0"/>
                  </a:moveTo>
                  <a:lnTo>
                    <a:pt x="2657475" y="228600"/>
                  </a:lnTo>
                  <a:lnTo>
                    <a:pt x="0" y="228600"/>
                  </a:lnTo>
                </a:path>
              </a:pathLst>
            </a:custGeom>
            <a:noFill/>
            <a:ln w="28575">
              <a:solidFill>
                <a:srgbClr val="0B6770"/>
              </a:solidFill>
            </a:ln>
          </p:spPr>
        </p:sp>
        <p:sp>
          <p:nvSpPr>
            <p:cNvPr id="204" name="Line 204"/>
            <p:cNvSpPr/>
            <p:nvPr/>
          </p:nvSpPr>
          <p:spPr>
            <a:xfrm>
              <a:off x="7543800" y="5276850"/>
              <a:ext cx="9525" cy="266700"/>
            </a:xfrm>
            <a:custGeom>
              <a:avLst/>
              <a:gdLst/>
              <a:ahLst/>
              <a:cxnLst/>
              <a:rect l="l" t="t" r="r" b="b"/>
              <a:pathLst>
                <a:path w="9525" h="266700">
                  <a:moveTo>
                    <a:pt x="0" y="0"/>
                  </a:moveTo>
                  <a:lnTo>
                    <a:pt x="0" y="266700"/>
                  </a:lnTo>
                </a:path>
              </a:pathLst>
            </a:custGeom>
            <a:noFill/>
            <a:ln w="28575">
              <a:solidFill>
                <a:srgbClr val="0B6770"/>
              </a:solidFill>
            </a:ln>
          </p:spPr>
        </p:sp>
        <p:grpSp>
          <p:nvGrpSpPr>
            <p:cNvPr id="211" name="Group 211"/>
            <p:cNvGrpSpPr/>
            <p:nvPr/>
          </p:nvGrpSpPr>
          <p:grpSpPr>
            <a:xfrm>
              <a:off x="5048250" y="5543550"/>
              <a:ext cx="7312247" cy="1676400"/>
              <a:chOff x="5048250" y="5543550"/>
              <a:chExt cx="7312247" cy="1676400"/>
            </a:xfrm>
          </p:grpSpPr>
          <p:sp>
            <p:nvSpPr>
              <p:cNvPr id="205" name="Freeform 205"/>
              <p:cNvSpPr/>
              <p:nvPr/>
            </p:nvSpPr>
            <p:spPr>
              <a:xfrm>
                <a:off x="5048250" y="5543550"/>
                <a:ext cx="5505450" cy="1676400"/>
              </a:xfrm>
              <a:custGeom>
                <a:avLst/>
                <a:gdLst/>
                <a:ahLst/>
                <a:cxnLst/>
                <a:rect l="l" t="t" r="r" b="b"/>
                <a:pathLst>
                  <a:path w="5505450" h="1676400">
                    <a:moveTo>
                      <a:pt x="76200" y="0"/>
                    </a:moveTo>
                    <a:lnTo>
                      <a:pt x="5429250" y="0"/>
                    </a:lnTo>
                    <a:cubicBezTo>
                      <a:pt x="5471334" y="0"/>
                      <a:pt x="5505450" y="34116"/>
                      <a:pt x="5505450" y="76200"/>
                    </a:cubicBezTo>
                    <a:lnTo>
                      <a:pt x="5505450" y="1600200"/>
                    </a:lnTo>
                    <a:cubicBezTo>
                      <a:pt x="5505450" y="1642284"/>
                      <a:pt x="5471334" y="1676400"/>
                      <a:pt x="5429250" y="1676400"/>
                    </a:cubicBezTo>
                    <a:lnTo>
                      <a:pt x="76200" y="1676400"/>
                    </a:lnTo>
                    <a:cubicBezTo>
                      <a:pt x="34116" y="1676400"/>
                      <a:pt x="0" y="1642284"/>
                      <a:pt x="0" y="16002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87C84"/>
                </a:solidFill>
              </a:ln>
            </p:spPr>
          </p:sp>
          <p:sp>
            <p:nvSpPr>
              <p:cNvPr id="206" name="Freeform 206"/>
              <p:cNvSpPr/>
              <p:nvPr/>
            </p:nvSpPr>
            <p:spPr>
              <a:xfrm>
                <a:off x="5048250" y="5543550"/>
                <a:ext cx="550545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5505450" h="381000">
                    <a:moveTo>
                      <a:pt x="76200" y="0"/>
                    </a:moveTo>
                    <a:lnTo>
                      <a:pt x="5429250" y="0"/>
                    </a:lnTo>
                    <a:cubicBezTo>
                      <a:pt x="5471334" y="0"/>
                      <a:pt x="5505450" y="34116"/>
                      <a:pt x="5505450" y="76200"/>
                    </a:cubicBezTo>
                    <a:lnTo>
                      <a:pt x="5505450" y="304800"/>
                    </a:lnTo>
                    <a:cubicBezTo>
                      <a:pt x="5505450" y="346884"/>
                      <a:pt x="5471334" y="381000"/>
                      <a:pt x="5429250" y="381000"/>
                    </a:cubicBezTo>
                    <a:lnTo>
                      <a:pt x="76200" y="381000"/>
                    </a:lnTo>
                    <a:cubicBezTo>
                      <a:pt x="34116" y="381000"/>
                      <a:pt x="0" y="346884"/>
                      <a:pt x="0" y="3048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8787C"/>
                  </a:gs>
                  <a:gs pos="100000">
                    <a:srgbClr val="029191"/>
                  </a:gs>
                </a:gsLst>
                <a:lin ang="0" scaled="1"/>
              </a:gradFill>
              <a:ln>
                <a:noFill/>
              </a:ln>
            </p:spPr>
          </p:sp>
          <p:sp>
            <p:nvSpPr>
              <p:cNvPr id="207" name="TextBox 207"/>
              <p:cNvSpPr txBox="1"/>
              <p:nvPr/>
            </p:nvSpPr>
            <p:spPr>
              <a:xfrm>
                <a:off x="7088029" y="5625465"/>
                <a:ext cx="1425892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000000"/>
                    </a:solidFill>
                    <a:latin typeface="Noto Sans CJK SC"/>
                    <a:ea typeface="Microsoft YaHei"/>
                    <a:cs typeface="Noto Sans CJK SC"/>
                  </a:rPr>
                  <a:t>融合初始化</a:t>
                </a:r>
              </a:p>
            </p:txBody>
          </p:sp>
          <p:sp>
            <p:nvSpPr>
              <p:cNvPr id="208" name="TextBox 208"/>
              <p:cNvSpPr txBox="1"/>
              <p:nvPr/>
            </p:nvSpPr>
            <p:spPr>
              <a:xfrm>
                <a:off x="5421630" y="6031230"/>
                <a:ext cx="6938867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i="1" dirty="0">
                    <a:solidFill>
                      <a:srgbClr val="111111"/>
                    </a:solidFill>
                    <a:latin typeface="Times New Roman"/>
                    <a:ea typeface="SimSun"/>
                    <a:cs typeface="Times New Roman"/>
                  </a:rPr>
                  <a:t>E(&lt;X</a:t>
                </a:r>
                <a:r>
                  <a:rPr lang="zh-CN" sz="1125" i="1" dirty="0">
                    <a:solidFill>
                      <a:srgbClr val="3177DF"/>
                    </a:solidFill>
                    <a:latin typeface="Times New Roman"/>
                    <a:ea typeface="SimSun"/>
                    <a:cs typeface="Times New Roman"/>
                  </a:rPr>
                  <a:t>i</a:t>
                </a:r>
                <a:r>
                  <a:rPr lang="zh-CN" sz="2100" i="1" dirty="0">
                    <a:solidFill>
                      <a:srgbClr val="111111"/>
                    </a:solidFill>
                    <a:latin typeface="Times New Roman"/>
                    <a:ea typeface="SimSun"/>
                    <a:cs typeface="Times New Roman"/>
                  </a:rPr>
                  <a:t>&gt;) = E</a:t>
                </a:r>
                <a:r>
                  <a:rPr lang="zh-CN" sz="1200" i="1" dirty="0">
                    <a:solidFill>
                      <a:srgbClr val="111111"/>
                    </a:solidFill>
                    <a:latin typeface="Times New Roman"/>
                    <a:ea typeface="SimSun"/>
                    <a:cs typeface="Times New Roman"/>
                  </a:rPr>
                  <a:t>mean</a:t>
                </a:r>
                <a:r>
                  <a:rPr lang="zh-CN" sz="2100" i="1" dirty="0">
                    <a:solidFill>
                      <a:srgbClr val="111111"/>
                    </a:solidFill>
                    <a:latin typeface="Times New Roman"/>
                    <a:ea typeface="SimSun"/>
                    <a:cs typeface="Times New Roman"/>
                  </a:rPr>
                  <a:t>+ α · E</a:t>
                </a:r>
                <a:r>
                  <a:rPr lang="zh-CN" sz="1200" i="1" dirty="0">
                    <a:solidFill>
                      <a:srgbClr val="3177DF"/>
                    </a:solidFill>
                    <a:latin typeface="Times New Roman"/>
                    <a:ea typeface="SimSun"/>
                    <a:cs typeface="Times New Roman"/>
                  </a:rPr>
                  <a:t>axis</a:t>
                </a:r>
                <a:r>
                  <a:rPr lang="zh-CN" sz="2100" i="1" dirty="0">
                    <a:solidFill>
                      <a:srgbClr val="3177DF"/>
                    </a:solidFill>
                    <a:latin typeface="Times New Roman"/>
                    <a:ea typeface="SimSun"/>
                    <a:cs typeface="Times New Roman"/>
                  </a:rPr>
                  <a:t>(X)</a:t>
                </a:r>
                <a:r>
                  <a:rPr lang="zh-CN" sz="2100" i="1" dirty="0">
                    <a:solidFill>
                      <a:srgbClr val="111111"/>
                    </a:solidFill>
                    <a:latin typeface="Times New Roman"/>
                    <a:ea typeface="SimSun"/>
                    <a:cs typeface="Times New Roman"/>
                  </a:rPr>
                  <a:t>+ β · E</a:t>
                </a:r>
                <a:r>
                  <a:rPr lang="zh-CN" sz="1200" i="1" dirty="0">
                    <a:solidFill>
                      <a:srgbClr val="111111"/>
                    </a:solidFill>
                    <a:latin typeface="Times New Roman"/>
                    <a:ea typeface="SimSun"/>
                    <a:cs typeface="Times New Roman"/>
                  </a:rPr>
                  <a:t>num</a:t>
                </a:r>
                <a:r>
                  <a:rPr lang="zh-CN" sz="2100" i="1" dirty="0">
                    <a:solidFill>
                      <a:srgbClr val="111111"/>
                    </a:solidFill>
                    <a:latin typeface="Times New Roman"/>
                    <a:ea typeface="SimSun"/>
                    <a:cs typeface="Times New Roman"/>
                  </a:rPr>
                  <a:t>(i) + ε</a:t>
                </a:r>
              </a:p>
            </p:txBody>
          </p:sp>
          <p:sp>
            <p:nvSpPr>
              <p:cNvPr id="209" name="TextBox 209"/>
              <p:cNvSpPr txBox="1"/>
              <p:nvPr/>
            </p:nvSpPr>
            <p:spPr>
              <a:xfrm>
                <a:off x="5421630" y="6412230"/>
                <a:ext cx="6938867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i="1" dirty="0">
                    <a:solidFill>
                      <a:srgbClr val="111111"/>
                    </a:solidFill>
                    <a:latin typeface="Times New Roman"/>
                    <a:ea typeface="SimSun"/>
                    <a:cs typeface="Times New Roman"/>
                  </a:rPr>
                  <a:t>E(&lt;Y</a:t>
                </a:r>
                <a:r>
                  <a:rPr lang="zh-CN" sz="1125" i="1" dirty="0">
                    <a:solidFill>
                      <a:srgbClr val="8065D8"/>
                    </a:solidFill>
                    <a:latin typeface="Times New Roman"/>
                    <a:ea typeface="SimSun"/>
                    <a:cs typeface="Times New Roman"/>
                  </a:rPr>
                  <a:t>i</a:t>
                </a:r>
                <a:r>
                  <a:rPr lang="zh-CN" sz="2100" i="1" dirty="0">
                    <a:solidFill>
                      <a:srgbClr val="111111"/>
                    </a:solidFill>
                    <a:latin typeface="Times New Roman"/>
                    <a:ea typeface="SimSun"/>
                    <a:cs typeface="Times New Roman"/>
                  </a:rPr>
                  <a:t>&gt;) = E</a:t>
                </a:r>
                <a:r>
                  <a:rPr lang="zh-CN" sz="1200" i="1" dirty="0">
                    <a:solidFill>
                      <a:srgbClr val="111111"/>
                    </a:solidFill>
                    <a:latin typeface="Times New Roman"/>
                    <a:ea typeface="SimSun"/>
                    <a:cs typeface="Times New Roman"/>
                  </a:rPr>
                  <a:t>mean</a:t>
                </a:r>
                <a:r>
                  <a:rPr lang="zh-CN" sz="2100" i="1" dirty="0">
                    <a:solidFill>
                      <a:srgbClr val="111111"/>
                    </a:solidFill>
                    <a:latin typeface="Times New Roman"/>
                    <a:ea typeface="SimSun"/>
                    <a:cs typeface="Times New Roman"/>
                  </a:rPr>
                  <a:t>+ α · E</a:t>
                </a:r>
                <a:r>
                  <a:rPr lang="zh-CN" sz="1200" i="1" dirty="0">
                    <a:solidFill>
                      <a:srgbClr val="8065D8"/>
                    </a:solidFill>
                    <a:latin typeface="Times New Roman"/>
                    <a:ea typeface="SimSun"/>
                    <a:cs typeface="Times New Roman"/>
                  </a:rPr>
                  <a:t>axis</a:t>
                </a:r>
                <a:r>
                  <a:rPr lang="zh-CN" sz="2100" i="1" dirty="0">
                    <a:solidFill>
                      <a:srgbClr val="8065D8"/>
                    </a:solidFill>
                    <a:latin typeface="Times New Roman"/>
                    <a:ea typeface="SimSun"/>
                    <a:cs typeface="Times New Roman"/>
                  </a:rPr>
                  <a:t>(Y)</a:t>
                </a:r>
                <a:r>
                  <a:rPr lang="zh-CN" sz="2100" i="1" dirty="0">
                    <a:solidFill>
                      <a:srgbClr val="111111"/>
                    </a:solidFill>
                    <a:latin typeface="Times New Roman"/>
                    <a:ea typeface="SimSun"/>
                    <a:cs typeface="Times New Roman"/>
                  </a:rPr>
                  <a:t>+ β · E</a:t>
                </a:r>
                <a:r>
                  <a:rPr lang="zh-CN" sz="1200" i="1" dirty="0">
                    <a:solidFill>
                      <a:srgbClr val="111111"/>
                    </a:solidFill>
                    <a:latin typeface="Times New Roman"/>
                    <a:ea typeface="SimSun"/>
                    <a:cs typeface="Times New Roman"/>
                  </a:rPr>
                  <a:t>num</a:t>
                </a:r>
                <a:r>
                  <a:rPr lang="zh-CN" sz="2100" i="1" dirty="0">
                    <a:solidFill>
                      <a:srgbClr val="111111"/>
                    </a:solidFill>
                    <a:latin typeface="Times New Roman"/>
                    <a:ea typeface="SimSun"/>
                    <a:cs typeface="Times New Roman"/>
                  </a:rPr>
                  <a:t>(i) + ε</a:t>
                </a:r>
              </a:p>
            </p:txBody>
          </p:sp>
          <p:sp>
            <p:nvSpPr>
              <p:cNvPr id="210" name="TextBox 210"/>
              <p:cNvSpPr txBox="1"/>
              <p:nvPr/>
            </p:nvSpPr>
            <p:spPr>
              <a:xfrm>
                <a:off x="5421630" y="6793230"/>
                <a:ext cx="6938867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i="1" dirty="0">
                    <a:solidFill>
                      <a:srgbClr val="111111"/>
                    </a:solidFill>
                    <a:latin typeface="Times New Roman"/>
                    <a:ea typeface="SimSun"/>
                    <a:cs typeface="Times New Roman"/>
                  </a:rPr>
                  <a:t>E(&lt;Z</a:t>
                </a:r>
                <a:r>
                  <a:rPr lang="zh-CN" sz="1125" i="1" dirty="0">
                    <a:solidFill>
                      <a:srgbClr val="169966"/>
                    </a:solidFill>
                    <a:latin typeface="Times New Roman"/>
                    <a:ea typeface="SimSun"/>
                    <a:cs typeface="Times New Roman"/>
                  </a:rPr>
                  <a:t>i</a:t>
                </a:r>
                <a:r>
                  <a:rPr lang="zh-CN" sz="2100" i="1" dirty="0">
                    <a:solidFill>
                      <a:srgbClr val="111111"/>
                    </a:solidFill>
                    <a:latin typeface="Times New Roman"/>
                    <a:ea typeface="SimSun"/>
                    <a:cs typeface="Times New Roman"/>
                  </a:rPr>
                  <a:t>&gt;) = E</a:t>
                </a:r>
                <a:r>
                  <a:rPr lang="zh-CN" sz="1200" i="1" dirty="0">
                    <a:solidFill>
                      <a:srgbClr val="111111"/>
                    </a:solidFill>
                    <a:latin typeface="Times New Roman"/>
                    <a:ea typeface="SimSun"/>
                    <a:cs typeface="Times New Roman"/>
                  </a:rPr>
                  <a:t>mean</a:t>
                </a:r>
                <a:r>
                  <a:rPr lang="zh-CN" sz="2100" i="1" dirty="0">
                    <a:solidFill>
                      <a:srgbClr val="111111"/>
                    </a:solidFill>
                    <a:latin typeface="Times New Roman"/>
                    <a:ea typeface="SimSun"/>
                    <a:cs typeface="Times New Roman"/>
                  </a:rPr>
                  <a:t>+ α · E</a:t>
                </a:r>
                <a:r>
                  <a:rPr lang="zh-CN" sz="1200" i="1" dirty="0">
                    <a:solidFill>
                      <a:srgbClr val="169966"/>
                    </a:solidFill>
                    <a:latin typeface="Times New Roman"/>
                    <a:ea typeface="SimSun"/>
                    <a:cs typeface="Times New Roman"/>
                  </a:rPr>
                  <a:t>axis</a:t>
                </a:r>
                <a:r>
                  <a:rPr lang="zh-CN" sz="2100" i="1" dirty="0">
                    <a:solidFill>
                      <a:srgbClr val="169966"/>
                    </a:solidFill>
                    <a:latin typeface="Times New Roman"/>
                    <a:ea typeface="SimSun"/>
                    <a:cs typeface="Times New Roman"/>
                  </a:rPr>
                  <a:t>(Z)</a:t>
                </a:r>
                <a:r>
                  <a:rPr lang="zh-CN" sz="2100" i="1" dirty="0">
                    <a:solidFill>
                      <a:srgbClr val="111111"/>
                    </a:solidFill>
                    <a:latin typeface="Times New Roman"/>
                    <a:ea typeface="SimSun"/>
                    <a:cs typeface="Times New Roman"/>
                  </a:rPr>
                  <a:t>+ β · E</a:t>
                </a:r>
                <a:r>
                  <a:rPr lang="zh-CN" sz="1200" i="1" dirty="0">
                    <a:solidFill>
                      <a:srgbClr val="111111"/>
                    </a:solidFill>
                    <a:latin typeface="Times New Roman"/>
                    <a:ea typeface="SimSun"/>
                    <a:cs typeface="Times New Roman"/>
                  </a:rPr>
                  <a:t>num</a:t>
                </a:r>
                <a:r>
                  <a:rPr lang="zh-CN" sz="2100" i="1" dirty="0">
                    <a:solidFill>
                      <a:srgbClr val="111111"/>
                    </a:solidFill>
                    <a:latin typeface="Times New Roman"/>
                    <a:ea typeface="SimSun"/>
                    <a:cs typeface="Times New Roman"/>
                  </a:rPr>
                  <a:t>(i) + ε</a:t>
                </a:r>
              </a:p>
            </p:txBody>
          </p:sp>
        </p:grpSp>
      </p:grpSp>
      <p:sp>
        <p:nvSpPr>
          <p:cNvPr id="213" name="Freeform 213"/>
          <p:cNvSpPr/>
          <p:nvPr/>
        </p:nvSpPr>
        <p:spPr>
          <a:xfrm>
            <a:off x="11144250" y="3886200"/>
            <a:ext cx="285750" cy="9525"/>
          </a:xfrm>
          <a:custGeom>
            <a:avLst/>
            <a:gdLst/>
            <a:ahLst/>
            <a:cxnLst/>
            <a:rect l="l" t="t" r="r" b="b"/>
            <a:pathLst>
              <a:path w="285750" h="9525">
                <a:moveTo>
                  <a:pt x="0" y="0"/>
                </a:moveTo>
                <a:lnTo>
                  <a:pt x="285750" y="0"/>
                </a:lnTo>
              </a:path>
            </a:pathLst>
          </a:custGeom>
          <a:solidFill>
            <a:srgbClr val="000000"/>
          </a:solidFill>
          <a:ln w="133350">
            <a:solidFill>
              <a:srgbClr val="0A58C7"/>
            </a:solidFill>
          </a:ln>
        </p:spPr>
      </p:sp>
      <p:grpSp>
        <p:nvGrpSpPr>
          <p:cNvPr id="276" name="Group 276"/>
          <p:cNvGrpSpPr/>
          <p:nvPr/>
        </p:nvGrpSpPr>
        <p:grpSpPr>
          <a:xfrm>
            <a:off x="11403084" y="876300"/>
            <a:ext cx="4308403" cy="6629400"/>
            <a:chOff x="11403084" y="876300"/>
            <a:chExt cx="4308403" cy="6629400"/>
          </a:xfrm>
        </p:grpSpPr>
        <p:sp>
          <p:nvSpPr>
            <p:cNvPr id="214" name="Freeform 214"/>
            <p:cNvSpPr/>
            <p:nvPr/>
          </p:nvSpPr>
          <p:spPr>
            <a:xfrm>
              <a:off x="11468100" y="876300"/>
              <a:ext cx="3867150" cy="6629400"/>
            </a:xfrm>
            <a:custGeom>
              <a:avLst/>
              <a:gdLst/>
              <a:ahLst/>
              <a:cxnLst/>
              <a:rect l="l" t="t" r="r" b="b"/>
              <a:pathLst>
                <a:path w="3867150" h="6629400">
                  <a:moveTo>
                    <a:pt x="114300" y="0"/>
                  </a:moveTo>
                  <a:lnTo>
                    <a:pt x="3752850" y="0"/>
                  </a:lnTo>
                  <a:cubicBezTo>
                    <a:pt x="3815976" y="0"/>
                    <a:pt x="3867150" y="51174"/>
                    <a:pt x="3867150" y="114300"/>
                  </a:cubicBezTo>
                  <a:lnTo>
                    <a:pt x="3867150" y="6515100"/>
                  </a:lnTo>
                  <a:cubicBezTo>
                    <a:pt x="3867150" y="6578226"/>
                    <a:pt x="3815976" y="6629400"/>
                    <a:pt x="3752850" y="6629400"/>
                  </a:cubicBezTo>
                  <a:lnTo>
                    <a:pt x="114300" y="6629400"/>
                  </a:lnTo>
                  <a:cubicBezTo>
                    <a:pt x="51174" y="6629400"/>
                    <a:pt x="0" y="6578226"/>
                    <a:pt x="0" y="65151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F7FBFF"/>
                </a:gs>
              </a:gsLst>
              <a:lin ang="5400000" scaled="1"/>
            </a:gradFill>
            <a:ln w="19050">
              <a:solidFill>
                <a:srgbClr val="1766C2"/>
              </a:solidFill>
            </a:ln>
            <a:effectLst>
              <a:glow rad="76200">
                <a:srgbClr val="000000">
                  <a:alpha val="30000"/>
                </a:srgbClr>
              </a:glow>
            </a:effectLst>
          </p:spPr>
        </p:sp>
        <p:sp>
          <p:nvSpPr>
            <p:cNvPr id="215" name="Freeform 215"/>
            <p:cNvSpPr/>
            <p:nvPr/>
          </p:nvSpPr>
          <p:spPr>
            <a:xfrm>
              <a:off x="11468100" y="876300"/>
              <a:ext cx="3867150" cy="495300"/>
            </a:xfrm>
            <a:custGeom>
              <a:avLst/>
              <a:gdLst/>
              <a:ahLst/>
              <a:cxnLst/>
              <a:rect l="l" t="t" r="r" b="b"/>
              <a:pathLst>
                <a:path w="3867150" h="495300">
                  <a:moveTo>
                    <a:pt x="114300" y="0"/>
                  </a:moveTo>
                  <a:lnTo>
                    <a:pt x="3752850" y="0"/>
                  </a:lnTo>
                  <a:cubicBezTo>
                    <a:pt x="3815976" y="0"/>
                    <a:pt x="3867150" y="51174"/>
                    <a:pt x="3867150" y="114300"/>
                  </a:cubicBezTo>
                  <a:lnTo>
                    <a:pt x="3867150" y="381000"/>
                  </a:lnTo>
                  <a:cubicBezTo>
                    <a:pt x="3867150" y="444126"/>
                    <a:pt x="3815976" y="495300"/>
                    <a:pt x="3752850" y="495300"/>
                  </a:cubicBezTo>
                  <a:lnTo>
                    <a:pt x="114300" y="495300"/>
                  </a:lnTo>
                  <a:cubicBezTo>
                    <a:pt x="51174" y="495300"/>
                    <a:pt x="0" y="444126"/>
                    <a:pt x="0" y="3810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gradFill>
              <a:gsLst>
                <a:gs pos="0">
                  <a:srgbClr val="0A4FB8"/>
                </a:gs>
                <a:gs pos="100000">
                  <a:srgbClr val="0B65D8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216" name="Ellipse 216"/>
            <p:cNvSpPr/>
            <p:nvPr/>
          </p:nvSpPr>
          <p:spPr>
            <a:xfrm>
              <a:off x="12068175" y="942975"/>
              <a:ext cx="361950" cy="3619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17" name="TextBox 217"/>
            <p:cNvSpPr txBox="1"/>
            <p:nvPr/>
          </p:nvSpPr>
          <p:spPr>
            <a:xfrm>
              <a:off x="12125688" y="966788"/>
              <a:ext cx="246924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0B55BB"/>
                  </a:solidFill>
                  <a:latin typeface="Segoe UI"/>
                  <a:ea typeface="Microsoft YaHei"/>
                  <a:cs typeface="Segoe UI"/>
                </a:rPr>
                <a:t>3</a:t>
              </a:r>
            </a:p>
          </p:txBody>
        </p:sp>
        <p:sp>
          <p:nvSpPr>
            <p:cNvPr id="218" name="TextBox 218"/>
            <p:cNvSpPr txBox="1"/>
            <p:nvPr/>
          </p:nvSpPr>
          <p:spPr>
            <a:xfrm>
              <a:off x="12682538" y="988219"/>
              <a:ext cx="2060377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000000"/>
                  </a:solidFill>
                  <a:latin typeface="Noto Sans CJK SC"/>
                  <a:ea typeface="Microsoft YaHei"/>
                  <a:cs typeface="Noto Sans CJK SC"/>
                </a:rPr>
                <a:t>初始化后的效果</a:t>
              </a:r>
            </a:p>
          </p:txBody>
        </p:sp>
        <p:sp>
          <p:nvSpPr>
            <p:cNvPr id="219" name="TextBox 219"/>
            <p:cNvSpPr txBox="1"/>
            <p:nvPr/>
          </p:nvSpPr>
          <p:spPr>
            <a:xfrm>
              <a:off x="11744623" y="1503521"/>
              <a:ext cx="331410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b="1" dirty="0">
                  <a:solidFill>
                    <a:srgbClr val="11254A"/>
                  </a:solidFill>
                  <a:latin typeface="Noto Sans CJK SC"/>
                  <a:ea typeface="Microsoft YaHei"/>
                  <a:cs typeface="Noto Sans CJK SC"/>
                </a:rPr>
                <a:t>同轴相邻数值更接近（二维示意）</a:t>
              </a:r>
            </a:p>
          </p:txBody>
        </p:sp>
        <p:grpSp>
          <p:nvGrpSpPr>
            <p:cNvPr id="232" name="Group 232"/>
            <p:cNvGrpSpPr/>
            <p:nvPr/>
          </p:nvGrpSpPr>
          <p:grpSpPr>
            <a:xfrm>
              <a:off x="11615738" y="1783556"/>
              <a:ext cx="3760945" cy="1533525"/>
              <a:chOff x="11615738" y="1783556"/>
              <a:chExt cx="3760945" cy="1533525"/>
            </a:xfrm>
          </p:grpSpPr>
          <p:sp>
            <p:nvSpPr>
              <p:cNvPr id="220" name="Line 220"/>
              <p:cNvSpPr/>
              <p:nvPr/>
            </p:nvSpPr>
            <p:spPr>
              <a:xfrm>
                <a:off x="12058650" y="2990850"/>
                <a:ext cx="3048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48000" h="9525">
                    <a:moveTo>
                      <a:pt x="0" y="0"/>
                    </a:moveTo>
                    <a:lnTo>
                      <a:pt x="3048000" y="0"/>
                    </a:lnTo>
                  </a:path>
                </a:pathLst>
              </a:custGeom>
              <a:noFill/>
              <a:ln w="19050">
                <a:solidFill>
                  <a:srgbClr val="111827"/>
                </a:solidFill>
              </a:ln>
            </p:spPr>
          </p:sp>
          <p:sp>
            <p:nvSpPr>
              <p:cNvPr id="221" name="Line 221"/>
              <p:cNvSpPr/>
              <p:nvPr/>
            </p:nvSpPr>
            <p:spPr>
              <a:xfrm>
                <a:off x="12058650" y="1828800"/>
                <a:ext cx="9525" cy="1162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62050">
                    <a:moveTo>
                      <a:pt x="0" y="11620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11827"/>
                </a:solidFill>
              </a:ln>
            </p:spPr>
          </p:sp>
          <p:sp>
            <p:nvSpPr>
              <p:cNvPr id="222" name="TextBox 222"/>
              <p:cNvSpPr txBox="1"/>
              <p:nvPr/>
            </p:nvSpPr>
            <p:spPr>
              <a:xfrm>
                <a:off x="14920912" y="3088481"/>
                <a:ext cx="45577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1254A"/>
                    </a:solidFill>
                    <a:latin typeface="Noto Sans CJK SC"/>
                    <a:ea typeface="Microsoft YaHei"/>
                    <a:cs typeface="Noto Sans CJK SC"/>
                  </a:rPr>
                  <a:t>维度 1</a:t>
                </a:r>
              </a:p>
            </p:txBody>
          </p:sp>
          <p:sp>
            <p:nvSpPr>
              <p:cNvPr id="223" name="TextBox 223"/>
              <p:cNvSpPr txBox="1"/>
              <p:nvPr/>
            </p:nvSpPr>
            <p:spPr>
              <a:xfrm>
                <a:off x="11615738" y="1783556"/>
                <a:ext cx="49684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1254A"/>
                    </a:solidFill>
                    <a:latin typeface="Noto Sans CJK SC"/>
                    <a:ea typeface="Microsoft YaHei"/>
                    <a:cs typeface="Noto Sans CJK SC"/>
                  </a:rPr>
                  <a:t>维度 2</a:t>
                </a:r>
              </a:p>
            </p:txBody>
          </p:sp>
          <p:sp>
            <p:nvSpPr>
              <p:cNvPr id="224" name="Ellipse 224"/>
              <p:cNvSpPr/>
              <p:nvPr/>
            </p:nvSpPr>
            <p:spPr>
              <a:xfrm>
                <a:off x="12487275" y="2085975"/>
                <a:ext cx="133350" cy="133350"/>
              </a:xfrm>
              <a:prstGeom prst="ellipse">
                <a:avLst/>
              </a:prstGeom>
              <a:solidFill>
                <a:srgbClr val="0B5ED7"/>
              </a:solidFill>
              <a:ln>
                <a:noFill/>
              </a:ln>
            </p:spPr>
          </p:sp>
          <p:sp>
            <p:nvSpPr>
              <p:cNvPr id="225" name="Ellipse 225"/>
              <p:cNvSpPr/>
              <p:nvPr/>
            </p:nvSpPr>
            <p:spPr>
              <a:xfrm>
                <a:off x="12982575" y="2200275"/>
                <a:ext cx="133350" cy="133350"/>
              </a:xfrm>
              <a:prstGeom prst="ellipse">
                <a:avLst/>
              </a:prstGeom>
              <a:solidFill>
                <a:srgbClr val="0B5ED7"/>
              </a:solidFill>
              <a:ln>
                <a:noFill/>
              </a:ln>
            </p:spPr>
          </p:sp>
          <p:sp>
            <p:nvSpPr>
              <p:cNvPr id="226" name="Ellipse 226"/>
              <p:cNvSpPr/>
              <p:nvPr/>
            </p:nvSpPr>
            <p:spPr>
              <a:xfrm>
                <a:off x="14420850" y="2638425"/>
                <a:ext cx="133350" cy="133350"/>
              </a:xfrm>
              <a:prstGeom prst="ellipse">
                <a:avLst/>
              </a:prstGeom>
              <a:solidFill>
                <a:srgbClr val="0B5ED7"/>
              </a:solidFill>
              <a:ln>
                <a:noFill/>
              </a:ln>
            </p:spPr>
          </p:sp>
          <p:sp>
            <p:nvSpPr>
              <p:cNvPr id="227" name="Line 227"/>
              <p:cNvSpPr/>
              <p:nvPr/>
            </p:nvSpPr>
            <p:spPr>
              <a:xfrm>
                <a:off x="12553950" y="2152650"/>
                <a:ext cx="495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114300">
                    <a:moveTo>
                      <a:pt x="0" y="0"/>
                    </a:moveTo>
                    <a:lnTo>
                      <a:pt x="495300" y="114300"/>
                    </a:lnTo>
                  </a:path>
                </a:pathLst>
              </a:custGeom>
              <a:noFill/>
              <a:ln w="19050">
                <a:solidFill>
                  <a:srgbClr val="6B7280"/>
                </a:solidFill>
                <a:prstDash val="dash"/>
              </a:ln>
            </p:spPr>
          </p:sp>
          <p:sp>
            <p:nvSpPr>
              <p:cNvPr id="228" name="Line 228"/>
              <p:cNvSpPr/>
              <p:nvPr/>
            </p:nvSpPr>
            <p:spPr>
              <a:xfrm>
                <a:off x="13049250" y="2266950"/>
                <a:ext cx="1438275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438275" h="438150">
                    <a:moveTo>
                      <a:pt x="0" y="0"/>
                    </a:moveTo>
                    <a:lnTo>
                      <a:pt x="1438275" y="438150"/>
                    </a:lnTo>
                  </a:path>
                </a:pathLst>
              </a:custGeom>
              <a:noFill/>
              <a:ln w="19050">
                <a:solidFill>
                  <a:srgbClr val="6B7280"/>
                </a:solidFill>
                <a:prstDash val="dash"/>
              </a:ln>
            </p:spPr>
          </p:sp>
          <p:sp>
            <p:nvSpPr>
              <p:cNvPr id="229" name="TextBox 229"/>
              <p:cNvSpPr txBox="1"/>
              <p:nvPr/>
            </p:nvSpPr>
            <p:spPr>
              <a:xfrm>
                <a:off x="12257722" y="1830229"/>
                <a:ext cx="704213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11827"/>
                    </a:solidFill>
                    <a:latin typeface="Consolas"/>
                    <a:ea typeface="Microsoft YaHei"/>
                    <a:cs typeface="Consolas"/>
                  </a:rPr>
                  <a:t>&lt;X_7&gt;</a:t>
                </a:r>
              </a:p>
            </p:txBody>
          </p:sp>
          <p:sp>
            <p:nvSpPr>
              <p:cNvPr id="230" name="TextBox 230"/>
              <p:cNvSpPr txBox="1"/>
              <p:nvPr/>
            </p:nvSpPr>
            <p:spPr>
              <a:xfrm>
                <a:off x="13000672" y="1954054"/>
                <a:ext cx="704213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11827"/>
                    </a:solidFill>
                    <a:latin typeface="Consolas"/>
                    <a:ea typeface="Microsoft YaHei"/>
                    <a:cs typeface="Consolas"/>
                  </a:rPr>
                  <a:t>&lt;X_8&gt;</a:t>
                </a:r>
              </a:p>
            </p:txBody>
          </p:sp>
          <p:sp>
            <p:nvSpPr>
              <p:cNvPr id="231" name="TextBox 231"/>
              <p:cNvSpPr txBox="1"/>
              <p:nvPr/>
            </p:nvSpPr>
            <p:spPr>
              <a:xfrm>
                <a:off x="14467522" y="2344579"/>
                <a:ext cx="776672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11827"/>
                    </a:solidFill>
                    <a:latin typeface="Consolas"/>
                    <a:ea typeface="Microsoft YaHei"/>
                    <a:cs typeface="Consolas"/>
                  </a:rPr>
                  <a:t>&lt;X_15&gt;</a:t>
                </a:r>
              </a:p>
            </p:txBody>
          </p:sp>
        </p:grpSp>
        <p:sp>
          <p:nvSpPr>
            <p:cNvPr id="233" name="Freeform 233"/>
            <p:cNvSpPr/>
            <p:nvPr/>
          </p:nvSpPr>
          <p:spPr>
            <a:xfrm>
              <a:off x="11772900" y="3295650"/>
              <a:ext cx="3238500" cy="323850"/>
            </a:xfrm>
            <a:custGeom>
              <a:avLst/>
              <a:gdLst/>
              <a:ahLst/>
              <a:cxnLst/>
              <a:rect l="l" t="t" r="r" b="b"/>
              <a:pathLst>
                <a:path w="3238500" h="323850">
                  <a:moveTo>
                    <a:pt x="57150" y="0"/>
                  </a:moveTo>
                  <a:lnTo>
                    <a:pt x="3181350" y="0"/>
                  </a:lnTo>
                  <a:cubicBezTo>
                    <a:pt x="3212913" y="0"/>
                    <a:pt x="3238500" y="25587"/>
                    <a:pt x="3238500" y="57150"/>
                  </a:cubicBezTo>
                  <a:lnTo>
                    <a:pt x="3238500" y="266700"/>
                  </a:lnTo>
                  <a:cubicBezTo>
                    <a:pt x="3238500" y="298263"/>
                    <a:pt x="3212913" y="323850"/>
                    <a:pt x="3181350" y="323850"/>
                  </a:cubicBezTo>
                  <a:lnTo>
                    <a:pt x="57150" y="323850"/>
                  </a:lnTo>
                  <a:cubicBezTo>
                    <a:pt x="25587" y="323850"/>
                    <a:pt x="0" y="298263"/>
                    <a:pt x="0" y="2667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7DA5E8"/>
              </a:solidFill>
            </a:ln>
          </p:spPr>
        </p:sp>
        <p:sp>
          <p:nvSpPr>
            <p:cNvPr id="234" name="TextBox 234"/>
            <p:cNvSpPr txBox="1"/>
            <p:nvPr/>
          </p:nvSpPr>
          <p:spPr>
            <a:xfrm>
              <a:off x="11403084" y="3368992"/>
              <a:ext cx="397813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1254A"/>
                  </a:solidFill>
                  <a:latin typeface="Noto Sans CJK SC"/>
                  <a:ea typeface="Microsoft YaHei"/>
                  <a:cs typeface="Noto Sans CJK SC"/>
                </a:rPr>
                <a:t>cos(&lt;X_7&gt;,&lt;X_8&gt;) &gt; cos(&lt;X_7&gt;,&lt;X_15&gt;)</a:t>
              </a:r>
            </a:p>
          </p:txBody>
        </p:sp>
        <p:sp>
          <p:nvSpPr>
            <p:cNvPr id="235" name="Line 235"/>
            <p:cNvSpPr/>
            <p:nvPr/>
          </p:nvSpPr>
          <p:spPr>
            <a:xfrm>
              <a:off x="11734800" y="3771900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0" y="0"/>
                  </a:moveTo>
                  <a:lnTo>
                    <a:pt x="3333750" y="0"/>
                  </a:lnTo>
                </a:path>
              </a:pathLst>
            </a:custGeom>
            <a:noFill/>
            <a:ln w="19050">
              <a:solidFill>
                <a:srgbClr val="7A8395"/>
              </a:solidFill>
              <a:prstDash val="dash"/>
            </a:ln>
          </p:spPr>
        </p:sp>
        <p:sp>
          <p:nvSpPr>
            <p:cNvPr id="236" name="TextBox 236"/>
            <p:cNvSpPr txBox="1"/>
            <p:nvPr/>
          </p:nvSpPr>
          <p:spPr>
            <a:xfrm>
              <a:off x="11935349" y="3902392"/>
              <a:ext cx="29326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1254A"/>
                  </a:solidFill>
                  <a:latin typeface="Noto Sans CJK SC"/>
                  <a:ea typeface="Microsoft YaHei"/>
                  <a:cs typeface="Noto Sans CJK SC"/>
                </a:rPr>
                <a:t>同一数值，不同轴共享数值信息</a:t>
              </a:r>
            </a:p>
          </p:txBody>
        </p:sp>
        <p:grpSp>
          <p:nvGrpSpPr>
            <p:cNvPr id="246" name="Group 246"/>
            <p:cNvGrpSpPr/>
            <p:nvPr/>
          </p:nvGrpSpPr>
          <p:grpSpPr>
            <a:xfrm>
              <a:off x="12094845" y="4127182"/>
              <a:ext cx="2680847" cy="1406843"/>
              <a:chOff x="12094845" y="4127182"/>
              <a:chExt cx="2680847" cy="1406843"/>
            </a:xfrm>
          </p:grpSpPr>
          <p:sp>
            <p:nvSpPr>
              <p:cNvPr id="237" name="Ellipse 237"/>
              <p:cNvSpPr/>
              <p:nvPr/>
            </p:nvSpPr>
            <p:spPr>
              <a:xfrm>
                <a:off x="12801600" y="4486275"/>
                <a:ext cx="1181100" cy="1047750"/>
              </a:xfrm>
              <a:prstGeom prst="ellipse">
                <a:avLst/>
              </a:prstGeom>
              <a:noFill/>
              <a:ln w="19050">
                <a:solidFill>
                  <a:srgbClr val="8B929E"/>
                </a:solidFill>
                <a:prstDash val="dash"/>
              </a:ln>
            </p:spPr>
          </p:sp>
          <p:sp>
            <p:nvSpPr>
              <p:cNvPr id="238" name="Ellipse 238"/>
              <p:cNvSpPr/>
              <p:nvPr/>
            </p:nvSpPr>
            <p:spPr>
              <a:xfrm>
                <a:off x="13315950" y="4400550"/>
                <a:ext cx="152400" cy="152400"/>
              </a:xfrm>
              <a:prstGeom prst="ellipse">
                <a:avLst/>
              </a:prstGeom>
              <a:solidFill>
                <a:srgbClr val="0B5ED7"/>
              </a:solidFill>
              <a:ln>
                <a:noFill/>
              </a:ln>
            </p:spPr>
          </p:sp>
          <p:sp>
            <p:nvSpPr>
              <p:cNvPr id="239" name="Ellipse 239"/>
              <p:cNvSpPr/>
              <p:nvPr/>
            </p:nvSpPr>
            <p:spPr>
              <a:xfrm>
                <a:off x="12744450" y="5010150"/>
                <a:ext cx="152400" cy="152400"/>
              </a:xfrm>
              <a:prstGeom prst="ellipse">
                <a:avLst/>
              </a:prstGeom>
              <a:solidFill>
                <a:srgbClr val="8065D8"/>
              </a:solidFill>
              <a:ln>
                <a:noFill/>
              </a:ln>
            </p:spPr>
          </p:sp>
          <p:sp>
            <p:nvSpPr>
              <p:cNvPr id="240" name="Ellipse 240"/>
              <p:cNvSpPr/>
              <p:nvPr/>
            </p:nvSpPr>
            <p:spPr>
              <a:xfrm>
                <a:off x="13868400" y="5029200"/>
                <a:ext cx="152400" cy="152400"/>
              </a:xfrm>
              <a:prstGeom prst="ellipse">
                <a:avLst/>
              </a:prstGeom>
              <a:solidFill>
                <a:srgbClr val="0B8B78"/>
              </a:solidFill>
              <a:ln>
                <a:noFill/>
              </a:ln>
            </p:spPr>
          </p:sp>
          <p:sp>
            <p:nvSpPr>
              <p:cNvPr id="241" name="TextBox 241"/>
              <p:cNvSpPr txBox="1"/>
              <p:nvPr/>
            </p:nvSpPr>
            <p:spPr>
              <a:xfrm>
                <a:off x="13142595" y="4127182"/>
                <a:ext cx="737747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11827"/>
                    </a:solidFill>
                    <a:latin typeface="Consolas"/>
                    <a:ea typeface="Microsoft YaHei"/>
                    <a:cs typeface="Consolas"/>
                  </a:rPr>
                  <a:t>&lt;X_7&gt;</a:t>
                </a:r>
              </a:p>
            </p:txBody>
          </p:sp>
          <p:sp>
            <p:nvSpPr>
              <p:cNvPr id="242" name="TextBox 242"/>
              <p:cNvSpPr txBox="1"/>
              <p:nvPr/>
            </p:nvSpPr>
            <p:spPr>
              <a:xfrm>
                <a:off x="12094845" y="5060632"/>
                <a:ext cx="737747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11827"/>
                    </a:solidFill>
                    <a:latin typeface="Consolas"/>
                    <a:ea typeface="Microsoft YaHei"/>
                    <a:cs typeface="Consolas"/>
                  </a:rPr>
                  <a:t>&lt;Y_7&gt;</a:t>
                </a:r>
              </a:p>
            </p:txBody>
          </p:sp>
          <p:sp>
            <p:nvSpPr>
              <p:cNvPr id="243" name="TextBox 243"/>
              <p:cNvSpPr txBox="1"/>
              <p:nvPr/>
            </p:nvSpPr>
            <p:spPr>
              <a:xfrm>
                <a:off x="14037945" y="5079682"/>
                <a:ext cx="737747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11827"/>
                    </a:solidFill>
                    <a:latin typeface="Consolas"/>
                    <a:ea typeface="Microsoft YaHei"/>
                    <a:cs typeface="Consolas"/>
                  </a:rPr>
                  <a:t>&lt;Z_7&gt;</a:t>
                </a:r>
              </a:p>
            </p:txBody>
          </p:sp>
          <p:sp>
            <p:nvSpPr>
              <p:cNvPr id="244" name="Freeform 244"/>
              <p:cNvSpPr/>
              <p:nvPr/>
            </p:nvSpPr>
            <p:spPr>
              <a:xfrm>
                <a:off x="12954000" y="4495800"/>
                <a:ext cx="438150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438150" h="533400">
                    <a:moveTo>
                      <a:pt x="0" y="533400"/>
                    </a:moveTo>
                    <a:cubicBezTo>
                      <a:pt x="228600" y="215900"/>
                      <a:pt x="374650" y="38100"/>
                      <a:pt x="438150" y="0"/>
                    </a:cubicBezTo>
                  </a:path>
                </a:pathLst>
              </a:custGeom>
              <a:noFill/>
              <a:ln w="19050">
                <a:solidFill>
                  <a:srgbClr val="9CA3AF"/>
                </a:solidFill>
                <a:prstDash val="dash"/>
              </a:ln>
            </p:spPr>
          </p:sp>
          <p:sp>
            <p:nvSpPr>
              <p:cNvPr id="245" name="Freeform 245"/>
              <p:cNvSpPr/>
              <p:nvPr/>
            </p:nvSpPr>
            <p:spPr>
              <a:xfrm>
                <a:off x="13392150" y="4495800"/>
                <a:ext cx="438150" cy="552450"/>
              </a:xfrm>
              <a:custGeom>
                <a:avLst/>
                <a:gdLst/>
                <a:ahLst/>
                <a:cxnLst/>
                <a:rect l="l" t="t" r="r" b="b"/>
                <a:pathLst>
                  <a:path w="438150" h="552450">
                    <a:moveTo>
                      <a:pt x="438150" y="552450"/>
                    </a:moveTo>
                    <a:cubicBezTo>
                      <a:pt x="209550" y="247650"/>
                      <a:pt x="63500" y="63500"/>
                      <a:pt x="0" y="0"/>
                    </a:cubicBezTo>
                  </a:path>
                </a:pathLst>
              </a:custGeom>
              <a:noFill/>
              <a:ln w="19050">
                <a:solidFill>
                  <a:srgbClr val="9CA3AF"/>
                </a:solidFill>
                <a:prstDash val="dash"/>
              </a:ln>
            </p:spPr>
          </p:sp>
        </p:grpSp>
        <p:sp>
          <p:nvSpPr>
            <p:cNvPr id="247" name="TextBox 247"/>
            <p:cNvSpPr txBox="1"/>
            <p:nvPr/>
          </p:nvSpPr>
          <p:spPr>
            <a:xfrm>
              <a:off x="11797665" y="5569268"/>
              <a:ext cx="31889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1254A"/>
                  </a:solidFill>
                  <a:latin typeface="Noto Sans CJK SC"/>
                  <a:ea typeface="Microsoft YaHei"/>
                  <a:cs typeface="Noto Sans CJK SC"/>
                </a:rPr>
                <a:t>共享数值信息，但通过轴向语义区分</a:t>
              </a:r>
            </a:p>
          </p:txBody>
        </p:sp>
        <p:sp>
          <p:nvSpPr>
            <p:cNvPr id="248" name="TextBox 248"/>
            <p:cNvSpPr txBox="1"/>
            <p:nvPr/>
          </p:nvSpPr>
          <p:spPr>
            <a:xfrm>
              <a:off x="14537055" y="5569268"/>
              <a:ext cx="1481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177DF"/>
                  </a:solidFill>
                  <a:latin typeface="Noto Sans CJK SC"/>
                  <a:ea typeface="Microsoft YaHei"/>
                  <a:cs typeface="Noto Sans CJK SC"/>
                </a:rPr>
                <a:t>X</a:t>
              </a:r>
            </a:p>
          </p:txBody>
        </p:sp>
        <p:sp>
          <p:nvSpPr>
            <p:cNvPr id="249" name="TextBox 249"/>
            <p:cNvSpPr txBox="1"/>
            <p:nvPr/>
          </p:nvSpPr>
          <p:spPr>
            <a:xfrm>
              <a:off x="14746605" y="5569268"/>
              <a:ext cx="32412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065D8"/>
                  </a:solidFill>
                  <a:latin typeface="Noto Sans CJK SC"/>
                  <a:ea typeface="Microsoft YaHei"/>
                  <a:cs typeface="Noto Sans CJK SC"/>
                </a:rPr>
                <a:t>/ Y</a:t>
              </a:r>
            </a:p>
          </p:txBody>
        </p:sp>
        <p:sp>
          <p:nvSpPr>
            <p:cNvPr id="250" name="TextBox 250"/>
            <p:cNvSpPr txBox="1"/>
            <p:nvPr/>
          </p:nvSpPr>
          <p:spPr>
            <a:xfrm>
              <a:off x="15089505" y="5569268"/>
              <a:ext cx="32412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69966"/>
                  </a:solidFill>
                  <a:latin typeface="Noto Sans CJK SC"/>
                  <a:ea typeface="Microsoft YaHei"/>
                  <a:cs typeface="Noto Sans CJK SC"/>
                </a:rPr>
                <a:t>/ Z</a:t>
              </a:r>
            </a:p>
          </p:txBody>
        </p:sp>
        <p:grpSp>
          <p:nvGrpSpPr>
            <p:cNvPr id="275" name="Group 275"/>
            <p:cNvGrpSpPr/>
            <p:nvPr/>
          </p:nvGrpSpPr>
          <p:grpSpPr>
            <a:xfrm>
              <a:off x="11620500" y="5724525"/>
              <a:ext cx="4090987" cy="1640681"/>
              <a:chOff x="11620500" y="5724525"/>
              <a:chExt cx="4090987" cy="1640681"/>
            </a:xfrm>
          </p:grpSpPr>
          <p:sp>
            <p:nvSpPr>
              <p:cNvPr id="251" name="Freeform 251"/>
              <p:cNvSpPr/>
              <p:nvPr/>
            </p:nvSpPr>
            <p:spPr>
              <a:xfrm>
                <a:off x="11620500" y="5848350"/>
                <a:ext cx="3562350" cy="1504950"/>
              </a:xfrm>
              <a:custGeom>
                <a:avLst/>
                <a:gdLst/>
                <a:ahLst/>
                <a:cxnLst/>
                <a:rect l="l" t="t" r="r" b="b"/>
                <a:pathLst>
                  <a:path w="3562350" h="1504950">
                    <a:moveTo>
                      <a:pt x="95250" y="0"/>
                    </a:moveTo>
                    <a:lnTo>
                      <a:pt x="3467100" y="0"/>
                    </a:lnTo>
                    <a:cubicBezTo>
                      <a:pt x="3519705" y="0"/>
                      <a:pt x="3562350" y="42645"/>
                      <a:pt x="3562350" y="95250"/>
                    </a:cubicBezTo>
                    <a:lnTo>
                      <a:pt x="3562350" y="1409700"/>
                    </a:lnTo>
                    <a:cubicBezTo>
                      <a:pt x="3562350" y="1462305"/>
                      <a:pt x="3519705" y="1504950"/>
                      <a:pt x="3467100" y="1504950"/>
                    </a:cubicBezTo>
                    <a:lnTo>
                      <a:pt x="95250" y="1504950"/>
                    </a:lnTo>
                    <a:cubicBezTo>
                      <a:pt x="42645" y="1504950"/>
                      <a:pt x="0" y="1462305"/>
                      <a:pt x="0" y="1409700"/>
                    </a:cubicBezTo>
                    <a:lnTo>
                      <a:pt x="0" y="95250"/>
                    </a:lnTo>
                    <a:cubicBezTo>
                      <a:pt x="0" y="42645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2C69C7"/>
                </a:solidFill>
              </a:ln>
            </p:spPr>
          </p:sp>
          <p:sp>
            <p:nvSpPr>
              <p:cNvPr id="252" name="Freeform 252"/>
              <p:cNvSpPr/>
              <p:nvPr/>
            </p:nvSpPr>
            <p:spPr>
              <a:xfrm>
                <a:off x="12896850" y="5724525"/>
                <a:ext cx="9144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914400" h="266700">
                    <a:moveTo>
                      <a:pt x="133350" y="0"/>
                    </a:moveTo>
                    <a:lnTo>
                      <a:pt x="781050" y="0"/>
                    </a:lnTo>
                    <a:cubicBezTo>
                      <a:pt x="854697" y="0"/>
                      <a:pt x="914400" y="59703"/>
                      <a:pt x="914400" y="133350"/>
                    </a:cubicBezTo>
                    <a:lnTo>
                      <a:pt x="914400" y="133350"/>
                    </a:lnTo>
                    <a:cubicBezTo>
                      <a:pt x="914400" y="206997"/>
                      <a:pt x="854697" y="266700"/>
                      <a:pt x="781050" y="266700"/>
                    </a:cubicBezTo>
                    <a:lnTo>
                      <a:pt x="133350" y="266700"/>
                    </a:lnTo>
                    <a:cubicBezTo>
                      <a:pt x="59703" y="266700"/>
                      <a:pt x="0" y="206997"/>
                      <a:pt x="0" y="133350"/>
                    </a:cubicBezTo>
                    <a:lnTo>
                      <a:pt x="0" y="133350"/>
                    </a:lnTo>
                    <a:cubicBezTo>
                      <a:pt x="0" y="59703"/>
                      <a:pt x="59703" y="0"/>
                      <a:pt x="133350" y="0"/>
                    </a:cubicBezTo>
                    <a:close/>
                  </a:path>
                </a:pathLst>
              </a:custGeom>
              <a:solidFill>
                <a:srgbClr val="0B55C5"/>
              </a:solidFill>
              <a:ln>
                <a:noFill/>
              </a:ln>
            </p:spPr>
          </p:sp>
          <p:sp>
            <p:nvSpPr>
              <p:cNvPr id="253" name="TextBox 253"/>
              <p:cNvSpPr txBox="1"/>
              <p:nvPr/>
            </p:nvSpPr>
            <p:spPr>
              <a:xfrm>
                <a:off x="13129879" y="5778818"/>
                <a:ext cx="44834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000000"/>
                    </a:solidFill>
                    <a:latin typeface="Noto Sans CJK SC"/>
                    <a:ea typeface="Microsoft YaHei"/>
                    <a:cs typeface="Noto Sans CJK SC"/>
                  </a:rPr>
                  <a:t>收益</a:t>
                </a:r>
              </a:p>
            </p:txBody>
          </p:sp>
          <p:grpSp>
            <p:nvGrpSpPr>
              <p:cNvPr id="257" name="Group 257"/>
              <p:cNvGrpSpPr/>
              <p:nvPr/>
            </p:nvGrpSpPr>
            <p:grpSpPr>
              <a:xfrm>
                <a:off x="11877675" y="6048375"/>
                <a:ext cx="2585085" cy="345281"/>
                <a:chOff x="11877675" y="6048375"/>
                <a:chExt cx="2585085" cy="345281"/>
              </a:xfrm>
            </p:grpSpPr>
            <p:sp>
              <p:nvSpPr>
                <p:cNvPr id="254" name="Ellipse 254"/>
                <p:cNvSpPr/>
                <p:nvPr/>
              </p:nvSpPr>
              <p:spPr>
                <a:xfrm>
                  <a:off x="11877675" y="6048375"/>
                  <a:ext cx="285750" cy="285750"/>
                </a:xfrm>
                <a:prstGeom prst="ellipse">
                  <a:avLst/>
                </a:prstGeom>
                <a:noFill/>
                <a:ln w="19050">
                  <a:solidFill>
                    <a:srgbClr val="3B6CC8"/>
                  </a:solidFill>
                </a:ln>
              </p:spPr>
            </p:sp>
            <p:sp>
              <p:nvSpPr>
                <p:cNvPr id="255" name="Freeform 255"/>
                <p:cNvSpPr/>
                <p:nvPr/>
              </p:nvSpPr>
              <p:spPr>
                <a:xfrm>
                  <a:off x="11963400" y="6124575"/>
                  <a:ext cx="11430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90500">
                      <a:moveTo>
                        <a:pt x="0" y="57150"/>
                      </a:moveTo>
                      <a:lnTo>
                        <a:pt x="114300" y="57150"/>
                      </a:lnTo>
                      <a:moveTo>
                        <a:pt x="57150" y="0"/>
                      </a:moveTo>
                      <a:lnTo>
                        <a:pt x="57150" y="180975"/>
                      </a:lnTo>
                      <a:moveTo>
                        <a:pt x="114300" y="0"/>
                      </a:moveTo>
                      <a:cubicBezTo>
                        <a:pt x="38100" y="38100"/>
                        <a:pt x="38100" y="152400"/>
                        <a:pt x="114300" y="190500"/>
                      </a:cubicBezTo>
                    </a:path>
                  </a:pathLst>
                </a:custGeom>
                <a:noFill/>
                <a:ln w="19050">
                  <a:solidFill>
                    <a:srgbClr val="3B6CC8"/>
                  </a:solidFill>
                </a:ln>
              </p:spPr>
            </p:sp>
            <p:sp>
              <p:nvSpPr>
                <p:cNvPr id="256" name="TextBox 256"/>
                <p:cNvSpPr txBox="1"/>
                <p:nvPr/>
              </p:nvSpPr>
              <p:spPr>
                <a:xfrm>
                  <a:off x="12345352" y="6104096"/>
                  <a:ext cx="2117408" cy="2895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425" dirty="0">
                      <a:solidFill>
                        <a:srgbClr val="11254A"/>
                      </a:solidFill>
                      <a:latin typeface="Noto Sans CJK SC"/>
                      <a:ea typeface="Microsoft YaHei"/>
                      <a:cs typeface="Noto Sans CJK SC"/>
                    </a:rPr>
                    <a:t>显式注入坐标顺序先验</a:t>
                  </a:r>
                </a:p>
              </p:txBody>
            </p:sp>
          </p:grpSp>
          <p:grpSp>
            <p:nvGrpSpPr>
              <p:cNvPr id="261" name="Group 261"/>
              <p:cNvGrpSpPr/>
              <p:nvPr/>
            </p:nvGrpSpPr>
            <p:grpSpPr>
              <a:xfrm>
                <a:off x="11877675" y="6372225"/>
                <a:ext cx="2376963" cy="345281"/>
                <a:chOff x="11877675" y="6372225"/>
                <a:chExt cx="2376963" cy="345281"/>
              </a:xfrm>
            </p:grpSpPr>
            <p:sp>
              <p:nvSpPr>
                <p:cNvPr id="258" name="Ellipse 258"/>
                <p:cNvSpPr/>
                <p:nvPr/>
              </p:nvSpPr>
              <p:spPr>
                <a:xfrm>
                  <a:off x="11877675" y="6372225"/>
                  <a:ext cx="285750" cy="285750"/>
                </a:xfrm>
                <a:prstGeom prst="ellipse">
                  <a:avLst/>
                </a:prstGeom>
                <a:noFill/>
                <a:ln w="19050">
                  <a:solidFill>
                    <a:srgbClr val="3B6CC8"/>
                  </a:solidFill>
                </a:ln>
              </p:spPr>
            </p:sp>
            <p:sp>
              <p:nvSpPr>
                <p:cNvPr id="259" name="Freeform 259"/>
                <p:cNvSpPr/>
                <p:nvPr/>
              </p:nvSpPr>
              <p:spPr>
                <a:xfrm>
                  <a:off x="11915775" y="6419850"/>
                  <a:ext cx="247650" cy="247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650" h="247650">
                      <a:moveTo>
                        <a:pt x="0" y="133350"/>
                      </a:moveTo>
                      <a:cubicBezTo>
                        <a:pt x="57150" y="0"/>
                        <a:pt x="142875" y="247650"/>
                        <a:pt x="247650" y="76200"/>
                      </a:cubicBezTo>
                    </a:path>
                  </a:pathLst>
                </a:custGeom>
                <a:noFill/>
                <a:ln w="19050">
                  <a:solidFill>
                    <a:srgbClr val="3B6CC8"/>
                  </a:solidFill>
                </a:ln>
              </p:spPr>
            </p:sp>
            <p:sp>
              <p:nvSpPr>
                <p:cNvPr id="260" name="TextBox 260"/>
                <p:cNvSpPr txBox="1"/>
                <p:nvPr/>
              </p:nvSpPr>
              <p:spPr>
                <a:xfrm>
                  <a:off x="12345352" y="6427946"/>
                  <a:ext cx="1909286" cy="2895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425" dirty="0">
                      <a:solidFill>
                        <a:srgbClr val="11254A"/>
                      </a:solidFill>
                      <a:latin typeface="Noto Sans CJK SC"/>
                      <a:ea typeface="Microsoft YaHei"/>
                      <a:cs typeface="Noto Sans CJK SC"/>
                    </a:rPr>
                    <a:t>增强空间连续性建模</a:t>
                  </a:r>
                </a:p>
              </p:txBody>
            </p:sp>
          </p:grpSp>
          <p:grpSp>
            <p:nvGrpSpPr>
              <p:cNvPr id="266" name="Group 266"/>
              <p:cNvGrpSpPr/>
              <p:nvPr/>
            </p:nvGrpSpPr>
            <p:grpSpPr>
              <a:xfrm>
                <a:off x="11877675" y="6696075"/>
                <a:ext cx="3074169" cy="345281"/>
                <a:chOff x="11877675" y="6696075"/>
                <a:chExt cx="3074169" cy="345281"/>
              </a:xfrm>
            </p:grpSpPr>
            <p:sp>
              <p:nvSpPr>
                <p:cNvPr id="262" name="Ellipse 262"/>
                <p:cNvSpPr/>
                <p:nvPr/>
              </p:nvSpPr>
              <p:spPr>
                <a:xfrm>
                  <a:off x="11877675" y="6696075"/>
                  <a:ext cx="285750" cy="285750"/>
                </a:xfrm>
                <a:prstGeom prst="ellipse">
                  <a:avLst/>
                </a:prstGeom>
                <a:noFill/>
                <a:ln w="19050">
                  <a:solidFill>
                    <a:srgbClr val="3B6CC8"/>
                  </a:solidFill>
                </a:ln>
              </p:spPr>
            </p:sp>
            <p:sp>
              <p:nvSpPr>
                <p:cNvPr id="263" name="Freeform 263"/>
                <p:cNvSpPr/>
                <p:nvPr/>
              </p:nvSpPr>
              <p:spPr>
                <a:xfrm>
                  <a:off x="11915775" y="6734175"/>
                  <a:ext cx="209550" cy="285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550" h="285750">
                      <a:moveTo>
                        <a:pt x="104775" y="0"/>
                      </a:moveTo>
                      <a:lnTo>
                        <a:pt x="209550" y="47625"/>
                      </a:lnTo>
                      <a:lnTo>
                        <a:pt x="209550" y="133350"/>
                      </a:lnTo>
                      <a:cubicBezTo>
                        <a:pt x="209550" y="209550"/>
                        <a:pt x="161925" y="257175"/>
                        <a:pt x="104775" y="285750"/>
                      </a:cubicBezTo>
                      <a:cubicBezTo>
                        <a:pt x="47625" y="257175"/>
                        <a:pt x="0" y="209550"/>
                        <a:pt x="0" y="133350"/>
                      </a:cubicBezTo>
                      <a:lnTo>
                        <a:pt x="0" y="47625"/>
                      </a:lnTo>
                      <a:close/>
                    </a:path>
                  </a:pathLst>
                </a:custGeom>
                <a:noFill/>
                <a:ln w="19050">
                  <a:solidFill>
                    <a:srgbClr val="3B6CC8"/>
                  </a:solidFill>
                </a:ln>
              </p:spPr>
            </p:sp>
            <p:sp>
              <p:nvSpPr>
                <p:cNvPr id="264" name="Freeform 264"/>
                <p:cNvSpPr/>
                <p:nvPr/>
              </p:nvSpPr>
              <p:spPr>
                <a:xfrm>
                  <a:off x="11963400" y="6810375"/>
                  <a:ext cx="11430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95250">
                      <a:moveTo>
                        <a:pt x="0" y="57150"/>
                      </a:moveTo>
                      <a:lnTo>
                        <a:pt x="38100" y="95250"/>
                      </a:lnTo>
                      <a:lnTo>
                        <a:pt x="114300" y="0"/>
                      </a:lnTo>
                    </a:path>
                  </a:pathLst>
                </a:custGeom>
                <a:noFill/>
                <a:ln w="19050">
                  <a:solidFill>
                    <a:srgbClr val="3B6CC8"/>
                  </a:solidFill>
                </a:ln>
              </p:spPr>
            </p:sp>
            <p:sp>
              <p:nvSpPr>
                <p:cNvPr id="265" name="TextBox 265"/>
                <p:cNvSpPr txBox="1"/>
                <p:nvPr/>
              </p:nvSpPr>
              <p:spPr>
                <a:xfrm>
                  <a:off x="12345352" y="6751796"/>
                  <a:ext cx="2606492" cy="2895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425" dirty="0">
                      <a:solidFill>
                        <a:srgbClr val="11254A"/>
                      </a:solidFill>
                      <a:latin typeface="Noto Sans CJK SC"/>
                      <a:ea typeface="Microsoft YaHei"/>
                      <a:cs typeface="Noto Sans CJK SC"/>
                    </a:rPr>
                    <a:t>提升坐标 token 学习稳定性</a:t>
                  </a:r>
                </a:p>
              </p:txBody>
            </p:sp>
          </p:grpSp>
          <p:grpSp>
            <p:nvGrpSpPr>
              <p:cNvPr id="274" name="Group 274"/>
              <p:cNvGrpSpPr/>
              <p:nvPr/>
            </p:nvGrpSpPr>
            <p:grpSpPr>
              <a:xfrm>
                <a:off x="11877675" y="7019925"/>
                <a:ext cx="3833812" cy="345281"/>
                <a:chOff x="11877675" y="7019925"/>
                <a:chExt cx="3833812" cy="345281"/>
              </a:xfrm>
            </p:grpSpPr>
            <p:sp>
              <p:nvSpPr>
                <p:cNvPr id="267" name="Ellipse 267"/>
                <p:cNvSpPr/>
                <p:nvPr/>
              </p:nvSpPr>
              <p:spPr>
                <a:xfrm>
                  <a:off x="11877675" y="7019925"/>
                  <a:ext cx="285750" cy="285750"/>
                </a:xfrm>
                <a:prstGeom prst="ellipse">
                  <a:avLst/>
                </a:prstGeom>
                <a:noFill/>
                <a:ln w="19050">
                  <a:solidFill>
                    <a:srgbClr val="3B6CC8"/>
                  </a:solidFill>
                </a:ln>
              </p:spPr>
            </p:sp>
            <p:sp>
              <p:nvSpPr>
                <p:cNvPr id="268" name="Ellipse 268"/>
                <p:cNvSpPr/>
                <p:nvPr/>
              </p:nvSpPr>
              <p:spPr>
                <a:xfrm>
                  <a:off x="11982450" y="7067550"/>
                  <a:ext cx="76200" cy="76200"/>
                </a:xfrm>
                <a:prstGeom prst="ellipse">
                  <a:avLst/>
                </a:prstGeom>
                <a:noFill/>
                <a:ln w="19050">
                  <a:solidFill>
                    <a:srgbClr val="3B6CC8"/>
                  </a:solidFill>
                </a:ln>
              </p:spPr>
            </p:sp>
            <p:sp>
              <p:nvSpPr>
                <p:cNvPr id="269" name="Ellipse 269"/>
                <p:cNvSpPr/>
                <p:nvPr/>
              </p:nvSpPr>
              <p:spPr>
                <a:xfrm>
                  <a:off x="11906250" y="7191375"/>
                  <a:ext cx="76200" cy="76200"/>
                </a:xfrm>
                <a:prstGeom prst="ellipse">
                  <a:avLst/>
                </a:prstGeom>
                <a:noFill/>
                <a:ln w="19050">
                  <a:solidFill>
                    <a:srgbClr val="3B6CC8"/>
                  </a:solidFill>
                </a:ln>
              </p:spPr>
            </p:sp>
            <p:sp>
              <p:nvSpPr>
                <p:cNvPr id="270" name="Ellipse 270"/>
                <p:cNvSpPr/>
                <p:nvPr/>
              </p:nvSpPr>
              <p:spPr>
                <a:xfrm>
                  <a:off x="12077700" y="7191375"/>
                  <a:ext cx="76200" cy="76200"/>
                </a:xfrm>
                <a:prstGeom prst="ellipse">
                  <a:avLst/>
                </a:prstGeom>
                <a:noFill/>
                <a:ln w="19050">
                  <a:solidFill>
                    <a:srgbClr val="3B6CC8"/>
                  </a:solidFill>
                </a:ln>
              </p:spPr>
            </p:sp>
            <p:sp>
              <p:nvSpPr>
                <p:cNvPr id="271" name="Line 271"/>
                <p:cNvSpPr/>
                <p:nvPr/>
              </p:nvSpPr>
              <p:spPr>
                <a:xfrm>
                  <a:off x="11963400" y="7134225"/>
                  <a:ext cx="38100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66675">
                      <a:moveTo>
                        <a:pt x="38100" y="0"/>
                      </a:moveTo>
                      <a:lnTo>
                        <a:pt x="0" y="66675"/>
                      </a:lnTo>
                    </a:path>
                  </a:pathLst>
                </a:custGeom>
                <a:noFill/>
                <a:ln w="19050">
                  <a:solidFill>
                    <a:srgbClr val="3B6CC8"/>
                  </a:solidFill>
                </a:ln>
              </p:spPr>
            </p:sp>
            <p:sp>
              <p:nvSpPr>
                <p:cNvPr id="272" name="Line 272"/>
                <p:cNvSpPr/>
                <p:nvPr/>
              </p:nvSpPr>
              <p:spPr>
                <a:xfrm>
                  <a:off x="12039600" y="7134225"/>
                  <a:ext cx="57150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66675">
                      <a:moveTo>
                        <a:pt x="0" y="0"/>
                      </a:moveTo>
                      <a:lnTo>
                        <a:pt x="57150" y="66675"/>
                      </a:lnTo>
                    </a:path>
                  </a:pathLst>
                </a:custGeom>
                <a:noFill/>
                <a:ln w="19050">
                  <a:solidFill>
                    <a:srgbClr val="3B6CC8"/>
                  </a:solidFill>
                </a:ln>
              </p:spPr>
            </p:sp>
            <p:sp>
              <p:nvSpPr>
                <p:cNvPr id="273" name="TextBox 273"/>
                <p:cNvSpPr txBox="1"/>
                <p:nvPr/>
              </p:nvSpPr>
              <p:spPr>
                <a:xfrm>
                  <a:off x="12345352" y="7075646"/>
                  <a:ext cx="3366135" cy="2895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425" dirty="0">
                      <a:solidFill>
                        <a:srgbClr val="11254A"/>
                      </a:solidFill>
                      <a:latin typeface="Noto Sans CJK SC"/>
                      <a:ea typeface="Microsoft YaHei"/>
                      <a:cs typeface="Noto Sans CJK SC"/>
                    </a:rPr>
                    <a:t>有利于后续结构化生成与合法性控制</a:t>
                  </a:r>
                </a:p>
              </p:txBody>
            </p:sp>
          </p:grpSp>
        </p:grpSp>
      </p:grpSp>
      <p:grpSp>
        <p:nvGrpSpPr>
          <p:cNvPr id="296" name="Group 296"/>
          <p:cNvGrpSpPr/>
          <p:nvPr/>
        </p:nvGrpSpPr>
        <p:grpSpPr>
          <a:xfrm>
            <a:off x="209550" y="7734300"/>
            <a:ext cx="15125700" cy="838200"/>
            <a:chOff x="209550" y="7734300"/>
            <a:chExt cx="15125700" cy="838200"/>
          </a:xfrm>
        </p:grpSpPr>
        <p:sp>
          <p:nvSpPr>
            <p:cNvPr id="277" name="Freeform 277"/>
            <p:cNvSpPr/>
            <p:nvPr/>
          </p:nvSpPr>
          <p:spPr>
            <a:xfrm>
              <a:off x="209550" y="7734300"/>
              <a:ext cx="15125700" cy="838200"/>
            </a:xfrm>
            <a:custGeom>
              <a:avLst/>
              <a:gdLst/>
              <a:ahLst/>
              <a:cxnLst/>
              <a:rect l="l" t="t" r="r" b="b"/>
              <a:pathLst>
                <a:path w="15125700" h="838200">
                  <a:moveTo>
                    <a:pt x="95250" y="0"/>
                  </a:moveTo>
                  <a:lnTo>
                    <a:pt x="15030450" y="0"/>
                  </a:lnTo>
                  <a:cubicBezTo>
                    <a:pt x="15083055" y="0"/>
                    <a:pt x="15125700" y="42645"/>
                    <a:pt x="15125700" y="95250"/>
                  </a:cubicBezTo>
                  <a:lnTo>
                    <a:pt x="15125700" y="742950"/>
                  </a:lnTo>
                  <a:cubicBezTo>
                    <a:pt x="15125700" y="795555"/>
                    <a:pt x="15083055" y="838200"/>
                    <a:pt x="15030450" y="838200"/>
                  </a:cubicBezTo>
                  <a:lnTo>
                    <a:pt x="95250" y="838200"/>
                  </a:lnTo>
                  <a:cubicBezTo>
                    <a:pt x="42645" y="838200"/>
                    <a:pt x="0" y="795555"/>
                    <a:pt x="0" y="7429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2B77DB"/>
              </a:solidFill>
            </a:ln>
          </p:spPr>
        </p:sp>
        <p:sp>
          <p:nvSpPr>
            <p:cNvPr id="278" name="Ellipse 278"/>
            <p:cNvSpPr/>
            <p:nvPr/>
          </p:nvSpPr>
          <p:spPr>
            <a:xfrm>
              <a:off x="495300" y="7829550"/>
              <a:ext cx="647700" cy="647700"/>
            </a:xfrm>
            <a:prstGeom prst="ellipse">
              <a:avLst/>
            </a:prstGeom>
            <a:solidFill>
              <a:srgbClr val="083F9B"/>
            </a:solidFill>
            <a:ln>
              <a:noFill/>
            </a:ln>
          </p:spPr>
        </p:sp>
        <p:sp>
          <p:nvSpPr>
            <p:cNvPr id="279" name="Arc 279"/>
            <p:cNvSpPr/>
            <p:nvPr/>
          </p:nvSpPr>
          <p:spPr>
            <a:xfrm>
              <a:off x="819150" y="7924800"/>
              <a:ext cx="49305" cy="23982"/>
            </a:xfrm>
            <a:custGeom>
              <a:avLst/>
              <a:gdLst/>
              <a:ahLst/>
              <a:cxnLst/>
              <a:rect l="l" t="t" r="r" b="b"/>
              <a:pathLst>
                <a:path w="49305" h="23982">
                  <a:moveTo>
                    <a:pt x="0" y="0"/>
                  </a:moveTo>
                  <a:lnTo>
                    <a:pt x="3106" y="21"/>
                  </a:lnTo>
                  <a:lnTo>
                    <a:pt x="6211" y="84"/>
                  </a:lnTo>
                  <a:lnTo>
                    <a:pt x="9315" y="190"/>
                  </a:lnTo>
                  <a:lnTo>
                    <a:pt x="12418" y="338"/>
                  </a:lnTo>
                  <a:lnTo>
                    <a:pt x="15518" y="527"/>
                  </a:lnTo>
                  <a:lnTo>
                    <a:pt x="18615" y="759"/>
                  </a:lnTo>
                  <a:lnTo>
                    <a:pt x="21709" y="1033"/>
                  </a:lnTo>
                  <a:lnTo>
                    <a:pt x="24799" y="1349"/>
                  </a:lnTo>
                  <a:lnTo>
                    <a:pt x="27884" y="1707"/>
                  </a:lnTo>
                  <a:lnTo>
                    <a:pt x="30964" y="2107"/>
                  </a:lnTo>
                  <a:lnTo>
                    <a:pt x="34039" y="2548"/>
                  </a:lnTo>
                  <a:lnTo>
                    <a:pt x="37107" y="3032"/>
                  </a:lnTo>
                  <a:lnTo>
                    <a:pt x="40168" y="3557"/>
                  </a:lnTo>
                  <a:lnTo>
                    <a:pt x="43222" y="4123"/>
                  </a:lnTo>
                  <a:lnTo>
                    <a:pt x="46268" y="4731"/>
                  </a:lnTo>
                  <a:lnTo>
                    <a:pt x="49305" y="5380"/>
                  </a:lnTo>
                  <a:lnTo>
                    <a:pt x="45196" y="23982"/>
                  </a:lnTo>
                  <a:lnTo>
                    <a:pt x="42412" y="23387"/>
                  </a:lnTo>
                  <a:lnTo>
                    <a:pt x="39620" y="22830"/>
                  </a:lnTo>
                  <a:lnTo>
                    <a:pt x="36821" y="22310"/>
                  </a:lnTo>
                  <a:lnTo>
                    <a:pt x="34015" y="21829"/>
                  </a:lnTo>
                  <a:lnTo>
                    <a:pt x="31202" y="21386"/>
                  </a:lnTo>
                  <a:lnTo>
                    <a:pt x="28384" y="20981"/>
                  </a:lnTo>
                  <a:lnTo>
                    <a:pt x="25561" y="20615"/>
                  </a:lnTo>
                  <a:lnTo>
                    <a:pt x="22732" y="20287"/>
                  </a:lnTo>
                  <a:lnTo>
                    <a:pt x="19900" y="19997"/>
                  </a:lnTo>
                  <a:lnTo>
                    <a:pt x="17064" y="19746"/>
                  </a:lnTo>
                  <a:lnTo>
                    <a:pt x="14225" y="19533"/>
                  </a:lnTo>
                  <a:lnTo>
                    <a:pt x="11383" y="19359"/>
                  </a:lnTo>
                  <a:lnTo>
                    <a:pt x="8539" y="19224"/>
                  </a:lnTo>
                  <a:lnTo>
                    <a:pt x="5694" y="19127"/>
                  </a:lnTo>
                  <a:lnTo>
                    <a:pt x="2847" y="19069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80" name="Freeform 280"/>
            <p:cNvSpPr/>
            <p:nvPr/>
          </p:nvSpPr>
          <p:spPr>
            <a:xfrm>
              <a:off x="714375" y="8020050"/>
              <a:ext cx="209550" cy="266700"/>
            </a:xfrm>
            <a:custGeom>
              <a:avLst/>
              <a:gdLst/>
              <a:ahLst/>
              <a:cxnLst/>
              <a:rect l="l" t="t" r="r" b="b"/>
              <a:pathLst>
                <a:path w="209550" h="266700">
                  <a:moveTo>
                    <a:pt x="0" y="104775"/>
                  </a:moveTo>
                  <a:cubicBezTo>
                    <a:pt x="0" y="0"/>
                    <a:pt x="209550" y="0"/>
                    <a:pt x="209550" y="104775"/>
                  </a:cubicBezTo>
                  <a:cubicBezTo>
                    <a:pt x="209550" y="161925"/>
                    <a:pt x="152400" y="200025"/>
                    <a:pt x="152400" y="266700"/>
                  </a:cubicBezTo>
                  <a:lnTo>
                    <a:pt x="57150" y="266700"/>
                  </a:lnTo>
                  <a:cubicBezTo>
                    <a:pt x="57150" y="200025"/>
                    <a:pt x="0" y="161925"/>
                    <a:pt x="0" y="104775"/>
                  </a:cubicBezTo>
                  <a:close/>
                </a:path>
              </a:pathLst>
            </a:custGeom>
            <a:noFill/>
            <a:ln w="28575">
              <a:solidFill>
                <a:srgbClr val="FFFFFF"/>
              </a:solidFill>
            </a:ln>
          </p:spPr>
        </p:sp>
        <p:sp>
          <p:nvSpPr>
            <p:cNvPr id="281" name="Line 281"/>
            <p:cNvSpPr/>
            <p:nvPr/>
          </p:nvSpPr>
          <p:spPr>
            <a:xfrm>
              <a:off x="771525" y="8334375"/>
              <a:ext cx="95250" cy="9525"/>
            </a:xfrm>
            <a:custGeom>
              <a:avLst/>
              <a:gdLst/>
              <a:ahLst/>
              <a:cxnLst/>
              <a:rect l="l" t="t" r="r" b="b"/>
              <a:pathLst>
                <a:path w="95250" h="9525">
                  <a:moveTo>
                    <a:pt x="0" y="0"/>
                  </a:moveTo>
                  <a:lnTo>
                    <a:pt x="95250" y="0"/>
                  </a:lnTo>
                </a:path>
              </a:pathLst>
            </a:custGeom>
            <a:noFill/>
            <a:ln w="28575">
              <a:solidFill>
                <a:srgbClr val="FFFFFF"/>
              </a:solidFill>
            </a:ln>
          </p:spPr>
        </p:sp>
        <p:sp>
          <p:nvSpPr>
            <p:cNvPr id="282" name="Line 282"/>
            <p:cNvSpPr/>
            <p:nvPr/>
          </p:nvSpPr>
          <p:spPr>
            <a:xfrm>
              <a:off x="771525" y="8391525"/>
              <a:ext cx="95250" cy="9525"/>
            </a:xfrm>
            <a:custGeom>
              <a:avLst/>
              <a:gdLst/>
              <a:ahLst/>
              <a:cxnLst/>
              <a:rect l="l" t="t" r="r" b="b"/>
              <a:pathLst>
                <a:path w="95250" h="9525">
                  <a:moveTo>
                    <a:pt x="0" y="0"/>
                  </a:moveTo>
                  <a:lnTo>
                    <a:pt x="95250" y="0"/>
                  </a:lnTo>
                </a:path>
              </a:pathLst>
            </a:custGeom>
            <a:noFill/>
            <a:ln w="28575">
              <a:solidFill>
                <a:srgbClr val="FFFFFF"/>
              </a:solidFill>
            </a:ln>
          </p:spPr>
        </p:sp>
        <p:sp>
          <p:nvSpPr>
            <p:cNvPr id="283" name="Line 283"/>
            <p:cNvSpPr/>
            <p:nvPr/>
          </p:nvSpPr>
          <p:spPr>
            <a:xfrm>
              <a:off x="819150" y="7800975"/>
              <a:ext cx="9525" cy="104775"/>
            </a:xfrm>
            <a:custGeom>
              <a:avLst/>
              <a:gdLst/>
              <a:ahLst/>
              <a:cxnLst/>
              <a:rect l="l" t="t" r="r" b="b"/>
              <a:pathLst>
                <a:path w="9525" h="104775">
                  <a:moveTo>
                    <a:pt x="0" y="0"/>
                  </a:moveTo>
                  <a:lnTo>
                    <a:pt x="0" y="104775"/>
                  </a:lnTo>
                </a:path>
              </a:pathLst>
            </a:custGeom>
            <a:noFill/>
            <a:ln w="28575">
              <a:solidFill>
                <a:srgbClr val="FFFFFF"/>
              </a:solidFill>
            </a:ln>
          </p:spPr>
        </p:sp>
        <p:sp>
          <p:nvSpPr>
            <p:cNvPr id="284" name="Line 284"/>
            <p:cNvSpPr/>
            <p:nvPr/>
          </p:nvSpPr>
          <p:spPr>
            <a:xfrm>
              <a:off x="819150" y="840105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28575">
              <a:solidFill>
                <a:srgbClr val="FFFFFF"/>
              </a:solidFill>
            </a:ln>
          </p:spPr>
        </p:sp>
        <p:sp>
          <p:nvSpPr>
            <p:cNvPr id="285" name="Line 285"/>
            <p:cNvSpPr/>
            <p:nvPr/>
          </p:nvSpPr>
          <p:spPr>
            <a:xfrm>
              <a:off x="457200" y="8153400"/>
              <a:ext cx="114300" cy="9525"/>
            </a:xfrm>
            <a:custGeom>
              <a:avLst/>
              <a:gdLst/>
              <a:ahLst/>
              <a:cxnLst/>
              <a:rect l="l" t="t" r="r" b="b"/>
              <a:pathLst>
                <a:path w="114300" h="9525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noFill/>
            <a:ln w="28575">
              <a:solidFill>
                <a:srgbClr val="FFFFFF"/>
              </a:solidFill>
            </a:ln>
          </p:spPr>
        </p:sp>
        <p:sp>
          <p:nvSpPr>
            <p:cNvPr id="286" name="Line 286"/>
            <p:cNvSpPr/>
            <p:nvPr/>
          </p:nvSpPr>
          <p:spPr>
            <a:xfrm>
              <a:off x="1066800" y="8153400"/>
              <a:ext cx="114300" cy="9525"/>
            </a:xfrm>
            <a:custGeom>
              <a:avLst/>
              <a:gdLst/>
              <a:ahLst/>
              <a:cxnLst/>
              <a:rect l="l" t="t" r="r" b="b"/>
              <a:pathLst>
                <a:path w="114300" h="9525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noFill/>
            <a:ln w="28575">
              <a:solidFill>
                <a:srgbClr val="FFFFFF"/>
              </a:solidFill>
            </a:ln>
          </p:spPr>
        </p:sp>
        <p:sp>
          <p:nvSpPr>
            <p:cNvPr id="287" name="Freeform 287"/>
            <p:cNvSpPr/>
            <p:nvPr/>
          </p:nvSpPr>
          <p:spPr>
            <a:xfrm>
              <a:off x="1219200" y="7924800"/>
              <a:ext cx="1485900" cy="457200"/>
            </a:xfrm>
            <a:custGeom>
              <a:avLst/>
              <a:gdLst/>
              <a:ahLst/>
              <a:cxnLst/>
              <a:rect l="l" t="t" r="r" b="b"/>
              <a:pathLst>
                <a:path w="1485900" h="457200">
                  <a:moveTo>
                    <a:pt x="76200" y="0"/>
                  </a:moveTo>
                  <a:lnTo>
                    <a:pt x="1409700" y="0"/>
                  </a:lnTo>
                  <a:cubicBezTo>
                    <a:pt x="1451784" y="0"/>
                    <a:pt x="1485900" y="34116"/>
                    <a:pt x="1485900" y="76200"/>
                  </a:cubicBezTo>
                  <a:lnTo>
                    <a:pt x="1485900" y="381000"/>
                  </a:lnTo>
                  <a:cubicBezTo>
                    <a:pt x="1485900" y="423084"/>
                    <a:pt x="1451784" y="457200"/>
                    <a:pt x="1409700" y="457200"/>
                  </a:cubicBezTo>
                  <a:lnTo>
                    <a:pt x="76200" y="457200"/>
                  </a:lnTo>
                  <a:cubicBezTo>
                    <a:pt x="34116" y="457200"/>
                    <a:pt x="0" y="423084"/>
                    <a:pt x="0" y="3810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B4DA8"/>
            </a:solidFill>
            <a:ln>
              <a:noFill/>
            </a:ln>
          </p:spPr>
        </p:sp>
        <p:sp>
          <p:nvSpPr>
            <p:cNvPr id="288" name="TextBox 288"/>
            <p:cNvSpPr txBox="1"/>
            <p:nvPr/>
          </p:nvSpPr>
          <p:spPr>
            <a:xfrm>
              <a:off x="1189792" y="8019098"/>
              <a:ext cx="154471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000000"/>
                  </a:solidFill>
                  <a:latin typeface="Noto Sans CJK SC"/>
                  <a:ea typeface="Microsoft YaHei"/>
                  <a:cs typeface="Noto Sans CJK SC"/>
                </a:rPr>
                <a:t>核心思想：</a:t>
              </a:r>
            </a:p>
          </p:txBody>
        </p:sp>
        <p:sp>
          <p:nvSpPr>
            <p:cNvPr id="289" name="TextBox 289"/>
            <p:cNvSpPr txBox="1"/>
            <p:nvPr/>
          </p:nvSpPr>
          <p:spPr>
            <a:xfrm>
              <a:off x="2889885" y="8047672"/>
              <a:ext cx="973834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1254A"/>
                  </a:solidFill>
                  <a:latin typeface="Noto Sans CJK SC"/>
                  <a:ea typeface="Microsoft YaHei"/>
                  <a:cs typeface="Noto Sans CJK SC"/>
                </a:rPr>
                <a:t>不修改 LLaMA 主干结构，只在新增坐标 token 的初始 embedding 中注入</a:t>
              </a:r>
            </a:p>
          </p:txBody>
        </p:sp>
        <p:sp>
          <p:nvSpPr>
            <p:cNvPr id="290" name="TextBox 290"/>
            <p:cNvSpPr txBox="1"/>
            <p:nvPr/>
          </p:nvSpPr>
          <p:spPr>
            <a:xfrm>
              <a:off x="8471535" y="8047672"/>
              <a:ext cx="124568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A58C7"/>
                  </a:solidFill>
                  <a:latin typeface="Noto Sans CJK SC"/>
                  <a:ea typeface="Microsoft YaHei"/>
                  <a:cs typeface="Noto Sans CJK SC"/>
                </a:rPr>
                <a:t>轴向语义</a:t>
              </a:r>
            </a:p>
          </p:txBody>
        </p:sp>
        <p:sp>
          <p:nvSpPr>
            <p:cNvPr id="291" name="TextBox 291"/>
            <p:cNvSpPr txBox="1"/>
            <p:nvPr/>
          </p:nvSpPr>
          <p:spPr>
            <a:xfrm>
              <a:off x="9424035" y="8047672"/>
              <a:ext cx="21400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1254A"/>
                  </a:solidFill>
                  <a:latin typeface="Noto Sans CJK SC"/>
                  <a:ea typeface="Microsoft YaHei"/>
                  <a:cs typeface="Noto Sans CJK SC"/>
                </a:rPr>
                <a:t>+</a:t>
              </a:r>
            </a:p>
          </p:txBody>
        </p:sp>
        <p:sp>
          <p:nvSpPr>
            <p:cNvPr id="292" name="TextBox 292"/>
            <p:cNvSpPr txBox="1"/>
            <p:nvPr/>
          </p:nvSpPr>
          <p:spPr>
            <a:xfrm>
              <a:off x="9785985" y="8047672"/>
              <a:ext cx="124568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6E4ED8"/>
                  </a:solidFill>
                  <a:latin typeface="Noto Sans CJK SC"/>
                  <a:ea typeface="Microsoft YaHei"/>
                  <a:cs typeface="Noto Sans CJK SC"/>
                </a:rPr>
                <a:t>数值顺序</a:t>
              </a:r>
            </a:p>
          </p:txBody>
        </p:sp>
        <p:sp>
          <p:nvSpPr>
            <p:cNvPr id="293" name="TextBox 293"/>
            <p:cNvSpPr txBox="1"/>
            <p:nvPr/>
          </p:nvSpPr>
          <p:spPr>
            <a:xfrm>
              <a:off x="10757535" y="8047672"/>
              <a:ext cx="21400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1254A"/>
                  </a:solidFill>
                  <a:latin typeface="Noto Sans CJK SC"/>
                  <a:ea typeface="Microsoft YaHei"/>
                  <a:cs typeface="Noto Sans CJK SC"/>
                </a:rPr>
                <a:t>+</a:t>
              </a:r>
            </a:p>
          </p:txBody>
        </p:sp>
        <p:sp>
          <p:nvSpPr>
            <p:cNvPr id="294" name="TextBox 294"/>
            <p:cNvSpPr txBox="1"/>
            <p:nvPr/>
          </p:nvSpPr>
          <p:spPr>
            <a:xfrm>
              <a:off x="11119485" y="8047672"/>
              <a:ext cx="124568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87C84"/>
                  </a:solidFill>
                  <a:latin typeface="Noto Sans CJK SC"/>
                  <a:ea typeface="Microsoft YaHei"/>
                  <a:cs typeface="Noto Sans CJK SC"/>
                </a:rPr>
                <a:t>相对噪声</a:t>
              </a:r>
            </a:p>
          </p:txBody>
        </p:sp>
        <p:sp>
          <p:nvSpPr>
            <p:cNvPr id="295" name="TextBox 295"/>
            <p:cNvSpPr txBox="1"/>
            <p:nvPr/>
          </p:nvSpPr>
          <p:spPr>
            <a:xfrm>
              <a:off x="12091035" y="8047672"/>
              <a:ext cx="34856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1254A"/>
                  </a:solidFill>
                  <a:latin typeface="Noto Sans CJK SC"/>
                  <a:ea typeface="Microsoft YaHei"/>
                  <a:cs typeface="Noto Sans CJK SC"/>
                </a:rPr>
                <a:t>。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