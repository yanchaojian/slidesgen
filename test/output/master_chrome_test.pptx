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003D7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367665" y="6458902"/>
            <a:ext cx="47115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DALIAN UNIVERSITY OF TECHNOLOGY · School of Computer Science</a:t>
            </a:r>
          </a:p>
        </p:txBody>
      </p:sp>
      <p:sp>
        <p:nvSpPr>
          <p:cNvPr id="6" name="Rectangle 6"/>
          <p:cNvSpPr/>
          <p:nvPr/>
        </p:nvSpPr>
        <p:spPr>
          <a:xfrm>
            <a:off x="11144250" y="6400800"/>
            <a:ext cx="666750" cy="266700"/>
          </a:xfrm>
          <a:prstGeom prst="rect">
            <a:avLst/>
          </a:prstGeom>
          <a:noFill/>
          <a:ln w="9525">
            <a:solidFill>
              <a:srgbClr val="003D7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331448" y="647795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DUT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68978" y="6477952"/>
            <a:ext cx="1521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B1B2B3B4-0000-0000-0000-000000000001}" type="slidenum">
              <a:rPr lang="zh-CN" sz="1050" dirty="0">
                <a:solidFill>
                  <a:srgbClr val="808080"/>
                </a:solidFill>
                <a:latin typeface="Arial"/>
                <a:ea typeface="Microsoft YaHei"/>
                <a:cs typeface="Arial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1238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19125" y="428625"/>
            <a:ext cx="381000" cy="333375"/>
            <a:chOff x="619125" y="428625"/>
            <a:chExt cx="381000" cy="333375"/>
          </a:xfrm>
        </p:grpSpPr>
        <p:sp>
          <p:nvSpPr>
            <p:cNvPr id="3" name="Freeform 3"/>
            <p:cNvSpPr/>
            <p:nvPr/>
          </p:nvSpPr>
          <p:spPr>
            <a:xfrm>
              <a:off x="619125" y="428625"/>
              <a:ext cx="381000" cy="333375"/>
            </a:xfrm>
            <a:custGeom>
              <a:avLst/>
              <a:gdLst/>
              <a:ahLst/>
              <a:cxnLst/>
              <a:rect l="l" t="t" r="r" b="b"/>
              <a:pathLst>
                <a:path w="381000" h="333375">
                  <a:moveTo>
                    <a:pt x="0" y="0"/>
                  </a:moveTo>
                  <a:lnTo>
                    <a:pt x="0" y="333375"/>
                  </a:lnTo>
                  <a:lnTo>
                    <a:pt x="381000" y="333375"/>
                  </a:lnTo>
                  <a:lnTo>
                    <a:pt x="381000" y="0"/>
                  </a:lnTo>
                  <a:lnTo>
                    <a:pt x="190500" y="9525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619125" y="428625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0"/>
                  </a:moveTo>
                  <a:lnTo>
                    <a:pt x="190500" y="95250"/>
                  </a:ln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09625" y="52387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66750" y="47625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52500" y="47625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108710" y="613410"/>
            <a:ext cx="926052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Technical Core: Scaled Dot-Product Attention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43000" y="1000125"/>
            <a:ext cx="9525000" cy="285750"/>
          </a:xfrm>
          <a:custGeom>
            <a:avLst/>
            <a:gdLst/>
            <a:ahLst/>
            <a:cxnLst/>
            <a:rect l="l" t="t" r="r" b="b"/>
            <a:pathLst>
              <a:path w="9525000" h="285750">
                <a:moveTo>
                  <a:pt x="38100" y="0"/>
                </a:moveTo>
                <a:lnTo>
                  <a:pt x="9486900" y="0"/>
                </a:lnTo>
                <a:cubicBezTo>
                  <a:pt x="9507942" y="0"/>
                  <a:pt x="9525000" y="17058"/>
                  <a:pt x="9525000" y="38100"/>
                </a:cubicBezTo>
                <a:lnTo>
                  <a:pt x="9525000" y="247650"/>
                </a:lnTo>
                <a:cubicBezTo>
                  <a:pt x="9525000" y="268692"/>
                  <a:pt x="9507942" y="285750"/>
                  <a:pt x="9486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320165" y="1077278"/>
            <a:ext cx="7924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▸ Attention computes weighted values based on query-key compatibility, scaled by √dₖ for stability.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524000"/>
            <a:ext cx="4000500" cy="3810000"/>
            <a:chOff x="571500" y="1524000"/>
            <a:chExt cx="4000500" cy="3810000"/>
          </a:xfrm>
        </p:grpSpPr>
        <p:sp>
          <p:nvSpPr>
            <p:cNvPr id="12" name="Polygon 12"/>
            <p:cNvSpPr/>
            <p:nvPr/>
          </p:nvSpPr>
          <p:spPr>
            <a:xfrm>
              <a:off x="419100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571500" y="1524000"/>
              <a:ext cx="3619500" cy="3810000"/>
            </a:xfrm>
            <a:custGeom>
              <a:avLst/>
              <a:gdLst/>
              <a:ahLst/>
              <a:cxnLst/>
              <a:rect l="l" t="t" r="r" b="b"/>
              <a:pathLst>
                <a:path w="3619500" h="3810000">
                  <a:moveTo>
                    <a:pt x="0" y="0"/>
                  </a:moveTo>
                  <a:lnTo>
                    <a:pt x="3619500" y="0"/>
                  </a:lnTo>
                  <a:lnTo>
                    <a:pt x="36195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571500" y="1524000"/>
              <a:ext cx="4000500" cy="3810000"/>
            </a:xfrm>
            <a:custGeom>
              <a:avLst/>
              <a:gdLst/>
              <a:ahLst/>
              <a:cxnLst/>
              <a:rect l="l" t="t" r="r" b="b"/>
              <a:pathLst>
                <a:path w="4000500" h="3810000">
                  <a:moveTo>
                    <a:pt x="0" y="0"/>
                  </a:moveTo>
                  <a:lnTo>
                    <a:pt x="381000" y="0"/>
                  </a:lnTo>
                  <a:lnTo>
                    <a:pt x="4000500" y="3810000"/>
                  </a:lnTo>
                  <a:lnTo>
                    <a:pt x="36195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8827" y="1790700"/>
              <a:ext cx="20048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What is Attention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143000" y="20955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010" y="2346960"/>
              <a:ext cx="24227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Attention is a function that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2010" y="2613660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maps a query and a set of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2010" y="2880360"/>
              <a:ext cx="2562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key-value pairs to an output.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286250" y="1524000"/>
            <a:ext cx="4000500" cy="3810000"/>
            <a:chOff x="4286250" y="1524000"/>
            <a:chExt cx="4000500" cy="3810000"/>
          </a:xfrm>
        </p:grpSpPr>
        <p:sp>
          <p:nvSpPr>
            <p:cNvPr id="21" name="Polygon 21"/>
            <p:cNvSpPr/>
            <p:nvPr/>
          </p:nvSpPr>
          <p:spPr>
            <a:xfrm>
              <a:off x="790575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4286250" y="1524000"/>
              <a:ext cx="3619500" cy="3810000"/>
            </a:xfrm>
            <a:custGeom>
              <a:avLst/>
              <a:gdLst/>
              <a:ahLst/>
              <a:cxnLst/>
              <a:rect l="l" t="t" r="r" b="b"/>
              <a:pathLst>
                <a:path w="3619500" h="3810000">
                  <a:moveTo>
                    <a:pt x="0" y="0"/>
                  </a:moveTo>
                  <a:lnTo>
                    <a:pt x="3619500" y="0"/>
                  </a:lnTo>
                  <a:lnTo>
                    <a:pt x="36195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3" name="Polygon 23"/>
            <p:cNvSpPr/>
            <p:nvPr/>
          </p:nvSpPr>
          <p:spPr>
            <a:xfrm>
              <a:off x="4286250" y="1524000"/>
              <a:ext cx="4000500" cy="3810000"/>
            </a:xfrm>
            <a:custGeom>
              <a:avLst/>
              <a:gdLst/>
              <a:ahLst/>
              <a:cxnLst/>
              <a:rect l="l" t="t" r="r" b="b"/>
              <a:pathLst>
                <a:path w="4000500" h="3810000">
                  <a:moveTo>
                    <a:pt x="0" y="0"/>
                  </a:moveTo>
                  <a:lnTo>
                    <a:pt x="381000" y="0"/>
                  </a:lnTo>
                  <a:lnTo>
                    <a:pt x="4000500" y="3810000"/>
                  </a:lnTo>
                  <a:lnTo>
                    <a:pt x="36195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29357" y="1790700"/>
              <a:ext cx="15332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Weighted Sum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857750" y="20955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6760" y="2346960"/>
              <a:ext cx="2492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output is a weighted sum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6760" y="2613660"/>
              <a:ext cx="2159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of the values, where the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6760" y="2880360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weight is the compatibility of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6760" y="3147060"/>
              <a:ext cx="2159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query with each key.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01000" y="1524000"/>
            <a:ext cx="3048000" cy="3810000"/>
            <a:chOff x="8001000" y="1524000"/>
            <a:chExt cx="3048000" cy="3810000"/>
          </a:xfrm>
        </p:grpSpPr>
        <p:sp>
          <p:nvSpPr>
            <p:cNvPr id="31" name="Polygon 31"/>
            <p:cNvSpPr/>
            <p:nvPr/>
          </p:nvSpPr>
          <p:spPr>
            <a:xfrm>
              <a:off x="1066800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8001000" y="15240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0" y="0"/>
                  </a:moveTo>
                  <a:lnTo>
                    <a:pt x="2667000" y="0"/>
                  </a:lnTo>
                  <a:lnTo>
                    <a:pt x="2667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3" name="Polygon 33"/>
            <p:cNvSpPr/>
            <p:nvPr/>
          </p:nvSpPr>
          <p:spPr>
            <a:xfrm>
              <a:off x="8001000" y="1524000"/>
              <a:ext cx="3048000" cy="3810000"/>
            </a:xfrm>
            <a:custGeom>
              <a:avLst/>
              <a:gdLst/>
              <a:ahLst/>
              <a:cxnLst/>
              <a:rect l="l" t="t" r="r" b="b"/>
              <a:pathLst>
                <a:path w="3048000" h="3810000">
                  <a:moveTo>
                    <a:pt x="0" y="0"/>
                  </a:moveTo>
                  <a:lnTo>
                    <a:pt x="381000" y="0"/>
                  </a:lnTo>
                  <a:lnTo>
                    <a:pt x="3048000" y="3810000"/>
                  </a:lnTo>
                  <a:lnTo>
                    <a:pt x="26670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31114" y="1790700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Matrix Form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382000" y="2095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23885" y="2346960"/>
              <a:ext cx="2527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 compute this for a matrix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3885" y="2613660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of queries Q, keys K, and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885" y="2880360"/>
              <a:ext cx="21160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values V simultaneously.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239125" y="3429000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723900"/>
                  </a:lnTo>
                  <a:cubicBezTo>
                    <a:pt x="2381250" y="744942"/>
                    <a:pt x="2364192" y="762000"/>
                    <a:pt x="2343150" y="762000"/>
                  </a:cubicBezTo>
                  <a:lnTo>
                    <a:pt x="38100" y="762000"/>
                  </a:lnTo>
                  <a:cubicBezTo>
                    <a:pt x="17058" y="762000"/>
                    <a:pt x="0" y="744942"/>
                    <a:pt x="0" y="72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37362" y="3616642"/>
              <a:ext cx="27847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Attention(Q,K,V) = softmax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50678" y="3845242"/>
              <a:ext cx="1158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(QKT/√dk)V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58165" y="5411152"/>
            <a:ext cx="8752427" cy="632460"/>
            <a:chOff x="558165" y="5411152"/>
            <a:chExt cx="8752427" cy="632460"/>
          </a:xfrm>
        </p:grpSpPr>
        <p:sp>
          <p:nvSpPr>
            <p:cNvPr id="43" name="TextBox 43"/>
            <p:cNvSpPr txBox="1"/>
            <p:nvPr/>
          </p:nvSpPr>
          <p:spPr>
            <a:xfrm>
              <a:off x="558165" y="5411152"/>
              <a:ext cx="8752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The two most commonly used attention functions are additive attention and dot-product (multiplicative) attention.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8165" y="5620702"/>
              <a:ext cx="69352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Dot-product attention is identical to our algorithm, except for the scaling factor of 1/√dₖ.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8165" y="5830252"/>
              <a:ext cx="8729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While similar in theoretical complexity, dot-product attention is much faster and more space-efficient in practice.</a:t>
              </a:r>
            </a:p>
          </p:txBody>
        </p:sp>
      </p:grpSp>
      <p:sp>
        <p:nvSpPr>
          <p:cNvPr id="47" name="Line 47"/>
          <p:cNvSpPr/>
          <p:nvPr/>
        </p:nvSpPr>
        <p:spPr>
          <a:xfrm>
            <a:off x="571500" y="6048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A3D8F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54355" y="628364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海纳百川 · 自强不息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69789" y="63160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01590" y="66655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05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101090" y="310515"/>
            <a:ext cx="1460783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Model Details: Positional Encoding &amp; Feed-Forward Network</a:t>
            </a:r>
          </a:p>
        </p:txBody>
      </p:sp>
      <p:sp>
        <p:nvSpPr>
          <p:cNvPr id="4" name="Rectangle 4"/>
          <p:cNvSpPr/>
          <p:nvPr/>
        </p:nvSpPr>
        <p:spPr>
          <a:xfrm>
            <a:off x="381000" y="809625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-64368" y="954881"/>
            <a:ext cx="123207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▸ Sinusoidal encodings provide order; position-wise FFN adds non-linear processing — together they enable sequence modeling without recurrence.</a:t>
            </a:r>
          </a:p>
        </p:txBody>
      </p:sp>
      <p:sp>
        <p:nvSpPr>
          <p:cNvPr id="6" name="Polygon 6"/>
          <p:cNvSpPr/>
          <p:nvPr/>
        </p:nvSpPr>
        <p:spPr>
          <a:xfrm>
            <a:off x="647700" y="1476375"/>
            <a:ext cx="3552825" cy="3810000"/>
          </a:xfrm>
          <a:custGeom>
            <a:avLst/>
            <a:gdLst/>
            <a:ahLst/>
            <a:cxnLst/>
            <a:rect l="l" t="t" r="r" b="b"/>
            <a:pathLst>
              <a:path w="3552825" h="3810000">
                <a:moveTo>
                  <a:pt x="0" y="0"/>
                </a:moveTo>
                <a:lnTo>
                  <a:pt x="3552825" y="0"/>
                </a:lnTo>
                <a:lnTo>
                  <a:pt x="3552825" y="3810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A3D8F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71500" y="1400175"/>
            <a:ext cx="3552825" cy="3810000"/>
          </a:xfrm>
          <a:custGeom>
            <a:avLst/>
            <a:gdLst/>
            <a:ahLst/>
            <a:cxnLst/>
            <a:rect l="l" t="t" r="r" b="b"/>
            <a:pathLst>
              <a:path w="3552825" h="3810000">
                <a:moveTo>
                  <a:pt x="0" y="0"/>
                </a:moveTo>
                <a:lnTo>
                  <a:pt x="3552825" y="0"/>
                </a:lnTo>
                <a:lnTo>
                  <a:pt x="3552825" y="3810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613383" y="1569720"/>
            <a:ext cx="145953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4390" y="2044065"/>
            <a:ext cx="44096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Since the model has no recurrence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4390" y="2367915"/>
            <a:ext cx="44096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or convolution, we must explicitly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4390" y="2691765"/>
            <a:ext cx="44885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inject information about the order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390" y="3015615"/>
            <a:ext cx="222770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of the sequence.</a:t>
            </a:r>
          </a:p>
        </p:txBody>
      </p:sp>
      <p:sp>
        <p:nvSpPr>
          <p:cNvPr id="13" name="Polygon 13"/>
          <p:cNvSpPr/>
          <p:nvPr/>
        </p:nvSpPr>
        <p:spPr>
          <a:xfrm>
            <a:off x="4581525" y="1476375"/>
            <a:ext cx="3552825" cy="3810000"/>
          </a:xfrm>
          <a:custGeom>
            <a:avLst/>
            <a:gdLst/>
            <a:ahLst/>
            <a:cxnLst/>
            <a:rect l="l" t="t" r="r" b="b"/>
            <a:pathLst>
              <a:path w="3552825" h="3810000">
                <a:moveTo>
                  <a:pt x="0" y="0"/>
                </a:moveTo>
                <a:lnTo>
                  <a:pt x="3552825" y="0"/>
                </a:lnTo>
                <a:lnTo>
                  <a:pt x="3552825" y="3810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A3D8F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4505325" y="1400175"/>
            <a:ext cx="3552825" cy="3810000"/>
          </a:xfrm>
          <a:custGeom>
            <a:avLst/>
            <a:gdLst/>
            <a:ahLst/>
            <a:cxnLst/>
            <a:rect l="l" t="t" r="r" b="b"/>
            <a:pathLst>
              <a:path w="3552825" h="3810000">
                <a:moveTo>
                  <a:pt x="0" y="0"/>
                </a:moveTo>
                <a:lnTo>
                  <a:pt x="3552825" y="0"/>
                </a:lnTo>
                <a:lnTo>
                  <a:pt x="3552825" y="3810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482800" y="1569720"/>
            <a:ext cx="158835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Encoding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68215" y="2044065"/>
            <a:ext cx="35553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We use sinusoidal positional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68215" y="2367915"/>
            <a:ext cx="369989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encodings added to the input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8215" y="2691765"/>
            <a:ext cx="16230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embeddings.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791075" y="3095625"/>
            <a:ext cx="2981325" cy="1143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279678" y="3267075"/>
            <a:ext cx="39945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PE(pos,2i) = sin(pos/10000^(2i/d))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53162" y="3552825"/>
            <a:ext cx="42476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PE(pos,2i+1) = cos(pos/10000^(2i/d))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92892" y="3918585"/>
            <a:ext cx="43681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Sine and cosine functions of different frequencies</a:t>
            </a:r>
          </a:p>
        </p:txBody>
      </p:sp>
      <p:sp>
        <p:nvSpPr>
          <p:cNvPr id="23" name="Polygon 23"/>
          <p:cNvSpPr/>
          <p:nvPr/>
        </p:nvSpPr>
        <p:spPr>
          <a:xfrm>
            <a:off x="8515350" y="1476375"/>
            <a:ext cx="3552825" cy="3810000"/>
          </a:xfrm>
          <a:custGeom>
            <a:avLst/>
            <a:gdLst/>
            <a:ahLst/>
            <a:cxnLst/>
            <a:rect l="l" t="t" r="r" b="b"/>
            <a:pathLst>
              <a:path w="3552825" h="3810000">
                <a:moveTo>
                  <a:pt x="0" y="0"/>
                </a:moveTo>
                <a:lnTo>
                  <a:pt x="3552825" y="0"/>
                </a:lnTo>
                <a:lnTo>
                  <a:pt x="3552825" y="3810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A3D8F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8439150" y="1400175"/>
            <a:ext cx="3552825" cy="3810000"/>
          </a:xfrm>
          <a:custGeom>
            <a:avLst/>
            <a:gdLst/>
            <a:ahLst/>
            <a:cxnLst/>
            <a:rect l="l" t="t" r="r" b="b"/>
            <a:pathLst>
              <a:path w="3552825" h="3810000">
                <a:moveTo>
                  <a:pt x="0" y="0"/>
                </a:moveTo>
                <a:lnTo>
                  <a:pt x="3552825" y="0"/>
                </a:lnTo>
                <a:lnTo>
                  <a:pt x="3552825" y="3810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901360" y="1569720"/>
            <a:ext cx="26188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Benefits &amp; FFN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02040" y="2044065"/>
            <a:ext cx="41073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These encodings allow the model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02040" y="2367915"/>
            <a:ext cx="35684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to easily learn to attend by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02040" y="2691765"/>
            <a:ext cx="422567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relative positions and generalize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02040" y="3015615"/>
            <a:ext cx="274034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to longer sequences.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02040" y="3472815"/>
            <a:ext cx="33449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Each layer also contains 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02040" y="3796665"/>
            <a:ext cx="36473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Position-wise Feed-Forward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02040" y="4120515"/>
            <a:ext cx="38576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Network (FFN): a simple two-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702040" y="4444365"/>
            <a:ext cx="36736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layer MLP with ReLU, applied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02040" y="4768215"/>
            <a:ext cx="36473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identically to each position.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6260" y="6156960"/>
            <a:ext cx="14851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海纳百川 自强不息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43260" y="61569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2024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952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428625" y="457200"/>
            <a:ext cx="381000" cy="323850"/>
            <a:chOff x="428625" y="457200"/>
            <a:chExt cx="381000" cy="323850"/>
          </a:xfrm>
        </p:grpSpPr>
        <p:sp>
          <p:nvSpPr>
            <p:cNvPr id="3" name="Freeform 3"/>
            <p:cNvSpPr/>
            <p:nvPr/>
          </p:nvSpPr>
          <p:spPr>
            <a:xfrm>
              <a:off x="428625" y="457200"/>
              <a:ext cx="381000" cy="323850"/>
            </a:xfrm>
            <a:custGeom>
              <a:avLst/>
              <a:gdLst/>
              <a:ahLst/>
              <a:cxnLst/>
              <a:rect l="l" t="t" r="r" b="b"/>
              <a:pathLst>
                <a:path w="381000" h="323850">
                  <a:moveTo>
                    <a:pt x="0" y="0"/>
                  </a:moveTo>
                  <a:lnTo>
                    <a:pt x="0" y="323850"/>
                  </a:lnTo>
                  <a:lnTo>
                    <a:pt x="381000" y="323850"/>
                  </a:lnTo>
                  <a:lnTo>
                    <a:pt x="381000" y="0"/>
                  </a:lnTo>
                  <a:lnTo>
                    <a:pt x="190500" y="762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428625" y="45720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0"/>
                  </a:moveTo>
                  <a:lnTo>
                    <a:pt x="190500" y="76200"/>
                  </a:ln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19125" y="533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428625" y="619125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0"/>
                  </a:moveTo>
                  <a:lnTo>
                    <a:pt x="190500" y="76200"/>
                  </a:ln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910590" y="139065"/>
            <a:ext cx="1010387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Ablation Study: Validating Design Choices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64848" y="926306"/>
            <a:ext cx="98623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▸ 8 attention heads, sufficient dimensionality, and dropout are optimal; larger models perform better as expected.</a:t>
            </a:r>
          </a:p>
        </p:txBody>
      </p:sp>
      <p:sp>
        <p:nvSpPr>
          <p:cNvPr id="11" name="Polygon 11"/>
          <p:cNvSpPr/>
          <p:nvPr/>
        </p:nvSpPr>
        <p:spPr>
          <a:xfrm>
            <a:off x="647700" y="14097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0" y="0"/>
                </a:moveTo>
                <a:lnTo>
                  <a:pt x="11049000" y="0"/>
                </a:lnTo>
                <a:lnTo>
                  <a:pt x="11049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571500" y="13335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0" y="0"/>
                </a:moveTo>
                <a:lnTo>
                  <a:pt x="11049000" y="0"/>
                </a:lnTo>
                <a:lnTo>
                  <a:pt x="11049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265739" y="1472565"/>
            <a:ext cx="16605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Key Findings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1902142"/>
            <a:ext cx="76745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8 heads optimal • d_k reduction hurts quality • Larger models perform better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4855" y="2235518"/>
            <a:ext cx="82857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Dropout crucial for preventing overfitting • Sinusoidal ≈ learned positional encoding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857500"/>
            <a:ext cx="11049000" cy="323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" y="2857500"/>
            <a:ext cx="1104900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276350" y="3009900"/>
            <a:ext cx="5639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Table 3: Transformer Architecture Ablation Study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571500" y="3333750"/>
            <a:ext cx="11049000" cy="2950369"/>
            <a:chOff x="571500" y="3333750"/>
            <a:chExt cx="11049000" cy="2950369"/>
          </a:xfrm>
        </p:grpSpPr>
        <p:sp>
          <p:nvSpPr>
            <p:cNvPr id="19" name="Rectangle 19"/>
            <p:cNvSpPr/>
            <p:nvPr/>
          </p:nvSpPr>
          <p:spPr>
            <a:xfrm>
              <a:off x="571500" y="3333750"/>
              <a:ext cx="11049000" cy="2667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9618" y="3418999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8742" y="3418999"/>
              <a:ext cx="592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d_model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30742" y="34189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d_ff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45118" y="3418999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16618" y="34189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83368" y="34189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d_v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0118" y="3418999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P_drop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02618" y="3418999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ε_ls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5118" y="3418999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train steps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98118" y="341899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PPL (dev)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1118" y="3418999"/>
              <a:ext cx="8097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BLEU (dev)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74618" y="3418999"/>
              <a:ext cx="839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params×10⁶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36004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618" y="36856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base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8742" y="36856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30742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45118" y="36856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1661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8336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0118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02618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55118" y="36856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98118" y="36856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4.92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41118" y="36856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25.8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7461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38671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845118" y="3952399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166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336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01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026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55118" y="39523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98118" y="39523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5.29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41118" y="39523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24.9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74618" y="39523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1500" y="41338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845118" y="42190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66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128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336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128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501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7026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55118" y="42190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8118" y="42190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1118" y="42190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74618" y="42190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71500" y="44005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9618" y="44857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(A)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845118" y="44857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416618" y="44857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083368" y="44857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750118" y="44857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702618" y="44857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5118" y="44857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98118" y="44857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4.91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41118" y="44857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74618" y="44857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71500" y="46672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845118" y="47524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416618" y="47524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083368" y="47524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750118" y="47524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702618" y="47524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55118" y="47524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98118" y="47524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941118" y="47524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274618" y="47524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71500" y="49339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49618" y="50191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(B)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845118" y="50191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416618" y="50191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083368" y="50191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750118" y="50191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702618" y="50191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55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798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5.16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941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274618" y="50191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58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71500" y="52006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2845118" y="52858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341661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08336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750118" y="52858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702618" y="52858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55118" y="52858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798118" y="52858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941118" y="52858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25.4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27461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60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71500" y="54673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368742" y="55525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2130742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2845118" y="55525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341661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408336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4750118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5702618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655118" y="55525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798118" y="555259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6.11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941118" y="55525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23.7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27461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36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571500" y="57340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1368742" y="5819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2130742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2845118" y="5819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341661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408336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4750118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5702618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655118" y="58192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798118" y="58192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5.19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8941118" y="58192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25.3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027461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50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571500" y="60007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1368742" y="6085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2130742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2845118" y="6085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341661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408336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4750118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5702618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655118" y="60859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798118" y="60859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4.88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8941118" y="60859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25.5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027461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80</a:t>
              </a:r>
            </a:p>
          </p:txBody>
        </p:sp>
      </p:grpSp>
      <p:sp>
        <p:nvSpPr>
          <p:cNvPr id="144" name="TextBox 144"/>
          <p:cNvSpPr txBox="1"/>
          <p:nvPr/>
        </p:nvSpPr>
        <p:spPr>
          <a:xfrm>
            <a:off x="2823222" y="6435566"/>
            <a:ext cx="6545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Table 3: Variations on the Transformer architecture. Unlisted values are identical to those of the base model.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3558219" y="6578441"/>
            <a:ext cx="50755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All metrics are on the English-to-German translation development set, newstest2013.</a:t>
            </a:r>
          </a:p>
        </p:txBody>
      </p:sp>
      <p:sp>
        <p:nvSpPr>
          <p:cNvPr id="146" name="Line 146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558165" y="6363652"/>
            <a:ext cx="4335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Source: Vaswani et al., 'Attention Is All You Need' (2017)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0271808" y="6363652"/>
            <a:ext cx="15525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[Presentation Date]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1667315" y="655415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