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png" ContentType="image/png"/>
  <Default Extension="jpg" ContentType="image/jpeg"/>
  <Override PartName="/ppt/notesSlides/notesSlide1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dirty="0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s1_img1.jpg"/>
  <Relationship Id="rId10" Type="http://schemas.openxmlformats.org/officeDocument/2006/relationships/notesSlide" Target="../notesSlides/notesSlide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03F87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24852" y="446246"/>
            <a:ext cx="10346229" cy="594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925" b="1" dirty="0">
                <a:solidFill>
                  <a:srgbClr val="003F87"/>
                </a:solidFill>
                <a:latin typeface="Arial"/>
                <a:ea typeface="Microsoft YaHei"/>
                <a:cs typeface="Arial"/>
              </a:rPr>
              <a:t>Technical Approach: Transformer Architecture</a:t>
            </a:r>
          </a:p>
        </p:txBody>
      </p:sp>
      <p:sp>
        <p:nvSpPr>
          <p:cNvPr id="5" name="Line 5"/>
          <p:cNvSpPr/>
          <p:nvPr/>
        </p:nvSpPr>
        <p:spPr>
          <a:xfrm>
            <a:off x="762000" y="9525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rgbClr val="CCCCCC"/>
            </a:solidFill>
          </a:ln>
        </p:spPr>
      </p:sp>
      <p:sp>
        <p:nvSpPr>
          <p:cNvPr id="6" name="TextBox 6"/>
          <p:cNvSpPr txBox="1"/>
          <p:nvPr/>
        </p:nvSpPr>
        <p:spPr>
          <a:xfrm>
            <a:off x="931545" y="1345882"/>
            <a:ext cx="15247906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The Transformer consists of an encoder-decoder structure using</a:t>
            </a:r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stacked self-attention and point-wise, fully connected layers.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31545" y="2298382"/>
            <a:ext cx="14187583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Key components include multi-head attention, scaled dot-product</a:t>
            </a:r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attention, and position-wise feed-forward networks.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31545" y="3250882"/>
            <a:ext cx="7934087" cy="3352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Positional encodings are used to inject sequence order</a:t>
            </a:r>
            <a:r>
              <a:rPr lang="zh-CN" sz="1650" dirty="0">
                <a:solidFill>
                  <a:srgbClr val="333333"/>
                </a:solidFill>
                <a:latin typeface="Arial"/>
                <a:ea typeface="Microsoft YaHei"/>
                <a:cs typeface="Arial"/>
              </a:rPr>
              <a:t>information.</a:t>
            </a:r>
          </a:p>
        </p:txBody>
      </p:sp>
      <p:sp>
        <p:nvSpPr>
          <p:cNvPr id="9" name="Rectangle 9"/>
          <p:cNvSpPr/>
          <p:nvPr/>
        </p:nvSpPr>
        <p:spPr>
          <a:xfrm>
            <a:off x="7505700" y="1409700"/>
            <a:ext cx="4038600" cy="30861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</p:sp>
      <p:pic>
        <p:nvPicPr>
          <p:cNvPr id="10" name="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1524000"/>
            <a:ext cx="3810000" cy="28575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7602855" y="4521518"/>
            <a:ext cx="11933349" cy="274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666666"/>
                </a:solidFill>
                <a:latin typeface="Arial"/>
                <a:ea typeface="Microsoft YaHei"/>
                <a:cs typeface="Arial"/>
              </a:rPr>
              <a:t>(left) Scaled Dot-Product Attention. (right) Multi-Head Attention consists of several attention layers running in parallel.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141821" y="6363652"/>
            <a:ext cx="111014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1050" dirty="0">
                <a:solidFill>
                  <a:srgbClr val="999999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